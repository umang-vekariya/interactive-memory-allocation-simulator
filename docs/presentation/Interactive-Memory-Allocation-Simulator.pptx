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5.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slides/charts/chart8.xml" ContentType="application/vnd.openxmlformats-officedocument.drawingml.chart+xml"/>
  <Override PartName="/ppt/slides/charts/chart9.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0.xml" ContentType="application/vnd.openxmlformats-officedocument.drawingml.chart+xml"/>
  <Override PartName="/ppt/slides/charts/chart1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slides/charts/chart15.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6.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939e551dc2949b5" /><Relationship Type="http://schemas.openxmlformats.org/officeDocument/2006/relationships/extended-properties" Target="/docProps/app.xml" Id="Rb21f4fe4a23d4bc5" /><Relationship Type="http://schemas.openxmlformats.org/officeDocument/2006/relationships/officeDocument" Target="/ppt/presentation.xml" Id="Rd55a133f72814d36" /></Relationships>
</file>

<file path=ppt/presentation.xml><?xml version="1.0" encoding="utf-8"?>
<p:presentation xmlns:p="http://schemas.openxmlformats.org/presentationml/2006/main">
  <p:sldMasterIdLst>
    <p:sldMasterId xmlns:r="http://schemas.openxmlformats.org/officeDocument/2006/relationships" id="2147483648" r:id="R88ce10054c7546b5"/>
  </p:sldMasterIdLst>
  <p:notesMasterIdLst>
    <p:notesMasterId xmlns:r="http://schemas.openxmlformats.org/officeDocument/2006/relationships" r:id="Ra1701732df374630"/>
  </p:notesMasterIdLst>
  <p:sldIdLst>
    <p:sldId xmlns:r="http://schemas.openxmlformats.org/officeDocument/2006/relationships" id="256" r:id="R0f84c6927df24a86"/>
    <p:sldId xmlns:r="http://schemas.openxmlformats.org/officeDocument/2006/relationships" id="257" r:id="R5bc677db75414fa2"/>
    <p:sldId xmlns:r="http://schemas.openxmlformats.org/officeDocument/2006/relationships" id="258" r:id="Ra4492ef265164d9b"/>
    <p:sldId xmlns:r="http://schemas.openxmlformats.org/officeDocument/2006/relationships" id="259" r:id="R145f78a605a6441c"/>
    <p:sldId xmlns:r="http://schemas.openxmlformats.org/officeDocument/2006/relationships" id="260" r:id="R80a39c9303c446c6"/>
    <p:sldId xmlns:r="http://schemas.openxmlformats.org/officeDocument/2006/relationships" id="261" r:id="R33fe09ab894c445f"/>
    <p:sldId xmlns:r="http://schemas.openxmlformats.org/officeDocument/2006/relationships" id="262" r:id="R234f18e321234cce"/>
    <p:sldId xmlns:r="http://schemas.openxmlformats.org/officeDocument/2006/relationships" id="263" r:id="Rcb9a413e88c243a7"/>
    <p:sldId xmlns:r="http://schemas.openxmlformats.org/officeDocument/2006/relationships" id="264" r:id="R6fcbf5f6778a4b1b"/>
    <p:sldId xmlns:r="http://schemas.openxmlformats.org/officeDocument/2006/relationships" id="265" r:id="R1a728c0b9c274fbb"/>
    <p:sldId xmlns:r="http://schemas.openxmlformats.org/officeDocument/2006/relationships" id="266" r:id="R7b57f48a6b614111"/>
    <p:sldId xmlns:r="http://schemas.openxmlformats.org/officeDocument/2006/relationships" id="267" r:id="Rd34aaf7b14274f90"/>
    <p:sldId xmlns:r="http://schemas.openxmlformats.org/officeDocument/2006/relationships" id="268" r:id="R382ff14a8f4e47b1"/>
    <p:sldId xmlns:r="http://schemas.openxmlformats.org/officeDocument/2006/relationships" id="269" r:id="Ra1721337b8484f1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8ee3a83f7de4bff" /><Relationship Type="http://schemas.openxmlformats.org/officeDocument/2006/relationships/slideMaster" Target="/ppt/slideMasters/slideMaster1.xml" Id="R88ce10054c7546b5" /><Relationship Type="http://schemas.openxmlformats.org/officeDocument/2006/relationships/notesMaster" Target="/ppt/notesMasters/notesMaster1.xml" Id="Ra1701732df374630" /><Relationship Type="http://schemas.openxmlformats.org/officeDocument/2006/relationships/presProps" Target="/ppt/presProps.xml" Id="Rea62498638034fa9" /><Relationship Type="http://schemas.openxmlformats.org/officeDocument/2006/relationships/tableStyles" Target="/ppt/tableStyles.xml" Id="Rb1f958989a2f4556" /><Relationship Type="http://schemas.openxmlformats.org/officeDocument/2006/relationships/slide" Target="/ppt/slides/slide1.xml" Id="R0f84c6927df24a86" /><Relationship Type="http://schemas.openxmlformats.org/officeDocument/2006/relationships/slide" Target="/ppt/slides/slide2.xml" Id="R5bc677db75414fa2" /><Relationship Type="http://schemas.openxmlformats.org/officeDocument/2006/relationships/slide" Target="/ppt/slides/slide3.xml" Id="Ra4492ef265164d9b" /><Relationship Type="http://schemas.openxmlformats.org/officeDocument/2006/relationships/slide" Target="/ppt/slides/slide4.xml" Id="R145f78a605a6441c" /><Relationship Type="http://schemas.openxmlformats.org/officeDocument/2006/relationships/slide" Target="/ppt/slides/slide5.xml" Id="R80a39c9303c446c6" /><Relationship Type="http://schemas.openxmlformats.org/officeDocument/2006/relationships/slide" Target="/ppt/slides/slide6.xml" Id="R33fe09ab894c445f" /><Relationship Type="http://schemas.openxmlformats.org/officeDocument/2006/relationships/slide" Target="/ppt/slides/slide7.xml" Id="R234f18e321234cce" /><Relationship Type="http://schemas.openxmlformats.org/officeDocument/2006/relationships/slide" Target="/ppt/slides/slide8.xml" Id="Rcb9a413e88c243a7" /><Relationship Type="http://schemas.openxmlformats.org/officeDocument/2006/relationships/slide" Target="/ppt/slides/slide9.xml" Id="R6fcbf5f6778a4b1b" /><Relationship Type="http://schemas.openxmlformats.org/officeDocument/2006/relationships/slide" Target="/ppt/slides/slide10.xml" Id="R1a728c0b9c274fbb" /><Relationship Type="http://schemas.openxmlformats.org/officeDocument/2006/relationships/slide" Target="/ppt/slides/slide11.xml" Id="R7b57f48a6b614111" /><Relationship Type="http://schemas.openxmlformats.org/officeDocument/2006/relationships/slide" Target="/ppt/slides/slide12.xml" Id="Rd34aaf7b14274f90" /><Relationship Type="http://schemas.openxmlformats.org/officeDocument/2006/relationships/slide" Target="/ppt/slides/slide13.xml" Id="R382ff14a8f4e47b1" /><Relationship Type="http://schemas.openxmlformats.org/officeDocument/2006/relationships/slide" Target="/ppt/slides/slide14.xml" Id="Ra1721337b8484f1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8cdf2c038a48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77615bb416453a" /><Relationship Type="http://schemas.openxmlformats.org/officeDocument/2006/relationships/notesMaster" Target="/ppt/notesMasters/notesMaster1.xml" Id="R765a0ac535844eca"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2ac3bc9e0a4eaa" /><Relationship Type="http://schemas.openxmlformats.org/officeDocument/2006/relationships/notesMaster" Target="/ppt/notesMasters/notesMaster1.xml" Id="R6ffb4fc205e841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5f53634422d4b5f" /><Relationship Type="http://schemas.openxmlformats.org/officeDocument/2006/relationships/notesMaster" Target="/ppt/notesMasters/notesMaster1.xml" Id="R7ea01633544e492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985e11f004b49ec" /><Relationship Type="http://schemas.openxmlformats.org/officeDocument/2006/relationships/notesMaster" Target="/ppt/notesMasters/notesMaster1.xml" Id="R74f0be60c0404d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245accfc5f4309" /><Relationship Type="http://schemas.openxmlformats.org/officeDocument/2006/relationships/notesMaster" Target="/ppt/notesMasters/notesMaster1.xml" Id="R88b6161a0dc540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191f21dc054829" /><Relationship Type="http://schemas.openxmlformats.org/officeDocument/2006/relationships/notesMaster" Target="/ppt/notesMasters/notesMaster1.xml" Id="Rdac3ba84c9c949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97950eb156e4cef" /><Relationship Type="http://schemas.openxmlformats.org/officeDocument/2006/relationships/notesMaster" Target="/ppt/notesMasters/notesMaster1.xml" Id="Rd723f96e90484c6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5034a826674d41" /><Relationship Type="http://schemas.openxmlformats.org/officeDocument/2006/relationships/notesMaster" Target="/ppt/notesMasters/notesMaster1.xml" Id="Rceeb4e29db3440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8f55200a3784403" /><Relationship Type="http://schemas.openxmlformats.org/officeDocument/2006/relationships/notesMaster" Target="/ppt/notesMasters/notesMaster1.xml" Id="R87d87a2d891c42a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82c6b0fdc94ff2" /><Relationship Type="http://schemas.openxmlformats.org/officeDocument/2006/relationships/notesMaster" Target="/ppt/notesMasters/notesMaster1.xml" Id="R23b4c8e16c2b4e0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67187d8c3474222" /><Relationship Type="http://schemas.openxmlformats.org/officeDocument/2006/relationships/notesMaster" Target="/ppt/notesMasters/notesMaster1.xml" Id="Ra398fc94044c480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d5fc9ec80e4217" /><Relationship Type="http://schemas.openxmlformats.org/officeDocument/2006/relationships/notesMaster" Target="/ppt/notesMasters/notesMaster1.xml" Id="Rfe13f4ad58aa436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93df6428ab447d" /><Relationship Type="http://schemas.openxmlformats.org/officeDocument/2006/relationships/notesMaster" Target="/ppt/notesMasters/notesMaster1.xml" Id="R36fc025a778f4e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bce453ea6af4cc0" /><Relationship Type="http://schemas.openxmlformats.org/officeDocument/2006/relationships/notesMaster" Target="/ppt/notesMasters/notesMaster1.xml" Id="R4244c4a567d945e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and team. The question is how a contiguous-memory allocator chooses space for a process and why that choice can affect later requests. Explain that the presentation moves from the memory model to a worked fragmentation demonstration and then to measured algorithm results. Suggested presentation time is 8 to 10 minutes, with an optional live demonstration after the examples.</a:t>
            </a:r>
          </a:p>
          <a:p xmlns:a="http://schemas.openxmlformats.org/drawingml/2006/main">
            <a:r>
              <a:t>The source deck cover uses a conceptual AI-generated illustration. It depicts the topic rather than hardware built by the team.</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OS problem before describing the interface. In this model each process owns one contiguous region, which means a continuous range of simulated addresses. The example begins with two 250 MB allocations and a 500 MB hole between them. A 200 MB request fits in that hole, leaving 300 MB free. The placement algorithm identifies the region. The engine updates its ownership and splits it in variable mode. This example comes from an actual engine sequence: allocate A, X and B, release X, then allocate the new process. Later slides show why a suitable total free amount alone may not satisfy a request.</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Background: University of Illinois Chicago, Main Memory, sections 8.3.2 and 8.3.3. https://www.cs.uic.edu/~jbell/CourseNotes/OperatingSystems/8_MainMemory.html (accessed 14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project objectives, rather than listing every UI feature. The simulator makes placement decisions, ownership and addresses observable. It explains internal and external fragmentation and demonstrates recovery where the model allows it. Identical-workload comparison is useful because a strategy cannot be judged fairly by giving it an easier request sequence. The scope is contiguous allocation with whole-MB simulated offsets. It supports both fixed and variable partition modes. Supporting conveniences include previews, step playback, saved workloads and a local browser autosave. These help the demonstration but are not the main OS contribution.</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Project scope: README.md and docs/TECHNICAL_REFERENCE.md.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charts represent exactly 300 MB, so their scales are directly comparable. Fixed mode reserves a full partition even when the request is smaller. The remaining 100 MB is inside the process reservation and another process cannot use it. Variable mode reserves only the requested 200 MB and creates a separate 100 MB free hole. The current model reports zero internal waste in variable mode because it omits alignment and allocator metadata. Fixed boundaries remain unchanged, and the application disables compaction for that mode. Mention that the following diagrams use variable partitioning unless a slide says otherwise.</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Background: University of Illinois Chicago, Main Memory, sections 8.3.2 and 8.3.3. https://www.cs.uic.edu/~jbell/CourseNotes/OperatingSystems/8_MainMemory.html (accessed 14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the four rules without claiming one is always superior. First Fit can stop at the first adequate free region. In this list implementation, Best Fit and Worst Fit examine the free regions to choose the smallest or largest suitable one. Next Fit is a circular first-adequate search beginning at a saved simulated address. A successful Next Fit allocation updates that address to the end of its reserved region plus one, modulo total capacity. Previews and unsuccessful requests preserve it. All four placement searches have O(n) worst-case traversal for n regions in this implementation. This complexity statement is about the search, not the full browser redraw.</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Background: University of Illinois Chicago, Main Memory, sections 8.3.2 and 8.3.3. https://www.cs.uic.edu/~jbell/CourseNotes/OperatingSystems/8_MainMemory.html (accessed 14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through one request slowly. First Fit starts at region 1 and leaves 100 MB. Best Fit chooses the 220 MB region and leaves 20 MB. Worst Fit chooses the 500 MB region and leaves 300 MB. For Next Fit this teaching example sets the saved start address to 300 MB, the beginning of region 2, so it also chooses 220 MB. Matching Best Fit here does not mean the algorithms are identical: Next Fit stops at a suitable region from the saved position, while Best Fit selects by size. These are the same independent initial-region choices used by the Overview mini example. Initial configured variable regions remain independently selectable in this project until a merge or compaction. The rows come from actual placement-function outputs for the given request.</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Mini example: js/interface/overview-demo.js. Model policy: docs/TECHNICAL_REFERENCE.md.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changes to state. Creating a request adds a waiting process but does not reserve memory. Allocate selects a region and changes the process to allocated. After A receives 100 MB, 400 MB remains free. Growth consumes 50 MB of directly following free space, so A occupies 150 MB and free space becomes 350 MB. Release marks A terminated and frees its region. The allocator coalesces it with the adjacent free region, restoring one 500 MB hole. Growth only succeeds within unused fixed reservation or contiguous free space immediately after the allocation. It does not silently move the process. These four charts are snapshots from the actual engine lifecycle.</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Functions: create, allocate, grow, terminate and merge in js/core/memory-engine.js.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where the unused space sits. Internal fragmentation is unused capacity inside an allocated reservation. External fragmentation is free space separated into holes that may be individually too small for a new contiguous request. The left chart represents a 300 MB fixed partition. The right chart represents a different 1,000 MB variable address space, so do not compare their widths as equal amounts of physical memory. In this implementation the external dispersion metric is total free memory minus the largest free hole. Here it is 550 minus 250, or 300 MB. This quantity remains free and can serve smaller requests. Fragmentation does not mean the memory has disappeared.</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Background: University of Illinois Chicago, Main Memory, sections 8.3.2 and 8.3.3. https://www.cs.uic.edu/~jbell/CourseNotes/OperatingSystems/8_MainMemory.html (accessed 14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guided fragmentation demonstration in variable mode. Configure 1,000 MB. Fill it with P1 250, P2 200, P3 250, P4 250 and P5 50 MB. Release P1, P3 and P5. The layout becomes Free 250, P2 200, Free 250, P4 250, Free 50. The total free amount is 550 MB, but the largest single hole is 250 MB. P6 requests 400 MB and fails with an external-fragmentation diagnostic. Its state remains waiting and the engine records the failed attempt. In the live website open Simulation studio and start the guided demo, then advance through fill, release and failure. Keep the partition mode variable for this demonstration.</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Browser captures F07-F09: docs/demo/Browser-Results.json.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Compaction relocates P2 from addresses 250-449 to 0-199 and P4 from 700-949 to 200-449. It combines all 550 MB of free capacity into addresses 450-999. No extra capacity appears. Retrying P6 now allocates 400 MB at 450-849 and leaves 150 MB at 850-999. The final allocation is 850 MB out of 1,000 MB, giving 85% utilization. P6 keeps its earlier failure in history. Compaction is available only in variable mode because fixed partition boundaries cannot move. The simulator changes simulated addresses but does not measure the real runtime cost of relocating processes.</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Browser captures F10-F12 and compaction movements in docs/demo/Browser-Results.json.</a:t>
            </a:r>
          </a:p>
          <a:p xmlns:a="http://schemas.openxmlformats.org/drawingml/2006/main">
            <a:r>
              <a:t>Background: University of Illinois Chicago, Main Memory, sections 8.3.2 and 8.3.3. https://www.cs.uic.edu/~jbell/CourseNotes/OperatingSystems/8_MainMemory.html (accessed 14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four strategies start with the same 1,700 MB region configuration and receive the same four requests in order. First Fit serves 3 of 4 requests, examines 14 free regions and ends with 959 MB free, of which 659 MB is outside the largest hole. Best Fit serves all 4, examines 20 and ends with 533 MB free and 359 MB external fragmentation. Worst Fit serves 3, examines 20 and has the same final free and external totals as First Fit. Next Fit serves 3, examines 12 and ends with the same totals. Best Fit uses 68.65% of capacity for useful payload versus 43.59% for the other three. The chart answers which strategy serves the extra request. The table explains the search and fragmentation tradeoff. Free-region examination counts do not establish elapsed execution speed, and another workload can favor another strategy.</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Browser matrix M17-M20 and comparison captures F55-F56 in docs/demo/Browser-Results.json.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control flow accurately. app.js reads an action such as Allocate and calls the shared engine. memory-engine.js invokes the selected function from algorithms.js. The algorithm returns a search result and its trail without mutating memory. The engine applies the state change, updates addresses and records metrics. The interface files render the updated map, process table, diagnostics and charts. Comparison uses independent states with the same engine, which keeps interactive and comparison behavior consistent. This project uses HTML, CSS and plain JavaScript. It runs as static files on GitHub Pages or directly from index.html. A local Python server is only an optional way to serve the files.</a:t>
            </a:r>
          </a:p>
          <a:p xmlns:a="http://schemas.openxmlformats.org/drawingml/2006/main">
            <a:r>
              <a:t>Supporting UI features include saved JSON workloads, browser autosave, step playback, previews and themes. Mention them briefly if asked.</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Architecture: docs/PROJECT_GUIDE.md and index.html script loading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engine suite passed 48 regression checks. Its stress sequence runs 500 mixed operations for each of four algorithms and two modes, totaling 4,000 actions. In addition, browser testing covered every built-in workload under every algorithm and mode: five workloads times four strategies times two modes gives 40 combinations. The proof records 110 further feature checkpoints. Matrix checks compare browser output with standalone replay of the same implementation, so they are consistency evidence rather than a wholly independent allocator. Exact examples and invariants check capacity conservation, continuous addresses, ownership and nonnegative waste. The current model omits real RAM allocation, paging, virtual addresses, swapping, byte alignment and allocator metadata. Compaction changes simulated addresses without timing the cost of relocating real processes. The listed counts describe the current verified project.</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Tests: tests/simulator.test.js. Browser evidence: docs/demo/Browser-Results.json. Limits: docs/TECHNICAL_REFERENCE.md.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findings rather than a feature list. Placement strategy changes the memory available to later requests, but no single strategy wins every workload. Fragmentation explains why total capacity and usable contiguous capacity differ. Compaction improves contiguity while preserving total free space. The project makes those effects observable through simulated addresses and repeatable request sequences. For the live demonstration, open https://umang-vekariya.github.io/interactive-memory-allocation-simulator/, enter Simulation studio and start the guided fragmentation demo. Advance through fill, releases, failed request, compaction and successful retry. Then load the classic comparison if time permits. This changes the current workload, so save an experiment first if needed. Invite questions about algorithm selection, coalescing, internal waste and model scope.</a:t>
            </a:r>
          </a:p>
          <a:p xmlns:a="http://schemas.openxmlformats.org/drawingml/2006/main">
            <a:r>
              <a:t/>
            </a:r>
          </a:p>
          <a:p xmlns:a="http://schemas.openxmlformats.org/drawingml/2006/main">
            <a:r>
              <a:t>Project implementation: https://github.com/Umang-Vekariya/interactive-memory-allocation-simulator</a:t>
            </a:r>
          </a:p>
          <a:p xmlns:a="http://schemas.openxmlformats.org/drawingml/2006/main">
            <a:r>
              <a:t>Core: js/core/algorithms.js and js/core/memory-engine.js. Browser evidence: docs/demo/Browser-Results.json.</a:t>
            </a:r>
          </a:p>
          <a:p xmlns:a="http://schemas.openxmlformats.org/drawingml/2006/main">
            <a:r>
              <a:t>Deployment: https://umang-vekariya.github.io/interactive-memory-allocation-simulator/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03917887e24c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ca79083797b4a6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db4ed3c2d0741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5d07ba8592042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689b4773254f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4507bb61d714d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0FBB4D-37AE-4871-BF2E-E6985569CD3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1C5FD1A-1778-4EDF-9ADD-0C3302A1661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A0BB67-261E-4243-84B3-0337E95DE7F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8722508-FC00-45FA-B5D7-B474BF11347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CA6B00-A846-4597-A468-89F4F6E0B6E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9288E0-2FC5-4C5D-BA52-B371F443E6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5EDE4E-67FA-4304-9917-1BB76195BDB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D2364E8-A553-4B9C-9C59-365F0D6E359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F114DF6-649A-47B3-92E1-2DCF9265A7A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A69AD6-B480-4E7D-93BE-A90C3B755C1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0e8d07c90d484d" /><Relationship Type="http://schemas.openxmlformats.org/officeDocument/2006/relationships/slideLayout" Target="/ppt/slideLayouts/slideLayout1.xml" Id="R0154117d453d4648" /><Relationship Type="http://schemas.openxmlformats.org/officeDocument/2006/relationships/slideLayout" Target="/ppt/slideLayouts/slideLayout2.xml" Id="Rcbc33bfe05f649b9" /><Relationship Type="http://schemas.openxmlformats.org/officeDocument/2006/relationships/slideLayout" Target="/ppt/slideLayouts/slideLayout3.xml" Id="Rde1a7dd0e7c64144" /><Relationship Type="http://schemas.openxmlformats.org/officeDocument/2006/relationships/slideLayout" Target="/ppt/slideLayouts/slideLayout4.xml" Id="R6fd9fc1d05f34721" /><Relationship Type="http://schemas.openxmlformats.org/officeDocument/2006/relationships/slideLayout" Target="/ppt/slideLayouts/slideLayout5.xml" Id="Rb88effa393004252" /><Relationship Type="http://schemas.openxmlformats.org/officeDocument/2006/relationships/slideLayout" Target="/ppt/slideLayouts/slideLayout6.xml" Id="Rece95076774642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54117d453d4648"/>
    <p:sldLayoutId xmlns:r="http://schemas.openxmlformats.org/officeDocument/2006/relationships" id="2147483650" r:id="Rcbc33bfe05f649b9"/>
    <p:sldLayoutId xmlns:r="http://schemas.openxmlformats.org/officeDocument/2006/relationships" id="2147483651" r:id="Rde1a7dd0e7c64144"/>
    <p:sldLayoutId xmlns:r="http://schemas.openxmlformats.org/officeDocument/2006/relationships" id="2147483652" r:id="R6fd9fc1d05f34721"/>
    <p:sldLayoutId xmlns:r="http://schemas.openxmlformats.org/officeDocument/2006/relationships" id="2147483653" r:id="Rb88effa393004252"/>
    <p:sldLayoutId xmlns:r="http://schemas.openxmlformats.org/officeDocument/2006/relationships" id="2147483654" r:id="Rece95076774642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8ae6085d6244196" /><Relationship Type="http://schemas.openxmlformats.org/officeDocument/2006/relationships/image" Target="/ppt/media/image.png" Id="Rb3514b784f2d4e6b" /><Relationship Type="http://schemas.openxmlformats.org/officeDocument/2006/relationships/notesSlide" Target="/ppt/notesSlides/notesSlide1.xml" Id="R5fe0896b8d25413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712e84cfa74512" /><Relationship Type="http://schemas.openxmlformats.org/officeDocument/2006/relationships/chart" Target="/ppt/slides/charts/chart1.xml" Id="R9c668f02941b4a5e" /><Relationship Type="http://schemas.openxmlformats.org/officeDocument/2006/relationships/chart" Target="/ppt/slides/charts/chart2.xml" Id="R38abf23845e94177" /><Relationship Type="http://schemas.openxmlformats.org/officeDocument/2006/relationships/notesSlide" Target="/ppt/notesSlides/notesSlide2.xml" Id="Rf6fe941cdeae47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0a8c0afbd524694" /><Relationship Type="http://schemas.openxmlformats.org/officeDocument/2006/relationships/notesSlide" Target="/ppt/notesSlides/notesSlide3.xml" Id="R5deafc0235894d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6fae8cf7a774a14" /><Relationship Type="http://schemas.openxmlformats.org/officeDocument/2006/relationships/chart" Target="/ppt/slides/charts/chart3.xml" Id="R7533405b84bf4e46" /><Relationship Type="http://schemas.openxmlformats.org/officeDocument/2006/relationships/chart" Target="/ppt/slides/charts/chart4.xml" Id="Rb263e50315644871" /><Relationship Type="http://schemas.openxmlformats.org/officeDocument/2006/relationships/notesSlide" Target="/ppt/notesSlides/notesSlide4.xml" Id="Rcf278723655d4c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43c68d613646e7" /><Relationship Type="http://schemas.openxmlformats.org/officeDocument/2006/relationships/notesSlide" Target="/ppt/notesSlides/notesSlide5.xml" Id="R2ab38f2bce714dd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f46e6dbd6204b77" /><Relationship Type="http://schemas.openxmlformats.org/officeDocument/2006/relationships/chart" Target="/ppt/slides/charts/chart5.xml" Id="R939954669f4a450d" /><Relationship Type="http://schemas.openxmlformats.org/officeDocument/2006/relationships/notesSlide" Target="/ppt/notesSlides/notesSlide6.xml" Id="Re7a187f3bb5d439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f3300148a934a36" /><Relationship Type="http://schemas.openxmlformats.org/officeDocument/2006/relationships/chart" Target="/ppt/slides/charts/chart6.xml" Id="R11c14fb24f3b4091" /><Relationship Type="http://schemas.openxmlformats.org/officeDocument/2006/relationships/chart" Target="/ppt/slides/charts/chart7.xml" Id="Rbbd62f2706de48d3" /><Relationship Type="http://schemas.openxmlformats.org/officeDocument/2006/relationships/chart" Target="/ppt/slides/charts/chart8.xml" Id="Rd813b6ab085f4bfd" /><Relationship Type="http://schemas.openxmlformats.org/officeDocument/2006/relationships/chart" Target="/ppt/slides/charts/chart9.xml" Id="R2d5ef99540dc436e" /><Relationship Type="http://schemas.openxmlformats.org/officeDocument/2006/relationships/notesSlide" Target="/ppt/notesSlides/notesSlide7.xml" Id="Ra7527edb5da040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263f697a30147c5" /><Relationship Type="http://schemas.openxmlformats.org/officeDocument/2006/relationships/chart" Target="/ppt/slides/charts/chart10.xml" Id="R671d8e92b1de4f70" /><Relationship Type="http://schemas.openxmlformats.org/officeDocument/2006/relationships/chart" Target="/ppt/slides/charts/chart11.xml" Id="Ra9762748a7b545ab" /><Relationship Type="http://schemas.openxmlformats.org/officeDocument/2006/relationships/notesSlide" Target="/ppt/notesSlides/notesSlide8.xml" Id="R263466dfbadd45f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457507736446e4" /><Relationship Type="http://schemas.openxmlformats.org/officeDocument/2006/relationships/chart" Target="/ppt/slides/charts/chart12.xml" Id="Rf8b4f9391c5e4dfa" /><Relationship Type="http://schemas.openxmlformats.org/officeDocument/2006/relationships/notesSlide" Target="/ppt/notesSlides/notesSlide9.xml" Id="R1989aea426c345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d3d47470a764cfc" /><Relationship Type="http://schemas.openxmlformats.org/officeDocument/2006/relationships/chart" Target="/ppt/slides/charts/chart13.xml" Id="R9664bbc4eef04c7b" /><Relationship Type="http://schemas.openxmlformats.org/officeDocument/2006/relationships/chart" Target="/ppt/slides/charts/chart14.xml" Id="R4666e379ab894410" /><Relationship Type="http://schemas.openxmlformats.org/officeDocument/2006/relationships/chart" Target="/ppt/slides/charts/chart15.xml" Id="Rbae1ada8192f4e48" /><Relationship Type="http://schemas.openxmlformats.org/officeDocument/2006/relationships/notesSlide" Target="/ppt/notesSlides/notesSlide10.xml" Id="Re37b1b623e9b4b0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d9fa6a10d0042e8" /><Relationship Type="http://schemas.openxmlformats.org/officeDocument/2006/relationships/chart" Target="/ppt/slides/charts/chart16.xml" Id="R3d49e1fff2bd4445" /><Relationship Type="http://schemas.openxmlformats.org/officeDocument/2006/relationships/notesSlide" Target="/ppt/notesSlides/notesSlide11.xml" Id="R8f6647602908442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2d23292abcf47ac" /><Relationship Type="http://schemas.openxmlformats.org/officeDocument/2006/relationships/notesSlide" Target="/ppt/notesSlides/notesSlide12.xml" Id="Rf06441fc0c414e0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f2b45552c294b67" /><Relationship Type="http://schemas.openxmlformats.org/officeDocument/2006/relationships/notesSlide" Target="/ppt/notesSlides/notesSlide13.xml" Id="Rde240c55292e413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b57bbfa5c1c43d0" /><Relationship Type="http://schemas.openxmlformats.org/officeDocument/2006/relationships/notesSlide" Target="/ppt/notesSlides/notesSlide14.xml" Id="R7a38c4fe0d7e4b1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_rels/chart13.xml.rels><Relationships xmlns="http://schemas.openxmlformats.org/package/2006/relationships"><Relationship Id="rIdChartSnapshot1" Type="http://schemas.openxmlformats.org/officeDocument/2006/relationships/package" Target="../../embeddings/chart-data-snapshot-013.xlsx"/></Relationships>
</file>

<file path=ppt/slides/charts/_rels/chart14.xml.rels><Relationships xmlns="http://schemas.openxmlformats.org/package/2006/relationships"><Relationship Id="rIdChartSnapshot1" Type="http://schemas.openxmlformats.org/officeDocument/2006/relationships/package" Target="../../embeddings/chart-data-snapshot-014.xlsx"/></Relationships>
</file>

<file path=ppt/slides/charts/_rels/chart15.xml.rels><Relationships xmlns="http://schemas.openxmlformats.org/package/2006/relationships"><Relationship Id="rIdChartSnapshot1" Type="http://schemas.openxmlformats.org/officeDocument/2006/relationships/package" Target="../../embeddings/chart-data-snapshot-015.xlsx"/></Relationships>
</file>

<file path=ppt/slides/charts/_rels/chart16.xml.rels><Relationships xmlns="http://schemas.openxmlformats.org/package/2006/relationships"><Relationship Id="rIdChartSnapshot1" Type="http://schemas.openxmlformats.org/officeDocument/2006/relationships/package" Target="../../embeddings/chart-data-snapshot-016.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c:v>
          </c:tx>
          <c:spPr>
            <a:solidFill xmlns:a="http://schemas.openxmlformats.org/drawingml/2006/main">
              <a:srgbClr val="E879F9"/>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250</c:v>
                </c:pt>
              </c:numCache>
            </c:numRef>
          </c:val>
        </c:ser>
        <c:ser>
          <c:idx val="1"/>
          <c:order val="1"/>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500</c:v>
                </c:pt>
              </c:numCache>
            </c:numRef>
          </c:val>
        </c:ser>
        <c:ser>
          <c:idx val="2"/>
          <c:order val="2"/>
          <c:tx>
            <c:v>B</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250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c:v>
          </c:tx>
          <c:spPr>
            <a:solidFill xmlns:a="http://schemas.openxmlformats.org/drawingml/2006/main">
              <a:srgbClr val="E879F9"/>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250</c:v>
                </c:pt>
              </c:numCache>
            </c:numRef>
          </c:val>
        </c:ser>
        <c:ser>
          <c:idx val="1"/>
          <c:order val="1"/>
          <c:tx>
            <c:v>New</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200</c:v>
                </c:pt>
              </c:numCache>
            </c:numRef>
          </c:val>
        </c:ser>
        <c:ser>
          <c:idx val="2"/>
          <c:order val="2"/>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300</c:v>
                </c:pt>
              </c:numCache>
            </c:numRef>
          </c:val>
        </c:ser>
        <c:ser>
          <c:idx val="3"/>
          <c:order val="3"/>
          <c:tx>
            <c:v>B</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Data'!$G$2:$G$2</c:f>
              <c:strCache>
                <c:ptCount val="1"/>
                <c:pt idx="0">
                  <c:v>Memory</c:v>
                </c:pt>
              </c:strCache>
            </c:strRef>
          </c:cat>
          <c:val>
            <c:numRef>
              <c:f>'Chart Data'!$H$2:$H$2</c:f>
              <c:numCache>
                <c:formatCode>General</c:formatCode>
                <c:ptCount val="1"/>
                <c:pt idx="0">
                  <c:v>250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Payload</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200</c:v>
                </c:pt>
              </c:numCache>
            </c:numRef>
          </c:val>
        </c:ser>
        <c:ser>
          <c:idx val="1"/>
          <c:order val="1"/>
          <c:tx>
            <c:v>Waste</c:v>
          </c:tx>
          <c:spPr>
            <a:solidFill xmlns:a="http://schemas.openxmlformats.org/drawingml/2006/main">
              <a:srgbClr val="FBBF24"/>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100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Payload</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200</c:v>
                </c:pt>
              </c:numCache>
            </c:numRef>
          </c:val>
        </c:ser>
        <c:ser>
          <c:idx val="1"/>
          <c:order val="1"/>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100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Region 1</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300</c:v>
                </c:pt>
              </c:numCache>
            </c:numRef>
          </c:val>
        </c:ser>
        <c:ser>
          <c:idx val="1"/>
          <c:order val="1"/>
          <c:tx>
            <c:v>Region 2</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220</c:v>
                </c:pt>
              </c:numCache>
            </c:numRef>
          </c:val>
        </c:ser>
        <c:ser>
          <c:idx val="2"/>
          <c:order val="2"/>
          <c:tx>
            <c:v>Region 3</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500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500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c:v>
          </c:tx>
          <c:spPr>
            <a:solidFill xmlns:a="http://schemas.openxmlformats.org/drawingml/2006/main">
              <a:srgbClr val="E879F9"/>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100</c:v>
                </c:pt>
              </c:numCache>
            </c:numRef>
          </c:val>
        </c:ser>
        <c:ser>
          <c:idx val="1"/>
          <c:order val="1"/>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400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c:v>
          </c:tx>
          <c:spPr>
            <a:solidFill xmlns:a="http://schemas.openxmlformats.org/drawingml/2006/main">
              <a:srgbClr val="E879F9"/>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150</c:v>
                </c:pt>
              </c:numCache>
            </c:numRef>
          </c:val>
        </c:ser>
        <c:ser>
          <c:idx val="1"/>
          <c:order val="1"/>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350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500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Payload</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200</c:v>
                </c:pt>
              </c:numCache>
            </c:numRef>
          </c:val>
        </c:ser>
        <c:ser>
          <c:idx val="1"/>
          <c:order val="1"/>
          <c:tx>
            <c:v>Waste</c:v>
          </c:tx>
          <c:spPr>
            <a:solidFill xmlns:a="http://schemas.openxmlformats.org/drawingml/2006/main">
              <a:srgbClr val="FBBF24"/>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100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250</c:v>
                </c:pt>
              </c:numCache>
            </c:numRef>
          </c:val>
        </c:ser>
        <c:ser>
          <c:idx val="1"/>
          <c:order val="1"/>
          <c:tx>
            <c:v>P2</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0"/>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200</c:v>
                </c:pt>
              </c:numCache>
            </c:numRef>
          </c:val>
        </c:ser>
        <c:ser>
          <c:idx val="2"/>
          <c:order val="2"/>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250</c:v>
                </c:pt>
              </c:numCache>
            </c:numRef>
          </c:val>
        </c:ser>
        <c:ser>
          <c:idx val="3"/>
          <c:order val="3"/>
          <c:tx>
            <c:v>P4</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Data'!$G$2:$G$2</c:f>
              <c:strCache>
                <c:ptCount val="1"/>
                <c:pt idx="0">
                  <c:v>Memory</c:v>
                </c:pt>
              </c:strCache>
            </c:strRef>
          </c:cat>
          <c:val>
            <c:numRef>
              <c:f>'Chart Data'!$H$2:$H$2</c:f>
              <c:numCache>
                <c:formatCode>General</c:formatCode>
                <c:ptCount val="1"/>
                <c:pt idx="0">
                  <c:v>250</c:v>
                </c:pt>
              </c:numCache>
            </c:numRef>
          </c:val>
        </c:ser>
        <c:ser>
          <c:idx val="4"/>
          <c:order val="4"/>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0"/>
            <c:showCatName val="0"/>
            <c:showSerName val="0"/>
            <c:showPercent val="0"/>
            <c:showBubbleSize val="0"/>
            <c:separator>
</c:separator>
            <c:showLeaderLines val="0"/>
          </c:dLbls>
          <c:cat>
            <c:strRef>
              <c:f>'Chart Data'!$I$2:$I$2</c:f>
              <c:strCache>
                <c:ptCount val="1"/>
                <c:pt idx="0">
                  <c:v>Memory</c:v>
                </c:pt>
              </c:strCache>
            </c:strRef>
          </c:cat>
          <c:val>
            <c:numRef>
              <c:f>'Chart Data'!$J$2:$J$2</c:f>
              <c:numCache>
                <c:formatCode>General</c:formatCode>
                <c:ptCount val="1"/>
                <c:pt idx="0">
                  <c:v>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Free</c:v>
          </c:tx>
          <c:spPr>
            <a:solidFill xmlns:a="http://schemas.openxmlformats.org/drawingml/2006/main">
              <a:srgbClr val="CBD5E1"/>
            </a:solidFill>
            <a:ln xmlns:a="http://schemas.openxmlformats.org/drawingml/2006/main" w="9525">
              <a:solidFill>
                <a:srgbClr val="0B1220"/>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250</c:v>
                </c:pt>
              </c:numCache>
            </c:numRef>
          </c:val>
        </c:ser>
        <c:ser>
          <c:idx val="1"/>
          <c:order val="1"/>
          <c:tx>
            <c:v>P2</c:v>
          </c:tx>
          <c:spPr>
            <a:solidFill xmlns:a="http://schemas.openxmlformats.org/drawingml/2006/main">
              <a:srgbClr val="818CF8"/>
            </a:solidFill>
            <a:ln xmlns:a="http://schemas.openxmlformats.org/drawingml/2006/main" w="9525">
              <a:solidFill>
                <a:srgbClr val="0B1220"/>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200</c:v>
                </c:pt>
              </c:numCache>
            </c:numRef>
          </c:val>
        </c:ser>
        <c:ser>
          <c:idx val="2"/>
          <c:order val="2"/>
          <c:tx>
            <c:v>Free</c:v>
          </c:tx>
          <c:spPr>
            <a:solidFill xmlns:a="http://schemas.openxmlformats.org/drawingml/2006/main">
              <a:srgbClr val="CBD5E1"/>
            </a:solidFill>
            <a:ln xmlns:a="http://schemas.openxmlformats.org/drawingml/2006/main" w="9525">
              <a:solidFill>
                <a:srgbClr val="0B1220"/>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250</c:v>
                </c:pt>
              </c:numCache>
            </c:numRef>
          </c:val>
        </c:ser>
        <c:ser>
          <c:idx val="3"/>
          <c:order val="3"/>
          <c:tx>
            <c:v>P4</c:v>
          </c:tx>
          <c:spPr>
            <a:solidFill xmlns:a="http://schemas.openxmlformats.org/drawingml/2006/main">
              <a:srgbClr val="60A5FA"/>
            </a:solidFill>
            <a:ln xmlns:a="http://schemas.openxmlformats.org/drawingml/2006/main" w="9525">
              <a:solidFill>
                <a:srgbClr val="0B1220"/>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Data'!$G$2:$G$2</c:f>
              <c:strCache>
                <c:ptCount val="1"/>
                <c:pt idx="0">
                  <c:v>Memory</c:v>
                </c:pt>
              </c:strCache>
            </c:strRef>
          </c:cat>
          <c:val>
            <c:numRef>
              <c:f>'Chart Data'!$H$2:$H$2</c:f>
              <c:numCache>
                <c:formatCode>General</c:formatCode>
                <c:ptCount val="1"/>
                <c:pt idx="0">
                  <c:v>250</c:v>
                </c:pt>
              </c:numCache>
            </c:numRef>
          </c:val>
        </c:ser>
        <c:ser>
          <c:idx val="4"/>
          <c:order val="4"/>
          <c:tx>
            <c:v>Free</c:v>
          </c:tx>
          <c:spPr>
            <a:solidFill xmlns:a="http://schemas.openxmlformats.org/drawingml/2006/main">
              <a:srgbClr val="CBD5E1"/>
            </a:solidFill>
            <a:ln xmlns:a="http://schemas.openxmlformats.org/drawingml/2006/main" w="9525">
              <a:solidFill>
                <a:srgbClr val="0B1220"/>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0"/>
            <c:showCatName val="0"/>
            <c:showSerName val="0"/>
            <c:showPercent val="0"/>
            <c:showBubbleSize val="0"/>
            <c:separator>
</c:separator>
            <c:showLeaderLines val="0"/>
          </c:dLbls>
          <c:cat>
            <c:strRef>
              <c:f>'Chart Data'!$I$2:$I$2</c:f>
              <c:strCache>
                <c:ptCount val="1"/>
                <c:pt idx="0">
                  <c:v>Memory</c:v>
                </c:pt>
              </c:strCache>
            </c:strRef>
          </c:cat>
          <c:val>
            <c:numRef>
              <c:f>'Chart Data'!$J$2:$J$2</c:f>
              <c:numCache>
                <c:formatCode>General</c:formatCode>
                <c:ptCount val="1"/>
                <c:pt idx="0">
                  <c:v>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3.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250</c:v>
                </c:pt>
              </c:numCache>
            </c:numRef>
          </c:val>
        </c:ser>
        <c:ser>
          <c:idx val="1"/>
          <c:order val="1"/>
          <c:tx>
            <c:v>P2</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200</c:v>
                </c:pt>
              </c:numCache>
            </c:numRef>
          </c:val>
        </c:ser>
        <c:ser>
          <c:idx val="2"/>
          <c:order val="2"/>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250</c:v>
                </c:pt>
              </c:numCache>
            </c:numRef>
          </c:val>
        </c:ser>
        <c:ser>
          <c:idx val="3"/>
          <c:order val="3"/>
          <c:tx>
            <c:v>P4</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Data'!$G$2:$G$2</c:f>
              <c:strCache>
                <c:ptCount val="1"/>
                <c:pt idx="0">
                  <c:v>Memory</c:v>
                </c:pt>
              </c:strCache>
            </c:strRef>
          </c:cat>
          <c:val>
            <c:numRef>
              <c:f>'Chart Data'!$H$2:$H$2</c:f>
              <c:numCache>
                <c:formatCode>General</c:formatCode>
                <c:ptCount val="1"/>
                <c:pt idx="0">
                  <c:v>250</c:v>
                </c:pt>
              </c:numCache>
            </c:numRef>
          </c:val>
        </c:ser>
        <c:ser>
          <c:idx val="4"/>
          <c:order val="4"/>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0"/>
            <c:showCatName val="0"/>
            <c:showSerName val="0"/>
            <c:showPercent val="0"/>
            <c:showBubbleSize val="0"/>
            <c:separator>
</c:separator>
            <c:showLeaderLines val="0"/>
          </c:dLbls>
          <c:cat>
            <c:strRef>
              <c:f>'Chart Data'!$I$2:$I$2</c:f>
              <c:strCache>
                <c:ptCount val="1"/>
                <c:pt idx="0">
                  <c:v>Memory</c:v>
                </c:pt>
              </c:strCache>
            </c:strRef>
          </c:cat>
          <c:val>
            <c:numRef>
              <c:f>'Chart Data'!$J$2:$J$2</c:f>
              <c:numCache>
                <c:formatCode>General</c:formatCode>
                <c:ptCount val="1"/>
                <c:pt idx="0">
                  <c:v>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4.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P2</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200</c:v>
                </c:pt>
              </c:numCache>
            </c:numRef>
          </c:val>
        </c:ser>
        <c:ser>
          <c:idx val="1"/>
          <c:order val="1"/>
          <c:tx>
            <c:v>P4</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250</c:v>
                </c:pt>
              </c:numCache>
            </c:numRef>
          </c:val>
        </c:ser>
        <c:ser>
          <c:idx val="2"/>
          <c:order val="2"/>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550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5.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P2</c:v>
          </c:tx>
          <c:spPr>
            <a:solidFill xmlns:a="http://schemas.openxmlformats.org/drawingml/2006/main">
              <a:srgbClr val="818CF8"/>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Data'!$A$2:$A$2</c:f>
              <c:strCache>
                <c:ptCount val="1"/>
                <c:pt idx="0">
                  <c:v>Memory</c:v>
                </c:pt>
              </c:strCache>
            </c:strRef>
          </c:cat>
          <c:val>
            <c:numRef>
              <c:f>'Chart Data'!$B$2:$B$2</c:f>
              <c:numCache>
                <c:formatCode>General</c:formatCode>
                <c:ptCount val="1"/>
                <c:pt idx="0">
                  <c:v>200</c:v>
                </c:pt>
              </c:numCache>
            </c:numRef>
          </c:val>
        </c:ser>
        <c:ser>
          <c:idx val="1"/>
          <c:order val="1"/>
          <c:tx>
            <c:v>P4</c:v>
          </c:tx>
          <c:spPr>
            <a:solidFill xmlns:a="http://schemas.openxmlformats.org/drawingml/2006/main">
              <a:srgbClr val="60A5FA"/>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Data'!$C$2:$C$2</c:f>
              <c:strCache>
                <c:ptCount val="1"/>
                <c:pt idx="0">
                  <c:v>Memory</c:v>
                </c:pt>
              </c:strCache>
            </c:strRef>
          </c:cat>
          <c:val>
            <c:numRef>
              <c:f>'Chart Data'!$D$2:$D$2</c:f>
              <c:numCache>
                <c:formatCode>General</c:formatCode>
                <c:ptCount val="1"/>
                <c:pt idx="0">
                  <c:v>250</c:v>
                </c:pt>
              </c:numCache>
            </c:numRef>
          </c:val>
        </c:ser>
        <c:ser>
          <c:idx val="2"/>
          <c:order val="2"/>
          <c:tx>
            <c:v>P6</c:v>
          </c:tx>
          <c:spPr>
            <a:solidFill xmlns:a="http://schemas.openxmlformats.org/drawingml/2006/main">
              <a:srgbClr val="2DD4BF"/>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Data'!$E$2:$E$2</c:f>
              <c:strCache>
                <c:ptCount val="1"/>
                <c:pt idx="0">
                  <c:v>Memory</c:v>
                </c:pt>
              </c:strCache>
            </c:strRef>
          </c:cat>
          <c:val>
            <c:numRef>
              <c:f>'Chart Data'!$F$2:$F$2</c:f>
              <c:numCache>
                <c:formatCode>General</c:formatCode>
                <c:ptCount val="1"/>
                <c:pt idx="0">
                  <c:v>400</c:v>
                </c:pt>
              </c:numCache>
            </c:numRef>
          </c:val>
        </c:ser>
        <c:ser>
          <c:idx val="3"/>
          <c:order val="3"/>
          <c:tx>
            <c:v>Free</c:v>
          </c:tx>
          <c:spPr>
            <a:solidFill xmlns:a="http://schemas.openxmlformats.org/drawingml/2006/main">
              <a:srgbClr val="CBD5E1"/>
            </a:solidFill>
            <a:ln xmlns:a="http://schemas.openxmlformats.org/drawingml/2006/main" w="9525">
              <a:solidFill>
                <a:srgbClr val="FFFFFF"/>
              </a:solidFill>
            </a:ln>
          </c:spPr>
          <c:invertIfNegative val="0"/>
          <c:dLbls>
            <c:numFmt formatCode="0&quot; MB&quot;" sourceLinked="0"/>
            <c:txPr>
              <a:bodyPr xmlns:a="http://schemas.openxmlformats.org/drawingml/2006/main" anchorCtr="1"/>
              <a:lstStyle xmlns:a="http://schemas.openxmlformats.org/drawingml/2006/main"/>
              <a:p xmlns:a="http://schemas.openxmlformats.org/drawingml/2006/main">
                <a:pPr>
                  <a:defRPr sz="1725" b="1">
                    <a:solidFill>
                      <a:srgbClr val="0F172A"/>
                    </a:solidFill>
                    <a:latin typeface="Helvetica Neue"/>
                    <a:ea typeface="Helvetica Neue"/>
                    <a:cs typeface="Helvetica Neue"/>
                  </a:defRPr>
                </a:pPr>
              </a:p>
            </c:txPr>
            <c:dLblPos val="ctr"/>
            <c:showLegendKey val="0"/>
            <c:showVal val="1"/>
            <c:showCatName val="0"/>
            <c:showSerName val="1"/>
            <c:showPercent val="0"/>
            <c:showBubbleSize val="0"/>
            <c:separator>
</c:separator>
            <c:showLeaderLines val="0"/>
          </c:dLbls>
          <c:cat>
            <c:strRef>
              <c:f>'Chart Data'!$G$2:$G$2</c:f>
              <c:strCache>
                <c:ptCount val="1"/>
                <c:pt idx="0">
                  <c:v>Memory</c:v>
                </c:pt>
              </c:strCache>
            </c:strRef>
          </c:cat>
          <c:val>
            <c:numRef>
              <c:f>'Chart Data'!$H$2:$H$2</c:f>
              <c:numCache>
                <c:formatCode>General</c:formatCode>
                <c:ptCount val="1"/>
                <c:pt idx="0">
                  <c:v>150</c:v>
                </c:pt>
              </c:numCache>
            </c:numRef>
          </c:val>
        </c:ser>
        <c:dLbls>
          <c:txPr>
            <a:bodyPr xmlns:a="http://schemas.openxmlformats.org/drawingml/2006/main" anchorCtr="1"/>
            <a:lstStyle xmlns:a="http://schemas.openxmlformats.org/drawingml/2006/main"/>
            <a:p xmlns:a="http://schemas.openxmlformats.org/drawingml/2006/main">
              <a:pPr>
                <a:defRPr sz="1575">
                  <a:solidFill>
                    <a:srgbClr val="0F172A"/>
                  </a:solidFill>
                  <a:latin typeface="Helvetica Neue"/>
                  <a:ea typeface="Helvetica Neue"/>
                  <a:cs typeface="Helvetica Neue"/>
                </a:defRPr>
              </a:pPr>
            </a:p>
          </c:txPr>
          <c:dLblPos val="ctr"/>
          <c:showLegendKey val="0"/>
          <c:showVal val="0"/>
          <c:showCatName val="0"/>
          <c:showSerName val="0"/>
          <c:showPercent val="0"/>
          <c:showBubbleSize val="0"/>
          <c:showLeaderLines val="0"/>
        </c:dLbls>
        <c:gapWidth val="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72768"/>
      </c:catAx>
      <c:valAx>
        <c:axId val="48672768"/>
        <c:scaling>
          <c:orientation val="minMax"/>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Helvetica Neue"/>
                <a:ea typeface="Helvetica Neue"/>
                <a:cs typeface="Helvetica Neue"/>
              </a:defRPr>
            </a:pPr>
          </a:p>
        </c:txPr>
        <c:crossAx val="48650112"/>
        <c:crossBetween val="between"/>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charts/chart1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0F172A"/>
                </a:solidFill>
                <a:latin typeface="Helvetica Neue"/>
                <a:ea typeface="Helvetica Neue"/>
                <a:cs typeface="Helvetica Neue"/>
              </a:rPr>
              <a:t>Requests served out of 4</a:t>
            </a:r>
          </a:p>
        </c:rich>
      </c:tx>
      <c:overlay val="0"/>
      <c:txPr>
        <a:bodyPr xmlns:a="http://schemas.openxmlformats.org/drawingml/2006/main" anchorCtr="1"/>
        <a:lstStyle xmlns:a="http://schemas.openxmlformats.org/drawingml/2006/main"/>
        <a:p xmlns:a="http://schemas.openxmlformats.org/drawingml/2006/main">
          <a:pPr>
            <a:defRPr sz="1950" b="1">
              <a:solidFill>
                <a:srgbClr val="0F172A"/>
              </a:solidFill>
              <a:latin typeface="Helvetica Neue"/>
              <a:ea typeface="Helvetica Neue"/>
              <a:cs typeface="Helvetica Neue"/>
            </a:defRPr>
          </a:pPr>
        </a:p>
      </c:txPr>
    </c:title>
    <c:plotArea>
      <c:barChart>
        <c:barDir val="col"/>
        <c:grouping val="clustered"/>
        <c:varyColors val="0"/>
        <c:ser>
          <c:idx val="0"/>
          <c:order val="0"/>
          <c:tx>
            <c:v>Successful allocations</c:v>
          </c:tx>
          <c:spPr>
            <a:solidFill xmlns:a="http://schemas.openxmlformats.org/drawingml/2006/main">
              <a:srgbClr val="2563EB"/>
            </a:solidFill>
          </c:spPr>
          <c:invertIfNegative val="0"/>
          <c:dPt>
            <c:idx val="0"/>
            <c:invertIfNegative val="0"/>
            <c:spPr>
              <a:solidFill xmlns:a="http://schemas.openxmlformats.org/drawingml/2006/main">
                <a:srgbClr val="CBD5E1"/>
              </a:solidFill>
            </c:spPr>
          </c:dPt>
          <c:dPt>
            <c:idx val="1"/>
            <c:invertIfNegative val="0"/>
            <c:spPr>
              <a:solidFill xmlns:a="http://schemas.openxmlformats.org/drawingml/2006/main">
                <a:srgbClr val="2563EB"/>
              </a:solidFill>
            </c:spPr>
          </c:dPt>
          <c:dPt>
            <c:idx val="2"/>
            <c:invertIfNegative val="0"/>
            <c:spPr>
              <a:solidFill xmlns:a="http://schemas.openxmlformats.org/drawingml/2006/main">
                <a:srgbClr val="CBD5E1"/>
              </a:solidFill>
            </c:spPr>
          </c:dPt>
          <c:dPt>
            <c:idx val="3"/>
            <c:invertIfNegative val="0"/>
            <c:spPr>
              <a:solidFill xmlns:a="http://schemas.openxmlformats.org/drawingml/2006/main">
                <a:srgbClr val="CBD5E1"/>
              </a:solidFill>
            </c:spPr>
          </c:dPt>
          <c:dLbls>
            <c:dLbl>
              <c:idx val="0"/>
              <c:txPr>
                <a:bodyPr xmlns:a="http://schemas.openxmlformats.org/drawingml/2006/main" anchorCtr="1"/>
                <a:lstStyle xmlns:a="http://schemas.openxmlformats.org/drawingml/2006/main"/>
                <a:p xmlns:a="http://schemas.openxmlformats.org/drawingml/2006/main">
                  <a:pPr>
                    <a:defRPr sz="2025" b="1">
                      <a:solidFill>
                        <a:srgbClr val="0F172A"/>
                      </a:solidFill>
                      <a:latin typeface="Helvetica Neue"/>
                      <a:ea typeface="Helvetica Neue"/>
                      <a:cs typeface="Helvetica Neue"/>
                    </a:defRPr>
                  </a:pPr>
                </a:p>
              </c:txPr>
              <c:dLblPos val="inEnd"/>
              <c:showVal val="1"/>
            </c:dLbl>
            <c:dLbl>
              <c:idx val="1"/>
              <c:txPr>
                <a:bodyPr xmlns:a="http://schemas.openxmlformats.org/drawingml/2006/main" anchorCtr="1"/>
                <a:lstStyle xmlns:a="http://schemas.openxmlformats.org/drawingml/2006/main"/>
                <a:p xmlns:a="http://schemas.openxmlformats.org/drawingml/2006/main">
                  <a:pPr>
                    <a:defRPr sz="2025" b="1">
                      <a:solidFill>
                        <a:srgbClr val="FFFFFF"/>
                      </a:solidFill>
                      <a:latin typeface="Helvetica Neue"/>
                      <a:ea typeface="Helvetica Neue"/>
                      <a:cs typeface="Helvetica Neue"/>
                    </a:defRPr>
                  </a:pPr>
                </a:p>
              </c:txPr>
              <c:dLblPos val="inEnd"/>
              <c:showVal val="1"/>
            </c:dLbl>
            <c:dLbl>
              <c:idx val="2"/>
              <c:txPr>
                <a:bodyPr xmlns:a="http://schemas.openxmlformats.org/drawingml/2006/main" anchorCtr="1"/>
                <a:lstStyle xmlns:a="http://schemas.openxmlformats.org/drawingml/2006/main"/>
                <a:p xmlns:a="http://schemas.openxmlformats.org/drawingml/2006/main">
                  <a:pPr>
                    <a:defRPr sz="2025" b="1">
                      <a:solidFill>
                        <a:srgbClr val="0F172A"/>
                      </a:solidFill>
                      <a:latin typeface="Helvetica Neue"/>
                      <a:ea typeface="Helvetica Neue"/>
                      <a:cs typeface="Helvetica Neue"/>
                    </a:defRPr>
                  </a:pPr>
                </a:p>
              </c:txPr>
              <c:dLblPos val="inEnd"/>
              <c:showVal val="1"/>
            </c:dLbl>
            <c:dLbl>
              <c:idx val="3"/>
              <c:txPr>
                <a:bodyPr xmlns:a="http://schemas.openxmlformats.org/drawingml/2006/main" anchorCtr="1"/>
                <a:lstStyle xmlns:a="http://schemas.openxmlformats.org/drawingml/2006/main"/>
                <a:p xmlns:a="http://schemas.openxmlformats.org/drawingml/2006/main">
                  <a:pPr>
                    <a:defRPr sz="2025" b="1">
                      <a:solidFill>
                        <a:srgbClr val="0F172A"/>
                      </a:solidFill>
                      <a:latin typeface="Helvetica Neue"/>
                      <a:ea typeface="Helvetica Neue"/>
                      <a:cs typeface="Helvetica Neue"/>
                    </a:defRPr>
                  </a:pPr>
                </a:p>
              </c:txPr>
              <c:dLblPos val="inEnd"/>
              <c:showVal val="1"/>
            </c:dLbl>
            <c:txPr>
              <a:bodyPr xmlns:a="http://schemas.openxmlformats.org/drawingml/2006/main" anchorCtr="1"/>
              <a:lstStyle xmlns:a="http://schemas.openxmlformats.org/drawingml/2006/main"/>
              <a:p xmlns:a="http://schemas.openxmlformats.org/drawingml/2006/main">
                <a:pPr>
                  <a:defRPr sz="2025" b="1">
                    <a:solidFill>
                      <a:srgbClr val="0F172A"/>
                    </a:solidFill>
                    <a:latin typeface="Helvetica Neue"/>
                    <a:ea typeface="Helvetica Neue"/>
                    <a:cs typeface="Helvetica Neue"/>
                  </a:defRPr>
                </a:pPr>
              </a:p>
            </c:txPr>
            <c:dLblPos val="inEnd"/>
            <c:showLegendKey val="0"/>
            <c:showVal val="1"/>
            <c:showCatName val="0"/>
            <c:showSerName val="0"/>
            <c:showPercent val="0"/>
            <c:showBubbleSize val="0"/>
            <c:showLeaderLines val="0"/>
          </c:dLbls>
          <c:cat>
            <c:strRef>
              <c:f>'Chart Data'!$A$2:$A$5</c:f>
              <c:strCache>
                <c:ptCount val="4"/>
                <c:pt idx="0">
                  <c:v>First Fit</c:v>
                </c:pt>
                <c:pt idx="1">
                  <c:v>Best Fit</c:v>
                </c:pt>
                <c:pt idx="2">
                  <c:v>Worst Fit</c:v>
                </c:pt>
                <c:pt idx="3">
                  <c:v>Next Fit</c:v>
                </c:pt>
              </c:strCache>
            </c:strRef>
          </c:cat>
          <c:val>
            <c:numRef>
              <c:f>'Chart Data'!$B$2:$B$5</c:f>
              <c:numCache>
                <c:formatCode>0</c:formatCode>
                <c:ptCount val="4"/>
                <c:pt idx="0">
                  <c:v>3</c:v>
                </c:pt>
                <c:pt idx="1">
                  <c:v>4</c:v>
                </c:pt>
                <c:pt idx="2">
                  <c:v>3</c:v>
                </c:pt>
                <c:pt idx="3">
                  <c:v>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2E8F0"/>
            </a:solidFill>
          </a:ln>
        </c:spPr>
        <c:txPr>
          <a:bodyPr xmlns:a="http://schemas.openxmlformats.org/drawingml/2006/main" anchorCtr="1"/>
          <a:lstStyle xmlns:a="http://schemas.openxmlformats.org/drawingml/2006/main"/>
          <a:p xmlns:a="http://schemas.openxmlformats.org/drawingml/2006/main">
            <a:pPr>
              <a:defRPr sz="1575">
                <a:solidFill>
                  <a:srgbClr val="52647C"/>
                </a:solidFill>
                <a:latin typeface="Helvetica Neue"/>
                <a:ea typeface="Helvetica Neue"/>
                <a:cs typeface="Helvetica Neue"/>
              </a:defRPr>
            </a:pPr>
          </a:p>
        </c:txPr>
        <c:crossAx val="48672768"/>
      </c:catAx>
      <c:valAx>
        <c:axId val="48672768"/>
        <c:scaling>
          <c:orientation val="minMax"/>
          <c:max val="4"/>
          <c:min val="0"/>
        </c:scaling>
        <c:delete val="0"/>
        <c:axPos val="l"/>
        <c:majorGridlines>
          <c:spPr>
            <a:ln xmlns:a="http://schemas.openxmlformats.org/drawingml/2006/main" w="9525">
              <a:solidFill>
                <a:srgbClr val="E2E8F0"/>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575">
                <a:solidFill>
                  <a:srgbClr val="52647C"/>
                </a:solidFill>
                <a:latin typeface="Helvetica Neue"/>
                <a:ea typeface="Helvetica Neue"/>
                <a:cs typeface="Helvetica Neue"/>
              </a:defRPr>
            </a:pPr>
          </a:p>
        </c:txPr>
        <c:crossAx val="48650112"/>
        <c:crossBetween val="between"/>
        <c:majorUnit val="1"/>
      </c:valAx>
      <c:spPr>
        <a:noFill xmlns:a="http://schemas.openxmlformats.org/drawingml/2006/mai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A330A049-FF36-41D2-9711-EE7C9E72CD3F}"/>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8CA1C5"/>
                </a:solidFill>
                <a:latin typeface="Helvetica Neue"/>
                <a:ea typeface="Helvetica Neue"/>
                <a:cs typeface="Helvetica Neue"/>
              </a:defRPr>
            </a:defPPr>
          </a:lstStyle>
          <a:p xmlns:a="http://schemas.openxmlformats.org/drawingml/2006/main">
            <a:pPr algn="r">
              <a:defRPr sz="1275" b="0">
                <a:solidFill>
                  <a:srgbClr val="8CA1C5"/>
                </a:solidFill>
                <a:latin typeface="Helvetica Neue"/>
                <a:ea typeface="Helvetica Neue"/>
                <a:cs typeface="Helvetica Neue"/>
              </a:defRPr>
            </a:pPr>
            <a:r>
              <a:rPr sz="1275" b="0">
                <a:solidFill>
                  <a:srgbClr val="8CA1C5"/>
                </a:solidFill>
                <a:latin typeface="Helvetica Neue"/>
                <a:ea typeface="Helvetica Neue"/>
                <a:cs typeface="Helvetica Neue"/>
              </a:rPr>
              <a:t>01</a:t>
            </a:r>
          </a:p>
        </p:txBody>
      </p:sp>
      <p:pic>
        <p:nvPicPr>
          <p:cNvPr id="2" name="">
            <a:extLst xmlns:a="http://schemas.openxmlformats.org/drawingml/2006/main">
              <a:ext uri="{FF2B5EF4-FFF2-40B4-BE49-F238E27FC236}">
                <a16:creationId xmlns:a16="http://schemas.microsoft.com/office/drawing/2014/main" id="{FCC85C06-586F-4A41-BA77-5645EEC7FEF4}"/>
              </a:ext>
            </a:extLst>
          </p:cNvPr>
          <p:cNvPicPr>
            <a:picLocks xmlns:a="http://schemas.openxmlformats.org/drawingml/2006/main" noChangeAspect="1"/>
          </p:cNvPicPr>
          <p:nvPr/>
        </p:nvPicPr>
        <p:blipFill>
          <a:blip xmlns:r="http://schemas.openxmlformats.org/officeDocument/2006/relationships" xmlns:a="http://schemas.openxmlformats.org/drawingml/2006/main" r:embed="Rb3514b784f2d4e6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text-2">
            <a:extLst xmlns:a="http://schemas.openxmlformats.org/drawingml/2006/main">
              <a:ext uri="{FF2B5EF4-FFF2-40B4-BE49-F238E27FC236}">
                <a16:creationId xmlns:a16="http://schemas.microsoft.com/office/drawing/2014/main" id="{7D9172F5-E2C0-4BE5-8E6F-3508A6CD8A39}"/>
              </a:ext>
            </a:extLst>
          </p:cNvPr>
          <p:cNvSpPr>
            <a:spLocks xmlns:a="http://schemas.openxmlformats.org/drawingml/2006/main" noGrp="1"/>
          </p:cNvSpPr>
          <p:nvPr/>
        </p:nvSpPr>
        <p:spPr>
          <a:xfrm xmlns:a="http://schemas.openxmlformats.org/drawingml/2006/main">
            <a:off x="609600" y="1609725"/>
            <a:ext cx="523875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200" b="1">
                <a:solidFill>
                  <a:srgbClr val="FFFFFF"/>
                </a:solidFill>
                <a:latin typeface="Helvetica Neue"/>
                <a:ea typeface="Helvetica Neue"/>
                <a:cs typeface="Helvetica Neue"/>
              </a:defRPr>
            </a:defPPr>
          </a:lstStyle>
          <a:p xmlns:a="http://schemas.openxmlformats.org/drawingml/2006/main">
            <a:pPr algn="l">
              <a:defRPr sz="4200" b="1">
                <a:solidFill>
                  <a:srgbClr val="FFFFFF"/>
                </a:solidFill>
                <a:latin typeface="Helvetica Neue"/>
                <a:ea typeface="Helvetica Neue"/>
                <a:cs typeface="Helvetica Neue"/>
              </a:defRPr>
            </a:pPr>
            <a:r>
              <a:rPr sz="4200" b="1">
                <a:solidFill>
                  <a:srgbClr val="FFFFFF"/>
                </a:solidFill>
                <a:latin typeface="Helvetica Neue"/>
                <a:ea typeface="Helvetica Neue"/>
                <a:cs typeface="Helvetica Neue"/>
              </a:rPr>
              <a:t>Interactive</a:t>
            </a:r>
          </a:p>
          <a:p xmlns:a="http://schemas.openxmlformats.org/drawingml/2006/main">
            <a:pPr algn="l">
              <a:defRPr sz="4200" b="1">
                <a:solidFill>
                  <a:srgbClr val="FFFFFF"/>
                </a:solidFill>
                <a:latin typeface="Helvetica Neue"/>
                <a:ea typeface="Helvetica Neue"/>
                <a:cs typeface="Helvetica Neue"/>
              </a:defRPr>
            </a:pPr>
            <a:r>
              <a:rPr sz="4200" b="1">
                <a:solidFill>
                  <a:srgbClr val="FFFFFF"/>
                </a:solidFill>
                <a:latin typeface="Helvetica Neue"/>
                <a:ea typeface="Helvetica Neue"/>
                <a:cs typeface="Helvetica Neue"/>
              </a:rPr>
              <a:t>Memory Allocation</a:t>
            </a:r>
          </a:p>
          <a:p xmlns:a="http://schemas.openxmlformats.org/drawingml/2006/main">
            <a:pPr algn="l">
              <a:defRPr sz="4200" b="1">
                <a:solidFill>
                  <a:srgbClr val="FFFFFF"/>
                </a:solidFill>
                <a:latin typeface="Helvetica Neue"/>
                <a:ea typeface="Helvetica Neue"/>
                <a:cs typeface="Helvetica Neue"/>
              </a:defRPr>
            </a:pPr>
            <a:r>
              <a:rPr sz="4200" b="1">
                <a:solidFill>
                  <a:srgbClr val="FFFFFF"/>
                </a:solidFill>
                <a:latin typeface="Helvetica Neue"/>
                <a:ea typeface="Helvetica Neue"/>
                <a:cs typeface="Helvetica Neue"/>
              </a:rPr>
              <a:t>Simulator</a:t>
            </a:r>
          </a:p>
        </p:txBody>
      </p:sp>
      <p:sp>
        <p:nvSpPr>
          <p:cNvPr id="4" name="text-3">
            <a:extLst xmlns:a="http://schemas.openxmlformats.org/drawingml/2006/main">
              <a:ext uri="{FF2B5EF4-FFF2-40B4-BE49-F238E27FC236}">
                <a16:creationId xmlns:a16="http://schemas.microsoft.com/office/drawing/2014/main" id="{991E2136-73A5-439D-A95D-9CD41CDDA194}"/>
              </a:ext>
            </a:extLst>
          </p:cNvPr>
          <p:cNvSpPr>
            <a:spLocks xmlns:a="http://schemas.openxmlformats.org/drawingml/2006/main" noGrp="1"/>
          </p:cNvSpPr>
          <p:nvPr/>
        </p:nvSpPr>
        <p:spPr>
          <a:xfrm xmlns:a="http://schemas.openxmlformats.org/drawingml/2006/main">
            <a:off x="628650" y="43243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B8C6DF"/>
                </a:solidFill>
                <a:latin typeface="Helvetica Neue"/>
                <a:ea typeface="Helvetica Neue"/>
                <a:cs typeface="Helvetica Neue"/>
              </a:defRPr>
            </a:defPPr>
          </a:lstStyle>
          <a:p xmlns:a="http://schemas.openxmlformats.org/drawingml/2006/main">
            <a:pPr algn="l">
              <a:defRPr sz="2100" b="0">
                <a:solidFill>
                  <a:srgbClr val="B8C6DF"/>
                </a:solidFill>
                <a:latin typeface="Helvetica Neue"/>
                <a:ea typeface="Helvetica Neue"/>
                <a:cs typeface="Helvetica Neue"/>
              </a:defRPr>
            </a:pPr>
            <a:r>
              <a:rPr sz="2100" b="0">
                <a:solidFill>
                  <a:srgbClr val="B8C6DF"/>
                </a:solidFill>
                <a:latin typeface="Helvetica Neue"/>
                <a:ea typeface="Helvetica Neue"/>
                <a:cs typeface="Helvetica Neue"/>
              </a:rPr>
              <a:t>Operating Systems Project</a:t>
            </a:r>
          </a:p>
        </p:txBody>
      </p:sp>
      <p:sp>
        <p:nvSpPr>
          <p:cNvPr id="5" name="text-4">
            <a:extLst xmlns:a="http://schemas.openxmlformats.org/drawingml/2006/main">
              <a:ext uri="{FF2B5EF4-FFF2-40B4-BE49-F238E27FC236}">
                <a16:creationId xmlns:a16="http://schemas.microsoft.com/office/drawing/2014/main" id="{CC567FDF-3DB9-4AEA-8AA7-37C4980A7BDE}"/>
              </a:ext>
            </a:extLst>
          </p:cNvPr>
          <p:cNvSpPr>
            <a:spLocks xmlns:a="http://schemas.openxmlformats.org/drawingml/2006/main" noGrp="1"/>
          </p:cNvSpPr>
          <p:nvPr/>
        </p:nvSpPr>
        <p:spPr>
          <a:xfrm xmlns:a="http://schemas.openxmlformats.org/drawingml/2006/main">
            <a:off x="628650" y="5238750"/>
            <a:ext cx="43815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E2E8F0"/>
                </a:solidFill>
                <a:latin typeface="Helvetica Neue"/>
                <a:ea typeface="Helvetica Neue"/>
                <a:cs typeface="Helvetica Neue"/>
              </a:defRPr>
            </a:defPPr>
          </a:lstStyle>
          <a:p xmlns:a="http://schemas.openxmlformats.org/drawingml/2006/main">
            <a:pPr algn="l">
              <a:defRPr sz="1800" b="0">
                <a:solidFill>
                  <a:srgbClr val="E2E8F0"/>
                </a:solidFill>
                <a:latin typeface="Helvetica Neue"/>
                <a:ea typeface="Helvetica Neue"/>
                <a:cs typeface="Helvetica Neue"/>
              </a:defRPr>
            </a:pPr>
            <a:r>
              <a:rPr sz="1800" b="0">
                <a:solidFill>
                  <a:srgbClr val="E2E8F0"/>
                </a:solidFill>
                <a:latin typeface="Helvetica Neue"/>
                <a:ea typeface="Helvetica Neue"/>
                <a:cs typeface="Helvetica Neue"/>
              </a:rPr>
              <a:t>Umang Vekariya</a:t>
            </a:r>
          </a:p>
          <a:p xmlns:a="http://schemas.openxmlformats.org/drawingml/2006/main">
            <a:pPr algn="l">
              <a:defRPr sz="1800" b="0">
                <a:solidFill>
                  <a:srgbClr val="E2E8F0"/>
                </a:solidFill>
                <a:latin typeface="Helvetica Neue"/>
                <a:ea typeface="Helvetica Neue"/>
                <a:cs typeface="Helvetica Neue"/>
              </a:defRPr>
            </a:pPr>
            <a:r>
              <a:rPr sz="1800" b="0">
                <a:solidFill>
                  <a:srgbClr val="E2E8F0"/>
                </a:solidFill>
                <a:latin typeface="Helvetica Neue"/>
                <a:ea typeface="Helvetica Neue"/>
                <a:cs typeface="Helvetica Neue"/>
              </a:rPr>
              <a:t>Sarthak Dhawale</a:t>
            </a:r>
          </a:p>
          <a:p xmlns:a="http://schemas.openxmlformats.org/drawingml/2006/main">
            <a:pPr algn="l">
              <a:defRPr sz="1800" b="0">
                <a:solidFill>
                  <a:srgbClr val="E2E8F0"/>
                </a:solidFill>
                <a:latin typeface="Helvetica Neue"/>
                <a:ea typeface="Helvetica Neue"/>
                <a:cs typeface="Helvetica Neue"/>
              </a:defRPr>
            </a:pPr>
            <a:r>
              <a:rPr sz="1800" b="0">
                <a:solidFill>
                  <a:srgbClr val="E2E8F0"/>
                </a:solidFill>
                <a:latin typeface="Helvetica Neue"/>
                <a:ea typeface="Helvetica Neue"/>
                <a:cs typeface="Helvetica Neue"/>
              </a:rPr>
              <a:t>Aditya Khunt</a:t>
            </a:r>
          </a:p>
        </p:txBody>
      </p:sp>
    </p:spTree>
    <p:extLst>
      <p:ext uri="{BB962C8B-B14F-4D97-AF65-F5344CB8AC3E}">
        <p14:creationId xmlns:p14="http://schemas.microsoft.com/office/powerpoint/2010/main" val="132563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ext-5">
            <a:extLst xmlns:a="http://schemas.openxmlformats.org/drawingml/2006/main">
              <a:ext uri="{FF2B5EF4-FFF2-40B4-BE49-F238E27FC236}">
                <a16:creationId xmlns:a16="http://schemas.microsoft.com/office/drawing/2014/main" id="{83ABC166-7276-45F3-ABEB-7469D5E78562}"/>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Memory allocation problem</a:t>
            </a:r>
          </a:p>
        </p:txBody>
      </p:sp>
      <p:sp>
        <p:nvSpPr>
          <p:cNvPr id="2" name="text-6">
            <a:extLst xmlns:a="http://schemas.openxmlformats.org/drawingml/2006/main">
              <a:ext uri="{FF2B5EF4-FFF2-40B4-BE49-F238E27FC236}">
                <a16:creationId xmlns:a16="http://schemas.microsoft.com/office/drawing/2014/main" id="{3480639E-C093-4CA3-9036-F5BB8D2AC034}"/>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A contiguous allocator must find one suitable region for every process request</a:t>
            </a:r>
          </a:p>
        </p:txBody>
      </p:sp>
      <p:sp>
        <p:nvSpPr>
          <p:cNvPr id="3" name="text-7">
            <a:extLst xmlns:a="http://schemas.openxmlformats.org/drawingml/2006/main">
              <a:ext uri="{FF2B5EF4-FFF2-40B4-BE49-F238E27FC236}">
                <a16:creationId xmlns:a16="http://schemas.microsoft.com/office/drawing/2014/main" id="{641FCAFE-87E1-4A07-BC2A-1380CF603A86}"/>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02</a:t>
            </a:r>
          </a:p>
        </p:txBody>
      </p:sp>
      <p:sp>
        <p:nvSpPr>
          <p:cNvPr id="4" name="text-8">
            <a:extLst xmlns:a="http://schemas.openxmlformats.org/drawingml/2006/main">
              <a:ext uri="{FF2B5EF4-FFF2-40B4-BE49-F238E27FC236}">
                <a16:creationId xmlns:a16="http://schemas.microsoft.com/office/drawing/2014/main" id="{1FDF2377-168D-4BCB-B1B3-796FB2B71829}"/>
              </a:ext>
            </a:extLst>
          </p:cNvPr>
          <p:cNvSpPr>
            <a:spLocks xmlns:a="http://schemas.openxmlformats.org/drawingml/2006/main" noGrp="1"/>
          </p:cNvSpPr>
          <p:nvPr/>
        </p:nvSpPr>
        <p:spPr>
          <a:xfrm xmlns:a="http://schemas.openxmlformats.org/drawingml/2006/main">
            <a:off x="609600" y="200977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F172A"/>
                </a:solidFill>
                <a:latin typeface="Helvetica Neue"/>
                <a:ea typeface="Helvetica Neue"/>
                <a:cs typeface="Helvetica Neue"/>
              </a:defRPr>
            </a:defPPr>
          </a:lstStyle>
          <a:p xmlns:a="http://schemas.openxmlformats.org/drawingml/2006/main">
            <a:pPr algn="l">
              <a:defRPr sz="2100" b="1">
                <a:solidFill>
                  <a:srgbClr val="0F172A"/>
                </a:solidFill>
                <a:latin typeface="Helvetica Neue"/>
                <a:ea typeface="Helvetica Neue"/>
                <a:cs typeface="Helvetica Neue"/>
              </a:defRPr>
            </a:pPr>
            <a:r>
              <a:rPr sz="2100" b="1">
                <a:solidFill>
                  <a:srgbClr val="0F172A"/>
                </a:solidFill>
                <a:latin typeface="Helvetica Neue"/>
                <a:ea typeface="Helvetica Neue"/>
                <a:cs typeface="Helvetica Neue"/>
              </a:rPr>
              <a:t>Before a 200 MB request</a:t>
            </a:r>
          </a:p>
        </p:txBody>
      </p:sp>
      <p:graphicFrame>
        <p:nvGraphicFramePr>
          <p:cNvPr id="5" name="Chart">
            <a:extLst xmlns:a="http://schemas.openxmlformats.org/drawingml/2006/main">
              <a:ext uri="{FF2B5EF4-FFF2-40B4-BE49-F238E27FC236}">
                <a16:creationId xmlns:a16="http://schemas.microsoft.com/office/drawing/2014/main" id="{FA46337C-D6E9-4086-9E52-FF185A5AF929}"/>
              </a:ext>
            </a:extLst>
          </p:cNvPr>
          <p:cNvGraphicFramePr/>
          <p:nvPr/>
        </p:nvGraphicFramePr>
        <p:xfrm>
          <a:off xmlns:a="http://schemas.openxmlformats.org/drawingml/2006/main" x="609600" y="2381250"/>
          <a:ext xmlns:a="http://schemas.openxmlformats.org/drawingml/2006/main" cx="10953750" cy="1057275"/>
        </p:xfrm>
        <a:graphic xmlns:a="http://schemas.openxmlformats.org/drawingml/2006/main">
          <a:graphicData uri="http://schemas.openxmlformats.org/drawingml/2006/chart">
            <c:chart xmlns:r="http://schemas.openxmlformats.org/officeDocument/2006/relationships" xmlns:c="http://schemas.openxmlformats.org/drawingml/2006/chart" r:id="R9c668f02941b4a5e"/>
          </a:graphicData>
        </a:graphic>
      </p:graphicFrame>
      <p:sp>
        <p:nvSpPr>
          <p:cNvPr id="6" name="text-9">
            <a:extLst xmlns:a="http://schemas.openxmlformats.org/drawingml/2006/main">
              <a:ext uri="{FF2B5EF4-FFF2-40B4-BE49-F238E27FC236}">
                <a16:creationId xmlns:a16="http://schemas.microsoft.com/office/drawing/2014/main" id="{C4C5EE83-22FA-4FF5-87D9-930F67BD3372}"/>
              </a:ext>
            </a:extLst>
          </p:cNvPr>
          <p:cNvSpPr>
            <a:spLocks xmlns:a="http://schemas.openxmlformats.org/drawingml/2006/main" noGrp="1"/>
          </p:cNvSpPr>
          <p:nvPr/>
        </p:nvSpPr>
        <p:spPr>
          <a:xfrm xmlns:a="http://schemas.openxmlformats.org/drawingml/2006/main">
            <a:off x="609600" y="392430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F172A"/>
                </a:solidFill>
                <a:latin typeface="Helvetica Neue"/>
                <a:ea typeface="Helvetica Neue"/>
                <a:cs typeface="Helvetica Neue"/>
              </a:defRPr>
            </a:defPPr>
          </a:lstStyle>
          <a:p xmlns:a="http://schemas.openxmlformats.org/drawingml/2006/main">
            <a:pPr algn="l">
              <a:defRPr sz="2100" b="1">
                <a:solidFill>
                  <a:srgbClr val="0F172A"/>
                </a:solidFill>
                <a:latin typeface="Helvetica Neue"/>
                <a:ea typeface="Helvetica Neue"/>
                <a:cs typeface="Helvetica Neue"/>
              </a:defRPr>
            </a:pPr>
            <a:r>
              <a:rPr sz="2100" b="1">
                <a:solidFill>
                  <a:srgbClr val="0F172A"/>
                </a:solidFill>
                <a:latin typeface="Helvetica Neue"/>
                <a:ea typeface="Helvetica Neue"/>
                <a:cs typeface="Helvetica Neue"/>
              </a:rPr>
              <a:t>After allocation</a:t>
            </a:r>
          </a:p>
        </p:txBody>
      </p:sp>
      <p:graphicFrame>
        <p:nvGraphicFramePr>
          <p:cNvPr id="7" name="Chart">
            <a:extLst xmlns:a="http://schemas.openxmlformats.org/drawingml/2006/main">
              <a:ext uri="{FF2B5EF4-FFF2-40B4-BE49-F238E27FC236}">
                <a16:creationId xmlns:a16="http://schemas.microsoft.com/office/drawing/2014/main" id="{69B08AB8-866B-4B88-8E2F-5D134090817B}"/>
              </a:ext>
            </a:extLst>
          </p:cNvPr>
          <p:cNvGraphicFramePr/>
          <p:nvPr/>
        </p:nvGraphicFramePr>
        <p:xfrm>
          <a:off xmlns:a="http://schemas.openxmlformats.org/drawingml/2006/main" x="609600" y="4295775"/>
          <a:ext xmlns:a="http://schemas.openxmlformats.org/drawingml/2006/main" cx="10953750" cy="1057275"/>
        </p:xfrm>
        <a:graphic xmlns:a="http://schemas.openxmlformats.org/drawingml/2006/main">
          <a:graphicData uri="http://schemas.openxmlformats.org/drawingml/2006/chart">
            <c:chart xmlns:r="http://schemas.openxmlformats.org/officeDocument/2006/relationships" xmlns:c="http://schemas.openxmlformats.org/drawingml/2006/chart" r:id="R38abf23845e94177"/>
          </a:graphicData>
        </a:graphic>
      </p:graphicFrame>
      <p:sp>
        <p:nvSpPr>
          <p:cNvPr id="8" name="text-10">
            <a:extLst xmlns:a="http://schemas.openxmlformats.org/drawingml/2006/main">
              <a:ext uri="{FF2B5EF4-FFF2-40B4-BE49-F238E27FC236}">
                <a16:creationId xmlns:a16="http://schemas.microsoft.com/office/drawing/2014/main" id="{28124021-3D59-4CCC-8B8A-3612BFE1F555}"/>
              </a:ext>
            </a:extLst>
          </p:cNvPr>
          <p:cNvSpPr>
            <a:spLocks xmlns:a="http://schemas.openxmlformats.org/drawingml/2006/main" noGrp="1"/>
          </p:cNvSpPr>
          <p:nvPr/>
        </p:nvSpPr>
        <p:spPr>
          <a:xfrm xmlns:a="http://schemas.openxmlformats.org/drawingml/2006/main">
            <a:off x="609600" y="57912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allocator selects a region and keeps track of the remaining free space.</a:t>
            </a:r>
          </a:p>
        </p:txBody>
      </p:sp>
    </p:spTree>
    <p:extLst>
      <p:ext uri="{BB962C8B-B14F-4D97-AF65-F5344CB8AC3E}">
        <p14:creationId xmlns:p14="http://schemas.microsoft.com/office/powerpoint/2010/main" val="1987287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11">
            <a:extLst xmlns:a="http://schemas.openxmlformats.org/drawingml/2006/main">
              <a:ext uri="{FF2B5EF4-FFF2-40B4-BE49-F238E27FC236}">
                <a16:creationId xmlns:a16="http://schemas.microsoft.com/office/drawing/2014/main" id="{EA433DEA-4602-4119-ABAF-AB7487284DB7}"/>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Project aim and scope</a:t>
            </a:r>
          </a:p>
        </p:txBody>
      </p:sp>
      <p:sp>
        <p:nvSpPr>
          <p:cNvPr id="2" name="text-12">
            <a:extLst xmlns:a="http://schemas.openxmlformats.org/drawingml/2006/main">
              <a:ext uri="{FF2B5EF4-FFF2-40B4-BE49-F238E27FC236}">
                <a16:creationId xmlns:a16="http://schemas.microsoft.com/office/drawing/2014/main" id="{CC320203-849E-48F2-8066-579FF237545B}"/>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Connect allocation rules to visible changes in memory</a:t>
            </a:r>
          </a:p>
        </p:txBody>
      </p:sp>
      <p:sp>
        <p:nvSpPr>
          <p:cNvPr id="3" name="text-13">
            <a:extLst xmlns:a="http://schemas.openxmlformats.org/drawingml/2006/main">
              <a:ext uri="{FF2B5EF4-FFF2-40B4-BE49-F238E27FC236}">
                <a16:creationId xmlns:a16="http://schemas.microsoft.com/office/drawing/2014/main" id="{9EA55F3D-30CF-468F-97F1-F460E358DBE4}"/>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03</a:t>
            </a:r>
          </a:p>
        </p:txBody>
      </p:sp>
      <p:sp>
        <p:nvSpPr>
          <p:cNvPr id="4" name="text-14">
            <a:extLst xmlns:a="http://schemas.openxmlformats.org/drawingml/2006/main">
              <a:ext uri="{FF2B5EF4-FFF2-40B4-BE49-F238E27FC236}">
                <a16:creationId xmlns:a16="http://schemas.microsoft.com/office/drawing/2014/main" id="{A170C258-75DB-4C42-82B1-6B7B640D6BB9}"/>
              </a:ext>
            </a:extLst>
          </p:cNvPr>
          <p:cNvSpPr>
            <a:spLocks xmlns:a="http://schemas.openxmlformats.org/drawingml/2006/main" noGrp="1"/>
          </p:cNvSpPr>
          <p:nvPr/>
        </p:nvSpPr>
        <p:spPr>
          <a:xfrm xmlns:a="http://schemas.openxmlformats.org/drawingml/2006/main">
            <a:off x="609600" y="20383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Placement</a:t>
            </a:r>
          </a:p>
        </p:txBody>
      </p:sp>
      <p:sp>
        <p:nvSpPr>
          <p:cNvPr id="5" name="text-15">
            <a:extLst xmlns:a="http://schemas.openxmlformats.org/drawingml/2006/main">
              <a:ext uri="{FF2B5EF4-FFF2-40B4-BE49-F238E27FC236}">
                <a16:creationId xmlns:a16="http://schemas.microsoft.com/office/drawing/2014/main" id="{229C1584-9A97-4877-9C18-907840308336}"/>
              </a:ext>
            </a:extLst>
          </p:cNvPr>
          <p:cNvSpPr>
            <a:spLocks xmlns:a="http://schemas.openxmlformats.org/drawingml/2006/main" noGrp="1"/>
          </p:cNvSpPr>
          <p:nvPr/>
        </p:nvSpPr>
        <p:spPr>
          <a:xfrm xmlns:a="http://schemas.openxmlformats.org/drawingml/2006/main">
            <a:off x="3714750" y="2038350"/>
            <a:ext cx="776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F172A"/>
                </a:solidFill>
                <a:latin typeface="Helvetica Neue"/>
                <a:ea typeface="Helvetica Neue"/>
                <a:cs typeface="Helvetica Neue"/>
              </a:defRPr>
            </a:defPPr>
          </a:lstStyle>
          <a:p xmlns:a="http://schemas.openxmlformats.org/drawingml/2006/main">
            <a:pPr algn="l">
              <a:defRPr sz="2175" b="0">
                <a:solidFill>
                  <a:srgbClr val="0F172A"/>
                </a:solidFill>
                <a:latin typeface="Helvetica Neue"/>
                <a:ea typeface="Helvetica Neue"/>
                <a:cs typeface="Helvetica Neue"/>
              </a:defRPr>
            </a:pPr>
            <a:r>
              <a:rPr sz="2175" b="0">
                <a:solidFill>
                  <a:srgbClr val="0F172A"/>
                </a:solidFill>
                <a:latin typeface="Helvetica Neue"/>
                <a:ea typeface="Helvetica Neue"/>
                <a:cs typeface="Helvetica Neue"/>
              </a:rPr>
              <a:t>Show which region each strategy selects for a request.</a:t>
            </a:r>
          </a:p>
        </p:txBody>
      </p:sp>
      <p:sp>
        <p:nvSpPr>
          <p:cNvPr id="6" name="text-16">
            <a:extLst xmlns:a="http://schemas.openxmlformats.org/drawingml/2006/main">
              <a:ext uri="{FF2B5EF4-FFF2-40B4-BE49-F238E27FC236}">
                <a16:creationId xmlns:a16="http://schemas.microsoft.com/office/drawing/2014/main" id="{72A3CB8D-12E7-477C-9FCA-F72508528A57}"/>
              </a:ext>
            </a:extLst>
          </p:cNvPr>
          <p:cNvSpPr>
            <a:spLocks xmlns:a="http://schemas.openxmlformats.org/drawingml/2006/main" noGrp="1"/>
          </p:cNvSpPr>
          <p:nvPr/>
        </p:nvSpPr>
        <p:spPr>
          <a:xfrm xmlns:a="http://schemas.openxmlformats.org/drawingml/2006/main">
            <a:off x="609600" y="3000375"/>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Fragmentation</a:t>
            </a:r>
          </a:p>
        </p:txBody>
      </p:sp>
      <p:sp>
        <p:nvSpPr>
          <p:cNvPr id="7" name="text-17">
            <a:extLst xmlns:a="http://schemas.openxmlformats.org/drawingml/2006/main">
              <a:ext uri="{FF2B5EF4-FFF2-40B4-BE49-F238E27FC236}">
                <a16:creationId xmlns:a16="http://schemas.microsoft.com/office/drawing/2014/main" id="{E0FEABDB-BC35-43B0-922C-D617D7802FF3}"/>
              </a:ext>
            </a:extLst>
          </p:cNvPr>
          <p:cNvSpPr>
            <a:spLocks xmlns:a="http://schemas.openxmlformats.org/drawingml/2006/main" noGrp="1"/>
          </p:cNvSpPr>
          <p:nvPr/>
        </p:nvSpPr>
        <p:spPr>
          <a:xfrm xmlns:a="http://schemas.openxmlformats.org/drawingml/2006/main">
            <a:off x="3714750" y="3000375"/>
            <a:ext cx="776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F172A"/>
                </a:solidFill>
                <a:latin typeface="Helvetica Neue"/>
                <a:ea typeface="Helvetica Neue"/>
                <a:cs typeface="Helvetica Neue"/>
              </a:defRPr>
            </a:defPPr>
          </a:lstStyle>
          <a:p xmlns:a="http://schemas.openxmlformats.org/drawingml/2006/main">
            <a:pPr algn="l">
              <a:defRPr sz="2175" b="0">
                <a:solidFill>
                  <a:srgbClr val="0F172A"/>
                </a:solidFill>
                <a:latin typeface="Helvetica Neue"/>
                <a:ea typeface="Helvetica Neue"/>
                <a:cs typeface="Helvetica Neue"/>
              </a:defRPr>
            </a:pPr>
            <a:r>
              <a:rPr sz="2175" b="0">
                <a:solidFill>
                  <a:srgbClr val="0F172A"/>
                </a:solidFill>
                <a:latin typeface="Helvetica Neue"/>
                <a:ea typeface="Helvetica Neue"/>
                <a:cs typeface="Helvetica Neue"/>
              </a:rPr>
              <a:t>Distinguish unused reserved space from scattered free holes.</a:t>
            </a:r>
          </a:p>
        </p:txBody>
      </p:sp>
      <p:sp>
        <p:nvSpPr>
          <p:cNvPr id="8" name="text-18">
            <a:extLst xmlns:a="http://schemas.openxmlformats.org/drawingml/2006/main">
              <a:ext uri="{FF2B5EF4-FFF2-40B4-BE49-F238E27FC236}">
                <a16:creationId xmlns:a16="http://schemas.microsoft.com/office/drawing/2014/main" id="{47F6F9BF-FE74-4781-B1AB-DC04D6C931DC}"/>
              </a:ext>
            </a:extLst>
          </p:cNvPr>
          <p:cNvSpPr>
            <a:spLocks xmlns:a="http://schemas.openxmlformats.org/drawingml/2006/main" noGrp="1"/>
          </p:cNvSpPr>
          <p:nvPr/>
        </p:nvSpPr>
        <p:spPr>
          <a:xfrm xmlns:a="http://schemas.openxmlformats.org/drawingml/2006/main">
            <a:off x="609600" y="39624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Recovery</a:t>
            </a:r>
          </a:p>
        </p:txBody>
      </p:sp>
      <p:sp>
        <p:nvSpPr>
          <p:cNvPr id="9" name="text-19">
            <a:extLst xmlns:a="http://schemas.openxmlformats.org/drawingml/2006/main">
              <a:ext uri="{FF2B5EF4-FFF2-40B4-BE49-F238E27FC236}">
                <a16:creationId xmlns:a16="http://schemas.microsoft.com/office/drawing/2014/main" id="{1975FEDC-DB7D-4C87-B0FD-73520D5C6F91}"/>
              </a:ext>
            </a:extLst>
          </p:cNvPr>
          <p:cNvSpPr>
            <a:spLocks xmlns:a="http://schemas.openxmlformats.org/drawingml/2006/main" noGrp="1"/>
          </p:cNvSpPr>
          <p:nvPr/>
        </p:nvSpPr>
        <p:spPr>
          <a:xfrm xmlns:a="http://schemas.openxmlformats.org/drawingml/2006/main">
            <a:off x="3714750" y="3962400"/>
            <a:ext cx="776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F172A"/>
                </a:solidFill>
                <a:latin typeface="Helvetica Neue"/>
                <a:ea typeface="Helvetica Neue"/>
                <a:cs typeface="Helvetica Neue"/>
              </a:defRPr>
            </a:defPPr>
          </a:lstStyle>
          <a:p xmlns:a="http://schemas.openxmlformats.org/drawingml/2006/main">
            <a:pPr algn="l">
              <a:defRPr sz="2175" b="0">
                <a:solidFill>
                  <a:srgbClr val="0F172A"/>
                </a:solidFill>
                <a:latin typeface="Helvetica Neue"/>
                <a:ea typeface="Helvetica Neue"/>
                <a:cs typeface="Helvetica Neue"/>
              </a:defRPr>
            </a:pPr>
            <a:r>
              <a:rPr sz="2175" b="0">
                <a:solidFill>
                  <a:srgbClr val="0F172A"/>
                </a:solidFill>
                <a:latin typeface="Helvetica Neue"/>
                <a:ea typeface="Helvetica Neue"/>
                <a:cs typeface="Helvetica Neue"/>
              </a:rPr>
              <a:t>Release memory, compact variable regions and retry a failed request.</a:t>
            </a:r>
          </a:p>
        </p:txBody>
      </p:sp>
      <p:sp>
        <p:nvSpPr>
          <p:cNvPr id="10" name="text-20">
            <a:extLst xmlns:a="http://schemas.openxmlformats.org/drawingml/2006/main">
              <a:ext uri="{FF2B5EF4-FFF2-40B4-BE49-F238E27FC236}">
                <a16:creationId xmlns:a16="http://schemas.microsoft.com/office/drawing/2014/main" id="{C1C56636-AAE5-4E3A-B8D0-08ABAF656ACB}"/>
              </a:ext>
            </a:extLst>
          </p:cNvPr>
          <p:cNvSpPr>
            <a:spLocks xmlns:a="http://schemas.openxmlformats.org/drawingml/2006/main" noGrp="1"/>
          </p:cNvSpPr>
          <p:nvPr/>
        </p:nvSpPr>
        <p:spPr>
          <a:xfrm xmlns:a="http://schemas.openxmlformats.org/drawingml/2006/main">
            <a:off x="609600" y="4924425"/>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Comparison</a:t>
            </a:r>
          </a:p>
        </p:txBody>
      </p:sp>
      <p:sp>
        <p:nvSpPr>
          <p:cNvPr id="11" name="text-21">
            <a:extLst xmlns:a="http://schemas.openxmlformats.org/drawingml/2006/main">
              <a:ext uri="{FF2B5EF4-FFF2-40B4-BE49-F238E27FC236}">
                <a16:creationId xmlns:a16="http://schemas.microsoft.com/office/drawing/2014/main" id="{9B31862A-5949-4768-A9C3-330061C75B4D}"/>
              </a:ext>
            </a:extLst>
          </p:cNvPr>
          <p:cNvSpPr>
            <a:spLocks xmlns:a="http://schemas.openxmlformats.org/drawingml/2006/main" noGrp="1"/>
          </p:cNvSpPr>
          <p:nvPr/>
        </p:nvSpPr>
        <p:spPr>
          <a:xfrm xmlns:a="http://schemas.openxmlformats.org/drawingml/2006/main">
            <a:off x="3714750" y="4924425"/>
            <a:ext cx="77628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0F172A"/>
                </a:solidFill>
                <a:latin typeface="Helvetica Neue"/>
                <a:ea typeface="Helvetica Neue"/>
                <a:cs typeface="Helvetica Neue"/>
              </a:defRPr>
            </a:defPPr>
          </a:lstStyle>
          <a:p xmlns:a="http://schemas.openxmlformats.org/drawingml/2006/main">
            <a:pPr algn="l">
              <a:defRPr sz="2175" b="0">
                <a:solidFill>
                  <a:srgbClr val="0F172A"/>
                </a:solidFill>
                <a:latin typeface="Helvetica Neue"/>
                <a:ea typeface="Helvetica Neue"/>
                <a:cs typeface="Helvetica Neue"/>
              </a:defRPr>
            </a:pPr>
            <a:r>
              <a:rPr sz="2175" b="0">
                <a:solidFill>
                  <a:srgbClr val="0F172A"/>
                </a:solidFill>
                <a:latin typeface="Helvetica Neue"/>
                <a:ea typeface="Helvetica Neue"/>
                <a:cs typeface="Helvetica Neue"/>
              </a:rPr>
              <a:t>Replay the same workload under all four strategies.</a:t>
            </a:r>
          </a:p>
        </p:txBody>
      </p:sp>
      <p:sp>
        <p:nvSpPr>
          <p:cNvPr id="12" name="text-22">
            <a:extLst xmlns:a="http://schemas.openxmlformats.org/drawingml/2006/main">
              <a:ext uri="{FF2B5EF4-FFF2-40B4-BE49-F238E27FC236}">
                <a16:creationId xmlns:a16="http://schemas.microsoft.com/office/drawing/2014/main" id="{AF583CCB-135C-47B1-933E-917B46D675DB}"/>
              </a:ext>
            </a:extLst>
          </p:cNvPr>
          <p:cNvSpPr>
            <a:spLocks xmlns:a="http://schemas.openxmlformats.org/drawingml/2006/main" noGrp="1"/>
          </p:cNvSpPr>
          <p:nvPr/>
        </p:nvSpPr>
        <p:spPr>
          <a:xfrm xmlns:a="http://schemas.openxmlformats.org/drawingml/2006/main">
            <a:off x="609600" y="6029325"/>
            <a:ext cx="1095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2647C"/>
                </a:solidFill>
                <a:latin typeface="Helvetica Neue"/>
                <a:ea typeface="Helvetica Neue"/>
                <a:cs typeface="Helvetica Neue"/>
              </a:defRPr>
            </a:defPPr>
          </a:lstStyle>
          <a:p xmlns:a="http://schemas.openxmlformats.org/drawingml/2006/main">
            <a:pPr algn="l">
              <a:defRPr sz="1800" b="0">
                <a:solidFill>
                  <a:srgbClr val="52647C"/>
                </a:solidFill>
                <a:latin typeface="Helvetica Neue"/>
                <a:ea typeface="Helvetica Neue"/>
                <a:cs typeface="Helvetica Neue"/>
              </a:defRPr>
            </a:pPr>
            <a:r>
              <a:rPr sz="1800" b="0">
                <a:solidFill>
                  <a:srgbClr val="52647C"/>
                </a:solidFill>
                <a:latin typeface="Helvetica Neue"/>
                <a:ea typeface="Helvetica Neue"/>
                <a:cs typeface="Helvetica Neue"/>
              </a:rPr>
              <a:t>Model: fixed and variable partitions, whole-MB offsets, one region per process.</a:t>
            </a:r>
          </a:p>
        </p:txBody>
      </p:sp>
    </p:spTree>
    <p:extLst>
      <p:ext uri="{BB962C8B-B14F-4D97-AF65-F5344CB8AC3E}">
        <p14:creationId xmlns:p14="http://schemas.microsoft.com/office/powerpoint/2010/main" val="176099501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23">
            <a:extLst xmlns:a="http://schemas.openxmlformats.org/drawingml/2006/main">
              <a:ext uri="{FF2B5EF4-FFF2-40B4-BE49-F238E27FC236}">
                <a16:creationId xmlns:a16="http://schemas.microsoft.com/office/drawing/2014/main" id="{46152963-1CCF-411F-8AC9-70DD9B060EAB}"/>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Fixed and variable partitioning</a:t>
            </a:r>
          </a:p>
        </p:txBody>
      </p:sp>
      <p:sp>
        <p:nvSpPr>
          <p:cNvPr id="2" name="text-24">
            <a:extLst xmlns:a="http://schemas.openxmlformats.org/drawingml/2006/main">
              <a:ext uri="{FF2B5EF4-FFF2-40B4-BE49-F238E27FC236}">
                <a16:creationId xmlns:a16="http://schemas.microsoft.com/office/drawing/2014/main" id="{8663E16E-7A67-42C7-8EAC-5079C05AB898}"/>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same 200 MB request uses a 300 MB region differently</a:t>
            </a:r>
          </a:p>
        </p:txBody>
      </p:sp>
      <p:sp>
        <p:nvSpPr>
          <p:cNvPr id="3" name="text-25">
            <a:extLst xmlns:a="http://schemas.openxmlformats.org/drawingml/2006/main">
              <a:ext uri="{FF2B5EF4-FFF2-40B4-BE49-F238E27FC236}">
                <a16:creationId xmlns:a16="http://schemas.microsoft.com/office/drawing/2014/main" id="{B53B27BC-8270-449C-A8BD-1A66F9826EF7}"/>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04</a:t>
            </a:r>
          </a:p>
        </p:txBody>
      </p:sp>
      <p:sp>
        <p:nvSpPr>
          <p:cNvPr id="4" name="text-26">
            <a:extLst xmlns:a="http://schemas.openxmlformats.org/drawingml/2006/main">
              <a:ext uri="{FF2B5EF4-FFF2-40B4-BE49-F238E27FC236}">
                <a16:creationId xmlns:a16="http://schemas.microsoft.com/office/drawing/2014/main" id="{7913F6CD-F54C-4912-8ABA-56B3AEDA5DD4}"/>
              </a:ext>
            </a:extLst>
          </p:cNvPr>
          <p:cNvSpPr>
            <a:spLocks xmlns:a="http://schemas.openxmlformats.org/drawingml/2006/main" noGrp="1"/>
          </p:cNvSpPr>
          <p:nvPr/>
        </p:nvSpPr>
        <p:spPr>
          <a:xfrm xmlns:a="http://schemas.openxmlformats.org/drawingml/2006/main">
            <a:off x="609600" y="2066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F172A"/>
                </a:solidFill>
                <a:latin typeface="Helvetica Neue"/>
                <a:ea typeface="Helvetica Neue"/>
                <a:cs typeface="Helvetica Neue"/>
              </a:defRPr>
            </a:defPPr>
          </a:lstStyle>
          <a:p xmlns:a="http://schemas.openxmlformats.org/drawingml/2006/main">
            <a:pPr algn="l">
              <a:defRPr sz="2325" b="1">
                <a:solidFill>
                  <a:srgbClr val="0F172A"/>
                </a:solidFill>
                <a:latin typeface="Helvetica Neue"/>
                <a:ea typeface="Helvetica Neue"/>
                <a:cs typeface="Helvetica Neue"/>
              </a:defRPr>
            </a:pPr>
            <a:r>
              <a:rPr sz="2325" b="1">
                <a:solidFill>
                  <a:srgbClr val="0F172A"/>
                </a:solidFill>
                <a:latin typeface="Helvetica Neue"/>
                <a:ea typeface="Helvetica Neue"/>
                <a:cs typeface="Helvetica Neue"/>
              </a:rPr>
              <a:t>Fixed partition</a:t>
            </a:r>
          </a:p>
        </p:txBody>
      </p:sp>
      <p:graphicFrame>
        <p:nvGraphicFramePr>
          <p:cNvPr id="5" name="Chart">
            <a:extLst xmlns:a="http://schemas.openxmlformats.org/drawingml/2006/main">
              <a:ext uri="{FF2B5EF4-FFF2-40B4-BE49-F238E27FC236}">
                <a16:creationId xmlns:a16="http://schemas.microsoft.com/office/drawing/2014/main" id="{669E8AFE-F644-44BF-8D35-4BB39576E313}"/>
              </a:ext>
            </a:extLst>
          </p:cNvPr>
          <p:cNvGraphicFramePr/>
          <p:nvPr/>
        </p:nvGraphicFramePr>
        <p:xfrm>
          <a:off xmlns:a="http://schemas.openxmlformats.org/drawingml/2006/main" x="609600" y="2657475"/>
          <a:ext xmlns:a="http://schemas.openxmlformats.org/drawingml/2006/main" cx="5143500" cy="1238250"/>
        </p:xfrm>
        <a:graphic xmlns:a="http://schemas.openxmlformats.org/drawingml/2006/main">
          <a:graphicData uri="http://schemas.openxmlformats.org/drawingml/2006/chart">
            <c:chart xmlns:r="http://schemas.openxmlformats.org/officeDocument/2006/relationships" xmlns:c="http://schemas.openxmlformats.org/drawingml/2006/chart" r:id="R7533405b84bf4e46"/>
          </a:graphicData>
        </a:graphic>
      </p:graphicFrame>
      <p:sp>
        <p:nvSpPr>
          <p:cNvPr id="6" name="text-27">
            <a:extLst xmlns:a="http://schemas.openxmlformats.org/drawingml/2006/main">
              <a:ext uri="{FF2B5EF4-FFF2-40B4-BE49-F238E27FC236}">
                <a16:creationId xmlns:a16="http://schemas.microsoft.com/office/drawing/2014/main" id="{D13777BA-3DBB-4CD9-B3C0-93FA3C9C932E}"/>
              </a:ext>
            </a:extLst>
          </p:cNvPr>
          <p:cNvSpPr>
            <a:spLocks xmlns:a="http://schemas.openxmlformats.org/drawingml/2006/main" noGrp="1"/>
          </p:cNvSpPr>
          <p:nvPr/>
        </p:nvSpPr>
        <p:spPr>
          <a:xfrm xmlns:a="http://schemas.openxmlformats.org/drawingml/2006/main">
            <a:off x="609600" y="4219575"/>
            <a:ext cx="5143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B45309"/>
                </a:solidFill>
                <a:latin typeface="Helvetica Neue"/>
                <a:ea typeface="Helvetica Neue"/>
                <a:cs typeface="Helvetica Neue"/>
              </a:defRPr>
            </a:defPPr>
          </a:lstStyle>
          <a:p xmlns:a="http://schemas.openxmlformats.org/drawingml/2006/main">
            <a:pPr algn="l">
              <a:defRPr sz="2250" b="1">
                <a:solidFill>
                  <a:srgbClr val="B45309"/>
                </a:solidFill>
                <a:latin typeface="Helvetica Neue"/>
                <a:ea typeface="Helvetica Neue"/>
                <a:cs typeface="Helvetica Neue"/>
              </a:defRPr>
            </a:pPr>
            <a:r>
              <a:rPr sz="2250" b="1">
                <a:solidFill>
                  <a:srgbClr val="B45309"/>
                </a:solidFill>
                <a:latin typeface="Helvetica Neue"/>
                <a:ea typeface="Helvetica Neue"/>
                <a:cs typeface="Helvetica Neue"/>
              </a:rPr>
              <a:t>300 MB reserved</a:t>
            </a:r>
          </a:p>
          <a:p xmlns:a="http://schemas.openxmlformats.org/drawingml/2006/main">
            <a:pPr algn="l">
              <a:defRPr sz="2250" b="1">
                <a:solidFill>
                  <a:srgbClr val="B45309"/>
                </a:solidFill>
                <a:latin typeface="Helvetica Neue"/>
                <a:ea typeface="Helvetica Neue"/>
                <a:cs typeface="Helvetica Neue"/>
              </a:defRPr>
            </a:pPr>
            <a:r>
              <a:rPr sz="2250" b="1">
                <a:solidFill>
                  <a:srgbClr val="B45309"/>
                </a:solidFill>
                <a:latin typeface="Helvetica Neue"/>
                <a:ea typeface="Helvetica Neue"/>
                <a:cs typeface="Helvetica Neue"/>
              </a:rPr>
              <a:t>100 MB internal waste</a:t>
            </a:r>
          </a:p>
        </p:txBody>
      </p:sp>
      <p:sp>
        <p:nvSpPr>
          <p:cNvPr id="7" name="text-28">
            <a:extLst xmlns:a="http://schemas.openxmlformats.org/drawingml/2006/main">
              <a:ext uri="{FF2B5EF4-FFF2-40B4-BE49-F238E27FC236}">
                <a16:creationId xmlns:a16="http://schemas.microsoft.com/office/drawing/2014/main" id="{1CE98AD5-88AD-4DF2-993C-B62ECBA0B2D7}"/>
              </a:ext>
            </a:extLst>
          </p:cNvPr>
          <p:cNvSpPr>
            <a:spLocks xmlns:a="http://schemas.openxmlformats.org/drawingml/2006/main" noGrp="1"/>
          </p:cNvSpPr>
          <p:nvPr/>
        </p:nvSpPr>
        <p:spPr>
          <a:xfrm xmlns:a="http://schemas.openxmlformats.org/drawingml/2006/main">
            <a:off x="609600" y="536257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7C"/>
                </a:solidFill>
                <a:latin typeface="Helvetica Neue"/>
                <a:ea typeface="Helvetica Neue"/>
                <a:cs typeface="Helvetica Neue"/>
              </a:defRPr>
            </a:defPPr>
          </a:lstStyle>
          <a:p xmlns:a="http://schemas.openxmlformats.org/drawingml/2006/main">
            <a:pPr algn="l">
              <a:defRPr sz="1875" b="0">
                <a:solidFill>
                  <a:srgbClr val="52647C"/>
                </a:solidFill>
                <a:latin typeface="Helvetica Neue"/>
                <a:ea typeface="Helvetica Neue"/>
                <a:cs typeface="Helvetica Neue"/>
              </a:defRPr>
            </a:pPr>
            <a:r>
              <a:rPr sz="1875" b="0">
                <a:solidFill>
                  <a:srgbClr val="52647C"/>
                </a:solidFill>
                <a:latin typeface="Helvetica Neue"/>
                <a:ea typeface="Helvetica Neue"/>
                <a:cs typeface="Helvetica Neue"/>
              </a:rPr>
              <a:t>The full partition belongs to one process.</a:t>
            </a:r>
          </a:p>
        </p:txBody>
      </p:sp>
      <p:sp>
        <p:nvSpPr>
          <p:cNvPr id="8" name="text-29">
            <a:extLst xmlns:a="http://schemas.openxmlformats.org/drawingml/2006/main">
              <a:ext uri="{FF2B5EF4-FFF2-40B4-BE49-F238E27FC236}">
                <a16:creationId xmlns:a16="http://schemas.microsoft.com/office/drawing/2014/main" id="{C87E8717-E322-4B94-A0C7-17DCA4143270}"/>
              </a:ext>
            </a:extLst>
          </p:cNvPr>
          <p:cNvSpPr>
            <a:spLocks xmlns:a="http://schemas.openxmlformats.org/drawingml/2006/main" noGrp="1"/>
          </p:cNvSpPr>
          <p:nvPr/>
        </p:nvSpPr>
        <p:spPr>
          <a:xfrm xmlns:a="http://schemas.openxmlformats.org/drawingml/2006/main">
            <a:off x="6381750" y="2066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F172A"/>
                </a:solidFill>
                <a:latin typeface="Helvetica Neue"/>
                <a:ea typeface="Helvetica Neue"/>
                <a:cs typeface="Helvetica Neue"/>
              </a:defRPr>
            </a:defPPr>
          </a:lstStyle>
          <a:p xmlns:a="http://schemas.openxmlformats.org/drawingml/2006/main">
            <a:pPr algn="l">
              <a:defRPr sz="2325" b="1">
                <a:solidFill>
                  <a:srgbClr val="0F172A"/>
                </a:solidFill>
                <a:latin typeface="Helvetica Neue"/>
                <a:ea typeface="Helvetica Neue"/>
                <a:cs typeface="Helvetica Neue"/>
              </a:defRPr>
            </a:pPr>
            <a:r>
              <a:rPr sz="2325" b="1">
                <a:solidFill>
                  <a:srgbClr val="0F172A"/>
                </a:solidFill>
                <a:latin typeface="Helvetica Neue"/>
                <a:ea typeface="Helvetica Neue"/>
                <a:cs typeface="Helvetica Neue"/>
              </a:rPr>
              <a:t>Variable partition</a:t>
            </a:r>
          </a:p>
        </p:txBody>
      </p:sp>
      <p:graphicFrame>
        <p:nvGraphicFramePr>
          <p:cNvPr id="9" name="Chart">
            <a:extLst xmlns:a="http://schemas.openxmlformats.org/drawingml/2006/main">
              <a:ext uri="{FF2B5EF4-FFF2-40B4-BE49-F238E27FC236}">
                <a16:creationId xmlns:a16="http://schemas.microsoft.com/office/drawing/2014/main" id="{1F1CBBA2-1F34-406E-998B-31CA2F2B58D9}"/>
              </a:ext>
            </a:extLst>
          </p:cNvPr>
          <p:cNvGraphicFramePr/>
          <p:nvPr/>
        </p:nvGraphicFramePr>
        <p:xfrm>
          <a:off xmlns:a="http://schemas.openxmlformats.org/drawingml/2006/main" x="6381750" y="2657475"/>
          <a:ext xmlns:a="http://schemas.openxmlformats.org/drawingml/2006/main" cx="5143500" cy="1238250"/>
        </p:xfrm>
        <a:graphic xmlns:a="http://schemas.openxmlformats.org/drawingml/2006/main">
          <a:graphicData uri="http://schemas.openxmlformats.org/drawingml/2006/chart">
            <c:chart xmlns:r="http://schemas.openxmlformats.org/officeDocument/2006/relationships" xmlns:c="http://schemas.openxmlformats.org/drawingml/2006/chart" r:id="Rb263e50315644871"/>
          </a:graphicData>
        </a:graphic>
      </p:graphicFrame>
      <p:sp>
        <p:nvSpPr>
          <p:cNvPr id="10" name="text-30">
            <a:extLst xmlns:a="http://schemas.openxmlformats.org/drawingml/2006/main">
              <a:ext uri="{FF2B5EF4-FFF2-40B4-BE49-F238E27FC236}">
                <a16:creationId xmlns:a16="http://schemas.microsoft.com/office/drawing/2014/main" id="{0C3E0F70-0986-4EA8-951F-833319CCA660}"/>
              </a:ext>
            </a:extLst>
          </p:cNvPr>
          <p:cNvSpPr>
            <a:spLocks xmlns:a="http://schemas.openxmlformats.org/drawingml/2006/main" noGrp="1"/>
          </p:cNvSpPr>
          <p:nvPr/>
        </p:nvSpPr>
        <p:spPr>
          <a:xfrm xmlns:a="http://schemas.openxmlformats.org/drawingml/2006/main">
            <a:off x="6381750" y="4219575"/>
            <a:ext cx="5143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200 MB reserved</a:t>
            </a:r>
          </a:p>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100 MB remains free</a:t>
            </a:r>
          </a:p>
        </p:txBody>
      </p:sp>
      <p:sp>
        <p:nvSpPr>
          <p:cNvPr id="11" name="text-31">
            <a:extLst xmlns:a="http://schemas.openxmlformats.org/drawingml/2006/main">
              <a:ext uri="{FF2B5EF4-FFF2-40B4-BE49-F238E27FC236}">
                <a16:creationId xmlns:a16="http://schemas.microsoft.com/office/drawing/2014/main" id="{A0D92E0E-AA18-409E-8FB2-664F163CB879}"/>
              </a:ext>
            </a:extLst>
          </p:cNvPr>
          <p:cNvSpPr>
            <a:spLocks xmlns:a="http://schemas.openxmlformats.org/drawingml/2006/main" noGrp="1"/>
          </p:cNvSpPr>
          <p:nvPr/>
        </p:nvSpPr>
        <p:spPr>
          <a:xfrm xmlns:a="http://schemas.openxmlformats.org/drawingml/2006/main">
            <a:off x="6381750" y="5362575"/>
            <a:ext cx="5143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7C"/>
                </a:solidFill>
                <a:latin typeface="Helvetica Neue"/>
                <a:ea typeface="Helvetica Neue"/>
                <a:cs typeface="Helvetica Neue"/>
              </a:defRPr>
            </a:defPPr>
          </a:lstStyle>
          <a:p xmlns:a="http://schemas.openxmlformats.org/drawingml/2006/main">
            <a:pPr algn="l">
              <a:defRPr sz="1875" b="0">
                <a:solidFill>
                  <a:srgbClr val="52647C"/>
                </a:solidFill>
                <a:latin typeface="Helvetica Neue"/>
                <a:ea typeface="Helvetica Neue"/>
                <a:cs typeface="Helvetica Neue"/>
              </a:defRPr>
            </a:pPr>
            <a:r>
              <a:rPr sz="1875" b="0">
                <a:solidFill>
                  <a:srgbClr val="52647C"/>
                </a:solidFill>
                <a:latin typeface="Helvetica Neue"/>
                <a:ea typeface="Helvetica Neue"/>
                <a:cs typeface="Helvetica Neue"/>
              </a:rPr>
              <a:t>The allocator splits the selected region.</a:t>
            </a:r>
          </a:p>
        </p:txBody>
      </p:sp>
    </p:spTree>
    <p:extLst>
      <p:ext uri="{BB962C8B-B14F-4D97-AF65-F5344CB8AC3E}">
        <p14:creationId xmlns:p14="http://schemas.microsoft.com/office/powerpoint/2010/main" val="5892020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32">
            <a:extLst xmlns:a="http://schemas.openxmlformats.org/drawingml/2006/main">
              <a:ext uri="{FF2B5EF4-FFF2-40B4-BE49-F238E27FC236}">
                <a16:creationId xmlns:a16="http://schemas.microsoft.com/office/drawing/2014/main" id="{A1D73202-2A1E-4CE6-A5B1-101AB7063867}"/>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Four allocation algorithms</a:t>
            </a:r>
          </a:p>
        </p:txBody>
      </p:sp>
      <p:sp>
        <p:nvSpPr>
          <p:cNvPr id="2" name="text-33">
            <a:extLst xmlns:a="http://schemas.openxmlformats.org/drawingml/2006/main">
              <a:ext uri="{FF2B5EF4-FFF2-40B4-BE49-F238E27FC236}">
                <a16:creationId xmlns:a16="http://schemas.microsoft.com/office/drawing/2014/main" id="{803C8ED7-C5D0-42B9-AB71-8CD85F70698E}"/>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Each algorithm receives the same request and current memory state</a:t>
            </a:r>
          </a:p>
        </p:txBody>
      </p:sp>
      <p:sp>
        <p:nvSpPr>
          <p:cNvPr id="3" name="text-34">
            <a:extLst xmlns:a="http://schemas.openxmlformats.org/drawingml/2006/main">
              <a:ext uri="{FF2B5EF4-FFF2-40B4-BE49-F238E27FC236}">
                <a16:creationId xmlns:a16="http://schemas.microsoft.com/office/drawing/2014/main" id="{B27ADEAF-7450-4650-AFB3-B7DCC04A79AA}"/>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05</a:t>
            </a:r>
          </a:p>
        </p:txBody>
      </p:sp>
      <p:graphicFrame>
        <p:nvGraphicFramePr>
          <p:cNvPr id="4" name="">
            <a:extLst xmlns:a="http://schemas.openxmlformats.org/drawingml/2006/main">
              <a:ext uri="{FF2B5EF4-FFF2-40B4-BE49-F238E27FC236}">
                <a16:creationId xmlns:a16="http://schemas.microsoft.com/office/drawing/2014/main" id="{B53AC419-86EB-4A35-B550-F80E14A40132}"/>
              </a:ext>
            </a:extLst>
          </p:cNvPr>
          <p:cNvGraphicFramePr/>
          <p:nvPr/>
        </p:nvGraphicFramePr>
        <p:xfrm>
          <a:off xmlns:a="http://schemas.openxmlformats.org/drawingml/2006/main" x="609600" y="2066925"/>
          <a:ext xmlns:a="http://schemas.openxmlformats.org/drawingml/2006/main" cx="10972800" cy="3476625"/>
        </p:xfrm>
        <a:graphic xmlns:a="http://schemas.openxmlformats.org/drawingml/2006/main">
          <a:graphicData uri="http://schemas.openxmlformats.org/drawingml/2006/table">
            <a:tbl>
              <a:tblPr/>
              <a:tblGrid>
                <a:gridCol w="2333625"/>
                <a:gridCol w="8639175"/>
              </a:tblGrid>
              <a:tr h="695325">
                <a:tc>
                  <a:txBody>
                    <a:bodyPr/>
                    <a:lstStyle/>
                    <a:p>
                      <a:r>
                        <a:rPr sz="2025" b="1">
                          <a:solidFill>
                            <a:srgbClr val="FFFFFF"/>
                          </a:solidFill>
                          <a:latin typeface="Helvetica Neue"/>
                          <a:ea typeface="Helvetica Neue"/>
                          <a:cs typeface="Helvetica Neue"/>
                        </a:rPr>
                        <a:t>Algorithm</a:t>
                      </a:r>
                    </a:p>
                  </a:txBody>
                  <a:tcPr marL="152400" marR="152400" marT="66675" marB="66675" anchor="ctr">
                    <a:lnL w="9525">
                      <a:solidFill>
                        <a:srgbClr val="E2E8F0"/>
                      </a:solidFill>
                      <a:prstDash val="solid"/>
                    </a:lnL>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2025" b="1">
                          <a:solidFill>
                            <a:srgbClr val="FFFFFF"/>
                          </a:solidFill>
                          <a:latin typeface="Helvetica Neue"/>
                          <a:ea typeface="Helvetica Neue"/>
                          <a:cs typeface="Helvetica Neue"/>
                        </a:rPr>
                        <a:t>Region selection rule</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r>
              <a:tr h="695325">
                <a:tc>
                  <a:txBody>
                    <a:bodyPr/>
                    <a:lstStyle/>
                    <a:p>
                      <a:r>
                        <a:rPr sz="2025" b="0">
                          <a:solidFill>
                            <a:srgbClr val="0F172A"/>
                          </a:solidFill>
                          <a:latin typeface="Helvetica Neue"/>
                          <a:ea typeface="Helvetica Neue"/>
                          <a:cs typeface="Helvetica Neue"/>
                        </a:rPr>
                        <a:t>First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2025" b="0">
                          <a:solidFill>
                            <a:srgbClr val="0F172A"/>
                          </a:solidFill>
                          <a:latin typeface="Helvetica Neue"/>
                          <a:ea typeface="Helvetica Neue"/>
                          <a:cs typeface="Helvetica Neue"/>
                        </a:rPr>
                        <a:t>Choose the first suitable free region from the beginning.</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2025" b="0">
                          <a:solidFill>
                            <a:srgbClr val="0F172A"/>
                          </a:solidFill>
                          <a:latin typeface="Helvetica Neue"/>
                          <a:ea typeface="Helvetica Neue"/>
                          <a:cs typeface="Helvetica Neue"/>
                        </a:rPr>
                        <a:t>Best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2025" b="0">
                          <a:solidFill>
                            <a:srgbClr val="0F172A"/>
                          </a:solidFill>
                          <a:latin typeface="Helvetica Neue"/>
                          <a:ea typeface="Helvetica Neue"/>
                          <a:cs typeface="Helvetica Neue"/>
                        </a:rPr>
                        <a:t>Choose the smallest suitable free region.</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2025" b="0">
                          <a:solidFill>
                            <a:srgbClr val="0F172A"/>
                          </a:solidFill>
                          <a:latin typeface="Helvetica Neue"/>
                          <a:ea typeface="Helvetica Neue"/>
                          <a:cs typeface="Helvetica Neue"/>
                        </a:rPr>
                        <a:t>Worst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2025" b="0">
                          <a:solidFill>
                            <a:srgbClr val="0F172A"/>
                          </a:solidFill>
                          <a:latin typeface="Helvetica Neue"/>
                          <a:ea typeface="Helvetica Neue"/>
                          <a:cs typeface="Helvetica Neue"/>
                        </a:rPr>
                        <a:t>Choose the largest suitable free region.</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2025" b="0">
                          <a:solidFill>
                            <a:srgbClr val="0F172A"/>
                          </a:solidFill>
                          <a:latin typeface="Helvetica Neue"/>
                          <a:ea typeface="Helvetica Neue"/>
                          <a:cs typeface="Helvetica Neue"/>
                        </a:rPr>
                        <a:t>Next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2025" b="0">
                          <a:solidFill>
                            <a:srgbClr val="0F172A"/>
                          </a:solidFill>
                          <a:latin typeface="Helvetica Neue"/>
                          <a:ea typeface="Helvetica Neue"/>
                          <a:cs typeface="Helvetica Neue"/>
                        </a:rPr>
                        <a:t>Choose the first suitable region from its saved position.</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bl>
          </a:graphicData>
        </a:graphic>
      </p:graphicFrame>
      <p:sp>
        <p:nvSpPr>
          <p:cNvPr id="5" name="text-35">
            <a:extLst xmlns:a="http://schemas.openxmlformats.org/drawingml/2006/main">
              <a:ext uri="{FF2B5EF4-FFF2-40B4-BE49-F238E27FC236}">
                <a16:creationId xmlns:a16="http://schemas.microsoft.com/office/drawing/2014/main" id="{73878AC9-17EE-41CC-9FD8-22C45AC4902C}"/>
              </a:ext>
            </a:extLst>
          </p:cNvPr>
          <p:cNvSpPr>
            <a:spLocks xmlns:a="http://schemas.openxmlformats.org/drawingml/2006/main" noGrp="1"/>
          </p:cNvSpPr>
          <p:nvPr/>
        </p:nvSpPr>
        <p:spPr>
          <a:xfrm xmlns:a="http://schemas.openxmlformats.org/drawingml/2006/main">
            <a:off x="609600" y="57912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563EB"/>
                </a:solidFill>
                <a:latin typeface="Helvetica Neue"/>
                <a:ea typeface="Helvetica Neue"/>
                <a:cs typeface="Helvetica Neue"/>
              </a:defRPr>
            </a:defPPr>
          </a:lstStyle>
          <a:p xmlns:a="http://schemas.openxmlformats.org/drawingml/2006/main">
            <a:pPr algn="l">
              <a:defRPr sz="1875" b="0">
                <a:solidFill>
                  <a:srgbClr val="2563EB"/>
                </a:solidFill>
                <a:latin typeface="Helvetica Neue"/>
                <a:ea typeface="Helvetica Neue"/>
                <a:cs typeface="Helvetica Neue"/>
              </a:defRPr>
            </a:pPr>
            <a:r>
              <a:rPr sz="1875" b="0">
                <a:solidFill>
                  <a:srgbClr val="2563EB"/>
                </a:solidFill>
                <a:latin typeface="Helvetica Neue"/>
                <a:ea typeface="Helvetica Neue"/>
                <a:cs typeface="Helvetica Neue"/>
              </a:rPr>
              <a:t>Next Fit searches circularly and wraps to address zero when needed.</a:t>
            </a:r>
          </a:p>
        </p:txBody>
      </p:sp>
    </p:spTree>
    <p:extLst>
      <p:ext uri="{BB962C8B-B14F-4D97-AF65-F5344CB8AC3E}">
        <p14:creationId xmlns:p14="http://schemas.microsoft.com/office/powerpoint/2010/main" val="3322615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ext-36">
            <a:extLst xmlns:a="http://schemas.openxmlformats.org/drawingml/2006/main">
              <a:ext uri="{FF2B5EF4-FFF2-40B4-BE49-F238E27FC236}">
                <a16:creationId xmlns:a16="http://schemas.microsoft.com/office/drawing/2014/main" id="{3D6A7F69-3134-4162-B9A9-1D7C846AAA21}"/>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One request, different placements</a:t>
            </a:r>
          </a:p>
        </p:txBody>
      </p:sp>
      <p:sp>
        <p:nvSpPr>
          <p:cNvPr id="2" name="text-37">
            <a:extLst xmlns:a="http://schemas.openxmlformats.org/drawingml/2006/main">
              <a:ext uri="{FF2B5EF4-FFF2-40B4-BE49-F238E27FC236}">
                <a16:creationId xmlns:a16="http://schemas.microsoft.com/office/drawing/2014/main" id="{FABF38B2-940E-4552-92A2-4C3F039D2A1C}"/>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Initially configured regions: 300, 220 and 500 MB. The request needs 200 MB.</a:t>
            </a:r>
          </a:p>
        </p:txBody>
      </p:sp>
      <p:sp>
        <p:nvSpPr>
          <p:cNvPr id="3" name="text-38">
            <a:extLst xmlns:a="http://schemas.openxmlformats.org/drawingml/2006/main">
              <a:ext uri="{FF2B5EF4-FFF2-40B4-BE49-F238E27FC236}">
                <a16:creationId xmlns:a16="http://schemas.microsoft.com/office/drawing/2014/main" id="{EBA14BE2-DD7B-4617-8003-67306F463271}"/>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06</a:t>
            </a:r>
          </a:p>
        </p:txBody>
      </p:sp>
      <p:graphicFrame>
        <p:nvGraphicFramePr>
          <p:cNvPr id="4" name="Chart">
            <a:extLst xmlns:a="http://schemas.openxmlformats.org/drawingml/2006/main">
              <a:ext uri="{FF2B5EF4-FFF2-40B4-BE49-F238E27FC236}">
                <a16:creationId xmlns:a16="http://schemas.microsoft.com/office/drawing/2014/main" id="{9994A6D4-4BD4-4A86-9AC3-6FA224E7576A}"/>
              </a:ext>
            </a:extLst>
          </p:cNvPr>
          <p:cNvGraphicFramePr/>
          <p:nvPr/>
        </p:nvGraphicFramePr>
        <p:xfrm>
          <a:off xmlns:a="http://schemas.openxmlformats.org/drawingml/2006/main" x="609600" y="2019300"/>
          <a:ext xmlns:a="http://schemas.openxmlformats.org/drawingml/2006/main" cx="10953750" cy="990600"/>
        </p:xfrm>
        <a:graphic xmlns:a="http://schemas.openxmlformats.org/drawingml/2006/main">
          <a:graphicData uri="http://schemas.openxmlformats.org/drawingml/2006/chart">
            <c:chart xmlns:r="http://schemas.openxmlformats.org/officeDocument/2006/relationships" xmlns:c="http://schemas.openxmlformats.org/drawingml/2006/chart" r:id="R939954669f4a450d"/>
          </a:graphicData>
        </a:graphic>
      </p:graphicFrame>
      <p:graphicFrame>
        <p:nvGraphicFramePr>
          <p:cNvPr id="5" name="">
            <a:extLst xmlns:a="http://schemas.openxmlformats.org/drawingml/2006/main">
              <a:ext uri="{FF2B5EF4-FFF2-40B4-BE49-F238E27FC236}">
                <a16:creationId xmlns:a16="http://schemas.microsoft.com/office/drawing/2014/main" id="{A9C0A265-7A35-4664-8D7E-18820DB080C3}"/>
              </a:ext>
            </a:extLst>
          </p:cNvPr>
          <p:cNvGraphicFramePr/>
          <p:nvPr/>
        </p:nvGraphicFramePr>
        <p:xfrm>
          <a:off xmlns:a="http://schemas.openxmlformats.org/drawingml/2006/main" x="609600" y="3352800"/>
          <a:ext xmlns:a="http://schemas.openxmlformats.org/drawingml/2006/main" cx="10972800" cy="2571750"/>
        </p:xfrm>
        <a:graphic xmlns:a="http://schemas.openxmlformats.org/drawingml/2006/main">
          <a:graphicData uri="http://schemas.openxmlformats.org/drawingml/2006/table">
            <a:tbl>
              <a:tblPr/>
              <a:tblGrid>
                <a:gridCol w="2714625"/>
                <a:gridCol w="2857500"/>
                <a:gridCol w="2619375"/>
                <a:gridCol w="2781300"/>
              </a:tblGrid>
              <a:tr h="514350">
                <a:tc>
                  <a:txBody>
                    <a:bodyPr/>
                    <a:lstStyle/>
                    <a:p>
                      <a:r>
                        <a:rPr sz="1950" b="1">
                          <a:solidFill>
                            <a:srgbClr val="FFFFFF"/>
                          </a:solidFill>
                          <a:latin typeface="Helvetica Neue"/>
                          <a:ea typeface="Helvetica Neue"/>
                          <a:cs typeface="Helvetica Neue"/>
                        </a:rPr>
                        <a:t>Algorithm</a:t>
                      </a:r>
                    </a:p>
                  </a:txBody>
                  <a:tcPr marL="152400" marR="152400" marT="66675" marB="66675" anchor="ctr">
                    <a:lnL w="9525">
                      <a:solidFill>
                        <a:srgbClr val="E2E8F0"/>
                      </a:solidFill>
                      <a:prstDash val="solid"/>
                    </a:lnL>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950" b="1">
                          <a:solidFill>
                            <a:srgbClr val="FFFFFF"/>
                          </a:solidFill>
                          <a:latin typeface="Helvetica Neue"/>
                          <a:ea typeface="Helvetica Neue"/>
                          <a:cs typeface="Helvetica Neue"/>
                        </a:rPr>
                        <a:t>Selected region</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950" b="1">
                          <a:solidFill>
                            <a:srgbClr val="FFFFFF"/>
                          </a:solidFill>
                          <a:latin typeface="Helvetica Neue"/>
                          <a:ea typeface="Helvetica Neue"/>
                          <a:cs typeface="Helvetica Neue"/>
                        </a:rPr>
                        <a:t>Region size</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950" b="1">
                          <a:solidFill>
                            <a:srgbClr val="FFFFFF"/>
                          </a:solidFill>
                          <a:latin typeface="Helvetica Neue"/>
                          <a:ea typeface="Helvetica Neue"/>
                          <a:cs typeface="Helvetica Neue"/>
                        </a:rPr>
                        <a:t>Leftover</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r>
              <a:tr h="514350">
                <a:tc>
                  <a:txBody>
                    <a:bodyPr/>
                    <a:lstStyle/>
                    <a:p>
                      <a:r>
                        <a:rPr sz="1950" b="0">
                          <a:solidFill>
                            <a:srgbClr val="0F172A"/>
                          </a:solidFill>
                          <a:latin typeface="Helvetica Neue"/>
                          <a:ea typeface="Helvetica Neue"/>
                          <a:cs typeface="Helvetica Neue"/>
                        </a:rPr>
                        <a:t>First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Region 1</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300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100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514350">
                <a:tc>
                  <a:txBody>
                    <a:bodyPr/>
                    <a:lstStyle/>
                    <a:p>
                      <a:r>
                        <a:rPr sz="1950" b="0">
                          <a:solidFill>
                            <a:srgbClr val="0F172A"/>
                          </a:solidFill>
                          <a:latin typeface="Helvetica Neue"/>
                          <a:ea typeface="Helvetica Neue"/>
                          <a:cs typeface="Helvetica Neue"/>
                        </a:rPr>
                        <a:t>Best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Region 2</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220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20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514350">
                <a:tc>
                  <a:txBody>
                    <a:bodyPr/>
                    <a:lstStyle/>
                    <a:p>
                      <a:r>
                        <a:rPr sz="1950" b="0">
                          <a:solidFill>
                            <a:srgbClr val="0F172A"/>
                          </a:solidFill>
                          <a:latin typeface="Helvetica Neue"/>
                          <a:ea typeface="Helvetica Neue"/>
                          <a:cs typeface="Helvetica Neue"/>
                        </a:rPr>
                        <a:t>Worst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Region 3</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500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300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514350">
                <a:tc>
                  <a:txBody>
                    <a:bodyPr/>
                    <a:lstStyle/>
                    <a:p>
                      <a:r>
                        <a:rPr sz="1950" b="0">
                          <a:solidFill>
                            <a:srgbClr val="0F172A"/>
                          </a:solidFill>
                          <a:latin typeface="Helvetica Neue"/>
                          <a:ea typeface="Helvetica Neue"/>
                          <a:cs typeface="Helvetica Neue"/>
                        </a:rPr>
                        <a:t>Next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Region 2</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220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20 MB</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bl>
          </a:graphicData>
        </a:graphic>
      </p:graphicFrame>
      <p:sp>
        <p:nvSpPr>
          <p:cNvPr id="6" name="text-39">
            <a:extLst xmlns:a="http://schemas.openxmlformats.org/drawingml/2006/main">
              <a:ext uri="{FF2B5EF4-FFF2-40B4-BE49-F238E27FC236}">
                <a16:creationId xmlns:a16="http://schemas.microsoft.com/office/drawing/2014/main" id="{4AEFE8E3-B7B3-4F1C-BF4E-EBF7D989AA10}"/>
              </a:ext>
            </a:extLst>
          </p:cNvPr>
          <p:cNvSpPr>
            <a:spLocks xmlns:a="http://schemas.openxmlformats.org/drawingml/2006/main" noGrp="1"/>
          </p:cNvSpPr>
          <p:nvPr/>
        </p:nvSpPr>
        <p:spPr>
          <a:xfrm xmlns:a="http://schemas.openxmlformats.org/drawingml/2006/main">
            <a:off x="609600" y="6105525"/>
            <a:ext cx="109061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Next Fit begins at address 300 MB in this example, so it starts in Region 2.</a:t>
            </a:r>
          </a:p>
        </p:txBody>
      </p:sp>
    </p:spTree>
    <p:extLst>
      <p:ext uri="{BB962C8B-B14F-4D97-AF65-F5344CB8AC3E}">
        <p14:creationId xmlns:p14="http://schemas.microsoft.com/office/powerpoint/2010/main" val="127221579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40">
            <a:extLst xmlns:a="http://schemas.openxmlformats.org/drawingml/2006/main">
              <a:ext uri="{FF2B5EF4-FFF2-40B4-BE49-F238E27FC236}">
                <a16:creationId xmlns:a16="http://schemas.microsoft.com/office/drawing/2014/main" id="{4620BC07-8E8D-4495-8367-CA2590222FBD}"/>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Process lifecycle</a:t>
            </a:r>
          </a:p>
        </p:txBody>
      </p:sp>
      <p:sp>
        <p:nvSpPr>
          <p:cNvPr id="2" name="text-41">
            <a:extLst xmlns:a="http://schemas.openxmlformats.org/drawingml/2006/main">
              <a:ext uri="{FF2B5EF4-FFF2-40B4-BE49-F238E27FC236}">
                <a16:creationId xmlns:a16="http://schemas.microsoft.com/office/drawing/2014/main" id="{1039135C-3F00-4E99-979F-36F524358A50}"/>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Variable mode with one 500 MB region and process A requesting 100 MB</a:t>
            </a:r>
          </a:p>
        </p:txBody>
      </p:sp>
      <p:sp>
        <p:nvSpPr>
          <p:cNvPr id="3" name="text-42">
            <a:extLst xmlns:a="http://schemas.openxmlformats.org/drawingml/2006/main">
              <a:ext uri="{FF2B5EF4-FFF2-40B4-BE49-F238E27FC236}">
                <a16:creationId xmlns:a16="http://schemas.microsoft.com/office/drawing/2014/main" id="{2F1B3F8B-9818-4CCE-8D4C-67C2813B8A67}"/>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07</a:t>
            </a:r>
          </a:p>
        </p:txBody>
      </p:sp>
      <p:sp>
        <p:nvSpPr>
          <p:cNvPr id="4" name="text-43">
            <a:extLst xmlns:a="http://schemas.openxmlformats.org/drawingml/2006/main">
              <a:ext uri="{FF2B5EF4-FFF2-40B4-BE49-F238E27FC236}">
                <a16:creationId xmlns:a16="http://schemas.microsoft.com/office/drawing/2014/main" id="{B75ABEE8-D175-4540-98A1-E647C0CEBC33}"/>
              </a:ext>
            </a:extLst>
          </p:cNvPr>
          <p:cNvSpPr>
            <a:spLocks xmlns:a="http://schemas.openxmlformats.org/drawingml/2006/main" noGrp="1"/>
          </p:cNvSpPr>
          <p:nvPr/>
        </p:nvSpPr>
        <p:spPr>
          <a:xfrm xmlns:a="http://schemas.openxmlformats.org/drawingml/2006/main">
            <a:off x="609600" y="2009775"/>
            <a:ext cx="2428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Create</a:t>
            </a:r>
          </a:p>
        </p:txBody>
      </p:sp>
      <p:sp>
        <p:nvSpPr>
          <p:cNvPr id="5" name="text-44">
            <a:extLst xmlns:a="http://schemas.openxmlformats.org/drawingml/2006/main">
              <a:ext uri="{FF2B5EF4-FFF2-40B4-BE49-F238E27FC236}">
                <a16:creationId xmlns:a16="http://schemas.microsoft.com/office/drawing/2014/main" id="{13815FC8-BEB0-4BAB-B424-95C40D305C7A}"/>
              </a:ext>
            </a:extLst>
          </p:cNvPr>
          <p:cNvSpPr>
            <a:spLocks xmlns:a="http://schemas.openxmlformats.org/drawingml/2006/main" noGrp="1"/>
          </p:cNvSpPr>
          <p:nvPr/>
        </p:nvSpPr>
        <p:spPr>
          <a:xfrm xmlns:a="http://schemas.openxmlformats.org/drawingml/2006/main">
            <a:off x="609600" y="241935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Waiting, no reservation</a:t>
            </a:r>
          </a:p>
        </p:txBody>
      </p:sp>
      <p:graphicFrame>
        <p:nvGraphicFramePr>
          <p:cNvPr id="6" name="Chart">
            <a:extLst xmlns:a="http://schemas.openxmlformats.org/drawingml/2006/main">
              <a:ext uri="{FF2B5EF4-FFF2-40B4-BE49-F238E27FC236}">
                <a16:creationId xmlns:a16="http://schemas.microsoft.com/office/drawing/2014/main" id="{4ADE7BBA-4292-407A-8460-17A559028933}"/>
              </a:ext>
            </a:extLst>
          </p:cNvPr>
          <p:cNvGraphicFramePr/>
          <p:nvPr/>
        </p:nvGraphicFramePr>
        <p:xfrm>
          <a:off xmlns:a="http://schemas.openxmlformats.org/drawingml/2006/main" x="3314700" y="2019300"/>
          <a:ext xmlns:a="http://schemas.openxmlformats.org/drawingml/2006/main" cx="8153400" cy="809625"/>
        </p:xfrm>
        <a:graphic xmlns:a="http://schemas.openxmlformats.org/drawingml/2006/main">
          <a:graphicData uri="http://schemas.openxmlformats.org/drawingml/2006/chart">
            <c:chart xmlns:r="http://schemas.openxmlformats.org/officeDocument/2006/relationships" xmlns:c="http://schemas.openxmlformats.org/drawingml/2006/chart" r:id="R11c14fb24f3b4091"/>
          </a:graphicData>
        </a:graphic>
      </p:graphicFrame>
      <p:sp>
        <p:nvSpPr>
          <p:cNvPr id="7" name="text-45">
            <a:extLst xmlns:a="http://schemas.openxmlformats.org/drawingml/2006/main">
              <a:ext uri="{FF2B5EF4-FFF2-40B4-BE49-F238E27FC236}">
                <a16:creationId xmlns:a16="http://schemas.microsoft.com/office/drawing/2014/main" id="{4784134C-FC82-4CAF-8B20-E183962B53F0}"/>
              </a:ext>
            </a:extLst>
          </p:cNvPr>
          <p:cNvSpPr>
            <a:spLocks xmlns:a="http://schemas.openxmlformats.org/drawingml/2006/main" noGrp="1"/>
          </p:cNvSpPr>
          <p:nvPr/>
        </p:nvSpPr>
        <p:spPr>
          <a:xfrm xmlns:a="http://schemas.openxmlformats.org/drawingml/2006/main">
            <a:off x="609600" y="3009900"/>
            <a:ext cx="2428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Allocate</a:t>
            </a:r>
          </a:p>
        </p:txBody>
      </p:sp>
      <p:sp>
        <p:nvSpPr>
          <p:cNvPr id="8" name="text-46">
            <a:extLst xmlns:a="http://schemas.openxmlformats.org/drawingml/2006/main">
              <a:ext uri="{FF2B5EF4-FFF2-40B4-BE49-F238E27FC236}">
                <a16:creationId xmlns:a16="http://schemas.microsoft.com/office/drawing/2014/main" id="{AF1AE7CC-58A2-4B15-A752-7988ACE2D5BF}"/>
              </a:ext>
            </a:extLst>
          </p:cNvPr>
          <p:cNvSpPr>
            <a:spLocks xmlns:a="http://schemas.openxmlformats.org/drawingml/2006/main" noGrp="1"/>
          </p:cNvSpPr>
          <p:nvPr/>
        </p:nvSpPr>
        <p:spPr>
          <a:xfrm xmlns:a="http://schemas.openxmlformats.org/drawingml/2006/main">
            <a:off x="609600" y="3419475"/>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A receives 100 MB</a:t>
            </a:r>
          </a:p>
        </p:txBody>
      </p:sp>
      <p:graphicFrame>
        <p:nvGraphicFramePr>
          <p:cNvPr id="9" name="Chart">
            <a:extLst xmlns:a="http://schemas.openxmlformats.org/drawingml/2006/main">
              <a:ext uri="{FF2B5EF4-FFF2-40B4-BE49-F238E27FC236}">
                <a16:creationId xmlns:a16="http://schemas.microsoft.com/office/drawing/2014/main" id="{874292F1-E24D-4027-B80F-3873BEE4B332}"/>
              </a:ext>
            </a:extLst>
          </p:cNvPr>
          <p:cNvGraphicFramePr/>
          <p:nvPr/>
        </p:nvGraphicFramePr>
        <p:xfrm>
          <a:off xmlns:a="http://schemas.openxmlformats.org/drawingml/2006/main" x="3314700" y="3019425"/>
          <a:ext xmlns:a="http://schemas.openxmlformats.org/drawingml/2006/main" cx="8153400" cy="809625"/>
        </p:xfrm>
        <a:graphic xmlns:a="http://schemas.openxmlformats.org/drawingml/2006/main">
          <a:graphicData uri="http://schemas.openxmlformats.org/drawingml/2006/chart">
            <c:chart xmlns:r="http://schemas.openxmlformats.org/officeDocument/2006/relationships" xmlns:c="http://schemas.openxmlformats.org/drawingml/2006/chart" r:id="Rbbd62f2706de48d3"/>
          </a:graphicData>
        </a:graphic>
      </p:graphicFrame>
      <p:sp>
        <p:nvSpPr>
          <p:cNvPr id="10" name="text-47">
            <a:extLst xmlns:a="http://schemas.openxmlformats.org/drawingml/2006/main">
              <a:ext uri="{FF2B5EF4-FFF2-40B4-BE49-F238E27FC236}">
                <a16:creationId xmlns:a16="http://schemas.microsoft.com/office/drawing/2014/main" id="{B40A43A9-B549-4B06-9688-7119A4B6E2EA}"/>
              </a:ext>
            </a:extLst>
          </p:cNvPr>
          <p:cNvSpPr>
            <a:spLocks xmlns:a="http://schemas.openxmlformats.org/drawingml/2006/main" noGrp="1"/>
          </p:cNvSpPr>
          <p:nvPr/>
        </p:nvSpPr>
        <p:spPr>
          <a:xfrm xmlns:a="http://schemas.openxmlformats.org/drawingml/2006/main">
            <a:off x="609600" y="4010025"/>
            <a:ext cx="2428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Grow</a:t>
            </a:r>
          </a:p>
        </p:txBody>
      </p:sp>
      <p:sp>
        <p:nvSpPr>
          <p:cNvPr id="11" name="text-48">
            <a:extLst xmlns:a="http://schemas.openxmlformats.org/drawingml/2006/main">
              <a:ext uri="{FF2B5EF4-FFF2-40B4-BE49-F238E27FC236}">
                <a16:creationId xmlns:a16="http://schemas.microsoft.com/office/drawing/2014/main" id="{A076CC74-7AC5-4857-AE8F-369789A05ABA}"/>
              </a:ext>
            </a:extLst>
          </p:cNvPr>
          <p:cNvSpPr>
            <a:spLocks xmlns:a="http://schemas.openxmlformats.org/drawingml/2006/main" noGrp="1"/>
          </p:cNvSpPr>
          <p:nvPr/>
        </p:nvSpPr>
        <p:spPr>
          <a:xfrm xmlns:a="http://schemas.openxmlformats.org/drawingml/2006/main">
            <a:off x="609600" y="44196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A requests 50 MB more</a:t>
            </a:r>
          </a:p>
        </p:txBody>
      </p:sp>
      <p:graphicFrame>
        <p:nvGraphicFramePr>
          <p:cNvPr id="12" name="Chart">
            <a:extLst xmlns:a="http://schemas.openxmlformats.org/drawingml/2006/main">
              <a:ext uri="{FF2B5EF4-FFF2-40B4-BE49-F238E27FC236}">
                <a16:creationId xmlns:a16="http://schemas.microsoft.com/office/drawing/2014/main" id="{2C173349-531A-4E8A-A357-827C0C04873A}"/>
              </a:ext>
            </a:extLst>
          </p:cNvPr>
          <p:cNvGraphicFramePr/>
          <p:nvPr/>
        </p:nvGraphicFramePr>
        <p:xfrm>
          <a:off xmlns:a="http://schemas.openxmlformats.org/drawingml/2006/main" x="3314700" y="4019550"/>
          <a:ext xmlns:a="http://schemas.openxmlformats.org/drawingml/2006/main" cx="8153400" cy="809625"/>
        </p:xfrm>
        <a:graphic xmlns:a="http://schemas.openxmlformats.org/drawingml/2006/main">
          <a:graphicData uri="http://schemas.openxmlformats.org/drawingml/2006/chart">
            <c:chart xmlns:r="http://schemas.openxmlformats.org/officeDocument/2006/relationships" xmlns:c="http://schemas.openxmlformats.org/drawingml/2006/chart" r:id="Rd813b6ab085f4bfd"/>
          </a:graphicData>
        </a:graphic>
      </p:graphicFrame>
      <p:sp>
        <p:nvSpPr>
          <p:cNvPr id="13" name="text-49">
            <a:extLst xmlns:a="http://schemas.openxmlformats.org/drawingml/2006/main">
              <a:ext uri="{FF2B5EF4-FFF2-40B4-BE49-F238E27FC236}">
                <a16:creationId xmlns:a16="http://schemas.microsoft.com/office/drawing/2014/main" id="{BF7828D9-CB63-461A-A442-470C8095E3B2}"/>
              </a:ext>
            </a:extLst>
          </p:cNvPr>
          <p:cNvSpPr>
            <a:spLocks xmlns:a="http://schemas.openxmlformats.org/drawingml/2006/main" noGrp="1"/>
          </p:cNvSpPr>
          <p:nvPr/>
        </p:nvSpPr>
        <p:spPr>
          <a:xfrm xmlns:a="http://schemas.openxmlformats.org/drawingml/2006/main">
            <a:off x="609600" y="5010150"/>
            <a:ext cx="24288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563EB"/>
                </a:solidFill>
                <a:latin typeface="Helvetica Neue"/>
                <a:ea typeface="Helvetica Neue"/>
                <a:cs typeface="Helvetica Neue"/>
              </a:defRPr>
            </a:defPPr>
          </a:lstStyle>
          <a:p xmlns:a="http://schemas.openxmlformats.org/drawingml/2006/main">
            <a:pPr algn="l">
              <a:defRPr sz="2250" b="1">
                <a:solidFill>
                  <a:srgbClr val="2563EB"/>
                </a:solidFill>
                <a:latin typeface="Helvetica Neue"/>
                <a:ea typeface="Helvetica Neue"/>
                <a:cs typeface="Helvetica Neue"/>
              </a:defRPr>
            </a:pPr>
            <a:r>
              <a:rPr sz="2250" b="1">
                <a:solidFill>
                  <a:srgbClr val="2563EB"/>
                </a:solidFill>
                <a:latin typeface="Helvetica Neue"/>
                <a:ea typeface="Helvetica Neue"/>
                <a:cs typeface="Helvetica Neue"/>
              </a:rPr>
              <a:t>Release</a:t>
            </a:r>
          </a:p>
        </p:txBody>
      </p:sp>
      <p:sp>
        <p:nvSpPr>
          <p:cNvPr id="14" name="text-50">
            <a:extLst xmlns:a="http://schemas.openxmlformats.org/drawingml/2006/main">
              <a:ext uri="{FF2B5EF4-FFF2-40B4-BE49-F238E27FC236}">
                <a16:creationId xmlns:a16="http://schemas.microsoft.com/office/drawing/2014/main" id="{00D348FA-763E-4AE8-B628-969EBD42F628}"/>
              </a:ext>
            </a:extLst>
          </p:cNvPr>
          <p:cNvSpPr>
            <a:spLocks xmlns:a="http://schemas.openxmlformats.org/drawingml/2006/main" noGrp="1"/>
          </p:cNvSpPr>
          <p:nvPr/>
        </p:nvSpPr>
        <p:spPr>
          <a:xfrm xmlns:a="http://schemas.openxmlformats.org/drawingml/2006/main">
            <a:off x="609600" y="5419725"/>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A terminates</a:t>
            </a:r>
          </a:p>
        </p:txBody>
      </p:sp>
      <p:graphicFrame>
        <p:nvGraphicFramePr>
          <p:cNvPr id="15" name="Chart">
            <a:extLst xmlns:a="http://schemas.openxmlformats.org/drawingml/2006/main">
              <a:ext uri="{FF2B5EF4-FFF2-40B4-BE49-F238E27FC236}">
                <a16:creationId xmlns:a16="http://schemas.microsoft.com/office/drawing/2014/main" id="{5A7804F2-B3BE-43FD-99A0-97038E0D7240}"/>
              </a:ext>
            </a:extLst>
          </p:cNvPr>
          <p:cNvGraphicFramePr/>
          <p:nvPr/>
        </p:nvGraphicFramePr>
        <p:xfrm>
          <a:off xmlns:a="http://schemas.openxmlformats.org/drawingml/2006/main" x="3314700" y="5019675"/>
          <a:ext xmlns:a="http://schemas.openxmlformats.org/drawingml/2006/main" cx="8153400" cy="809625"/>
        </p:xfrm>
        <a:graphic xmlns:a="http://schemas.openxmlformats.org/drawingml/2006/main">
          <a:graphicData uri="http://schemas.openxmlformats.org/drawingml/2006/chart">
            <c:chart xmlns:r="http://schemas.openxmlformats.org/officeDocument/2006/relationships" xmlns:c="http://schemas.openxmlformats.org/drawingml/2006/chart" r:id="R2d5ef99540dc436e"/>
          </a:graphicData>
        </a:graphic>
      </p:graphicFrame>
    </p:spTree>
    <p:extLst>
      <p:ext uri="{BB962C8B-B14F-4D97-AF65-F5344CB8AC3E}">
        <p14:creationId xmlns:p14="http://schemas.microsoft.com/office/powerpoint/2010/main" val="56368510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51">
            <a:extLst xmlns:a="http://schemas.openxmlformats.org/drawingml/2006/main">
              <a:ext uri="{FF2B5EF4-FFF2-40B4-BE49-F238E27FC236}">
                <a16:creationId xmlns:a16="http://schemas.microsoft.com/office/drawing/2014/main" id="{E1EE3C71-73F5-40EA-80A0-8404BB94943F}"/>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Internal and external fragmentation</a:t>
            </a:r>
          </a:p>
        </p:txBody>
      </p:sp>
      <p:sp>
        <p:nvSpPr>
          <p:cNvPr id="2" name="text-52">
            <a:extLst xmlns:a="http://schemas.openxmlformats.org/drawingml/2006/main">
              <a:ext uri="{FF2B5EF4-FFF2-40B4-BE49-F238E27FC236}">
                <a16:creationId xmlns:a16="http://schemas.microsoft.com/office/drawing/2014/main" id="{0CE836FD-72A9-4341-B427-AC22CC04CFBA}"/>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location of unused memory determines whether another process can use it</a:t>
            </a:r>
          </a:p>
        </p:txBody>
      </p:sp>
      <p:sp>
        <p:nvSpPr>
          <p:cNvPr id="3" name="text-53">
            <a:extLst xmlns:a="http://schemas.openxmlformats.org/drawingml/2006/main">
              <a:ext uri="{FF2B5EF4-FFF2-40B4-BE49-F238E27FC236}">
                <a16:creationId xmlns:a16="http://schemas.microsoft.com/office/drawing/2014/main" id="{CD996520-15EB-44D9-9015-469942526A01}"/>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08</a:t>
            </a:r>
          </a:p>
        </p:txBody>
      </p:sp>
      <p:sp>
        <p:nvSpPr>
          <p:cNvPr id="4" name="text-54">
            <a:extLst xmlns:a="http://schemas.openxmlformats.org/drawingml/2006/main">
              <a:ext uri="{FF2B5EF4-FFF2-40B4-BE49-F238E27FC236}">
                <a16:creationId xmlns:a16="http://schemas.microsoft.com/office/drawing/2014/main" id="{9052C5A6-961A-4F02-99B7-E2F522E0AF98}"/>
              </a:ext>
            </a:extLst>
          </p:cNvPr>
          <p:cNvSpPr>
            <a:spLocks xmlns:a="http://schemas.openxmlformats.org/drawingml/2006/main" noGrp="1"/>
          </p:cNvSpPr>
          <p:nvPr/>
        </p:nvSpPr>
        <p:spPr>
          <a:xfrm xmlns:a="http://schemas.openxmlformats.org/drawingml/2006/main">
            <a:off x="609600" y="2066925"/>
            <a:ext cx="523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F172A"/>
                </a:solidFill>
                <a:latin typeface="Helvetica Neue"/>
                <a:ea typeface="Helvetica Neue"/>
                <a:cs typeface="Helvetica Neue"/>
              </a:defRPr>
            </a:defPPr>
          </a:lstStyle>
          <a:p xmlns:a="http://schemas.openxmlformats.org/drawingml/2006/main">
            <a:pPr algn="l">
              <a:defRPr sz="2325" b="1">
                <a:solidFill>
                  <a:srgbClr val="0F172A"/>
                </a:solidFill>
                <a:latin typeface="Helvetica Neue"/>
                <a:ea typeface="Helvetica Neue"/>
                <a:cs typeface="Helvetica Neue"/>
              </a:defRPr>
            </a:pPr>
            <a:r>
              <a:rPr sz="2325" b="1">
                <a:solidFill>
                  <a:srgbClr val="0F172A"/>
                </a:solidFill>
                <a:latin typeface="Helvetica Neue"/>
                <a:ea typeface="Helvetica Neue"/>
                <a:cs typeface="Helvetica Neue"/>
              </a:rPr>
              <a:t>Internal fragmentation</a:t>
            </a:r>
          </a:p>
        </p:txBody>
      </p:sp>
      <p:graphicFrame>
        <p:nvGraphicFramePr>
          <p:cNvPr id="5" name="Chart">
            <a:extLst xmlns:a="http://schemas.openxmlformats.org/drawingml/2006/main">
              <a:ext uri="{FF2B5EF4-FFF2-40B4-BE49-F238E27FC236}">
                <a16:creationId xmlns:a16="http://schemas.microsoft.com/office/drawing/2014/main" id="{55B14845-BF1F-46CF-8AAF-F3D70B6F4327}"/>
              </a:ext>
            </a:extLst>
          </p:cNvPr>
          <p:cNvGraphicFramePr/>
          <p:nvPr/>
        </p:nvGraphicFramePr>
        <p:xfrm>
          <a:off xmlns:a="http://schemas.openxmlformats.org/drawingml/2006/main" x="609600" y="2686050"/>
          <a:ext xmlns:a="http://schemas.openxmlformats.org/drawingml/2006/main" cx="5143500" cy="1123950"/>
        </p:xfrm>
        <a:graphic xmlns:a="http://schemas.openxmlformats.org/drawingml/2006/main">
          <a:graphicData uri="http://schemas.openxmlformats.org/drawingml/2006/chart">
            <c:chart xmlns:r="http://schemas.openxmlformats.org/officeDocument/2006/relationships" xmlns:c="http://schemas.openxmlformats.org/drawingml/2006/chart" r:id="R671d8e92b1de4f70"/>
          </a:graphicData>
        </a:graphic>
      </p:graphicFrame>
      <p:sp>
        <p:nvSpPr>
          <p:cNvPr id="6" name="text-55">
            <a:extLst xmlns:a="http://schemas.openxmlformats.org/drawingml/2006/main">
              <a:ext uri="{FF2B5EF4-FFF2-40B4-BE49-F238E27FC236}">
                <a16:creationId xmlns:a16="http://schemas.microsoft.com/office/drawing/2014/main" id="{09721341-0DC6-4A5C-89B4-BB1FE2EE854C}"/>
              </a:ext>
            </a:extLst>
          </p:cNvPr>
          <p:cNvSpPr>
            <a:spLocks xmlns:a="http://schemas.openxmlformats.org/drawingml/2006/main" noGrp="1"/>
          </p:cNvSpPr>
          <p:nvPr/>
        </p:nvSpPr>
        <p:spPr>
          <a:xfrm xmlns:a="http://schemas.openxmlformats.org/drawingml/2006/main">
            <a:off x="609600" y="41338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B45309"/>
                </a:solidFill>
                <a:latin typeface="Helvetica Neue"/>
                <a:ea typeface="Helvetica Neue"/>
                <a:cs typeface="Helvetica Neue"/>
              </a:defRPr>
            </a:defPPr>
          </a:lstStyle>
          <a:p xmlns:a="http://schemas.openxmlformats.org/drawingml/2006/main">
            <a:pPr algn="l">
              <a:defRPr sz="2175" b="1">
                <a:solidFill>
                  <a:srgbClr val="B45309"/>
                </a:solidFill>
                <a:latin typeface="Helvetica Neue"/>
                <a:ea typeface="Helvetica Neue"/>
                <a:cs typeface="Helvetica Neue"/>
              </a:defRPr>
            </a:pPr>
            <a:r>
              <a:rPr sz="2175" b="1">
                <a:solidFill>
                  <a:srgbClr val="B45309"/>
                </a:solidFill>
                <a:latin typeface="Helvetica Neue"/>
                <a:ea typeface="Helvetica Neue"/>
                <a:cs typeface="Helvetica Neue"/>
              </a:rPr>
              <a:t>Inside a reserved allocation</a:t>
            </a:r>
          </a:p>
        </p:txBody>
      </p:sp>
      <p:sp>
        <p:nvSpPr>
          <p:cNvPr id="7" name="text-56">
            <a:extLst xmlns:a="http://schemas.openxmlformats.org/drawingml/2006/main">
              <a:ext uri="{FF2B5EF4-FFF2-40B4-BE49-F238E27FC236}">
                <a16:creationId xmlns:a16="http://schemas.microsoft.com/office/drawing/2014/main" id="{AD34EBD9-3B42-44D7-BF77-93470D6DB5CB}"/>
              </a:ext>
            </a:extLst>
          </p:cNvPr>
          <p:cNvSpPr>
            <a:spLocks xmlns:a="http://schemas.openxmlformats.org/drawingml/2006/main" noGrp="1"/>
          </p:cNvSpPr>
          <p:nvPr/>
        </p:nvSpPr>
        <p:spPr>
          <a:xfrm xmlns:a="http://schemas.openxmlformats.org/drawingml/2006/main">
            <a:off x="609600" y="4781550"/>
            <a:ext cx="5238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47C"/>
                </a:solidFill>
                <a:latin typeface="Helvetica Neue"/>
                <a:ea typeface="Helvetica Neue"/>
                <a:cs typeface="Helvetica Neue"/>
              </a:defRPr>
            </a:defPPr>
          </a:lstStyle>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A 300 MB fixed partition holds a 200 MB process.</a:t>
            </a:r>
          </a:p>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The remaining 100 MB stays reserved.</a:t>
            </a:r>
          </a:p>
        </p:txBody>
      </p:sp>
      <p:sp>
        <p:nvSpPr>
          <p:cNvPr id="8" name="text-57">
            <a:extLst xmlns:a="http://schemas.openxmlformats.org/drawingml/2006/main">
              <a:ext uri="{FF2B5EF4-FFF2-40B4-BE49-F238E27FC236}">
                <a16:creationId xmlns:a16="http://schemas.microsoft.com/office/drawing/2014/main" id="{1B0806BC-C92C-47F8-B7E9-3333B138B452}"/>
              </a:ext>
            </a:extLst>
          </p:cNvPr>
          <p:cNvSpPr>
            <a:spLocks xmlns:a="http://schemas.openxmlformats.org/drawingml/2006/main" noGrp="1"/>
          </p:cNvSpPr>
          <p:nvPr/>
        </p:nvSpPr>
        <p:spPr>
          <a:xfrm xmlns:a="http://schemas.openxmlformats.org/drawingml/2006/main">
            <a:off x="6381750" y="2066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F172A"/>
                </a:solidFill>
                <a:latin typeface="Helvetica Neue"/>
                <a:ea typeface="Helvetica Neue"/>
                <a:cs typeface="Helvetica Neue"/>
              </a:defRPr>
            </a:defPPr>
          </a:lstStyle>
          <a:p xmlns:a="http://schemas.openxmlformats.org/drawingml/2006/main">
            <a:pPr algn="l">
              <a:defRPr sz="2325" b="1">
                <a:solidFill>
                  <a:srgbClr val="0F172A"/>
                </a:solidFill>
                <a:latin typeface="Helvetica Neue"/>
                <a:ea typeface="Helvetica Neue"/>
                <a:cs typeface="Helvetica Neue"/>
              </a:defRPr>
            </a:pPr>
            <a:r>
              <a:rPr sz="2325" b="1">
                <a:solidFill>
                  <a:srgbClr val="0F172A"/>
                </a:solidFill>
                <a:latin typeface="Helvetica Neue"/>
                <a:ea typeface="Helvetica Neue"/>
                <a:cs typeface="Helvetica Neue"/>
              </a:rPr>
              <a:t>External fragmentation</a:t>
            </a:r>
          </a:p>
        </p:txBody>
      </p:sp>
      <p:graphicFrame>
        <p:nvGraphicFramePr>
          <p:cNvPr id="9" name="Chart">
            <a:extLst xmlns:a="http://schemas.openxmlformats.org/drawingml/2006/main">
              <a:ext uri="{FF2B5EF4-FFF2-40B4-BE49-F238E27FC236}">
                <a16:creationId xmlns:a16="http://schemas.microsoft.com/office/drawing/2014/main" id="{F87CA41C-947B-4994-AC80-B7E044680A31}"/>
              </a:ext>
            </a:extLst>
          </p:cNvPr>
          <p:cNvGraphicFramePr/>
          <p:nvPr/>
        </p:nvGraphicFramePr>
        <p:xfrm>
          <a:off xmlns:a="http://schemas.openxmlformats.org/drawingml/2006/main" x="6381750" y="2686050"/>
          <a:ext xmlns:a="http://schemas.openxmlformats.org/drawingml/2006/main" cx="5143500" cy="1123950"/>
        </p:xfrm>
        <a:graphic xmlns:a="http://schemas.openxmlformats.org/drawingml/2006/main">
          <a:graphicData uri="http://schemas.openxmlformats.org/drawingml/2006/chart">
            <c:chart xmlns:r="http://schemas.openxmlformats.org/officeDocument/2006/relationships" xmlns:c="http://schemas.openxmlformats.org/drawingml/2006/chart" r:id="Ra9762748a7b545ab"/>
          </a:graphicData>
        </a:graphic>
      </p:graphicFrame>
      <p:sp>
        <p:nvSpPr>
          <p:cNvPr id="10" name="text-58">
            <a:extLst xmlns:a="http://schemas.openxmlformats.org/drawingml/2006/main">
              <a:ext uri="{FF2B5EF4-FFF2-40B4-BE49-F238E27FC236}">
                <a16:creationId xmlns:a16="http://schemas.microsoft.com/office/drawing/2014/main" id="{40507FB5-BC6E-4556-B76A-1304F8578C9A}"/>
              </a:ext>
            </a:extLst>
          </p:cNvPr>
          <p:cNvSpPr>
            <a:spLocks xmlns:a="http://schemas.openxmlformats.org/drawingml/2006/main" noGrp="1"/>
          </p:cNvSpPr>
          <p:nvPr/>
        </p:nvSpPr>
        <p:spPr>
          <a:xfrm xmlns:a="http://schemas.openxmlformats.org/drawingml/2006/main">
            <a:off x="6381750" y="41338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563EB"/>
                </a:solidFill>
                <a:latin typeface="Helvetica Neue"/>
                <a:ea typeface="Helvetica Neue"/>
                <a:cs typeface="Helvetica Neue"/>
              </a:defRPr>
            </a:defPPr>
          </a:lstStyle>
          <a:p xmlns:a="http://schemas.openxmlformats.org/drawingml/2006/main">
            <a:pPr algn="l">
              <a:defRPr sz="2175" b="1">
                <a:solidFill>
                  <a:srgbClr val="2563EB"/>
                </a:solidFill>
                <a:latin typeface="Helvetica Neue"/>
                <a:ea typeface="Helvetica Neue"/>
                <a:cs typeface="Helvetica Neue"/>
              </a:defRPr>
            </a:pPr>
            <a:r>
              <a:rPr sz="2175" b="1">
                <a:solidFill>
                  <a:srgbClr val="2563EB"/>
                </a:solidFill>
                <a:latin typeface="Helvetica Neue"/>
                <a:ea typeface="Helvetica Neue"/>
                <a:cs typeface="Helvetica Neue"/>
              </a:rPr>
              <a:t>Separate free holes</a:t>
            </a:r>
          </a:p>
        </p:txBody>
      </p:sp>
      <p:sp>
        <p:nvSpPr>
          <p:cNvPr id="11" name="text-59">
            <a:extLst xmlns:a="http://schemas.openxmlformats.org/drawingml/2006/main">
              <a:ext uri="{FF2B5EF4-FFF2-40B4-BE49-F238E27FC236}">
                <a16:creationId xmlns:a16="http://schemas.microsoft.com/office/drawing/2014/main" id="{A125C5A2-79DE-4154-8649-14350CA38B23}"/>
              </a:ext>
            </a:extLst>
          </p:cNvPr>
          <p:cNvSpPr>
            <a:spLocks xmlns:a="http://schemas.openxmlformats.org/drawingml/2006/main" noGrp="1"/>
          </p:cNvSpPr>
          <p:nvPr/>
        </p:nvSpPr>
        <p:spPr>
          <a:xfrm xmlns:a="http://schemas.openxmlformats.org/drawingml/2006/main">
            <a:off x="6381750" y="4781550"/>
            <a:ext cx="5143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47C"/>
                </a:solidFill>
                <a:latin typeface="Helvetica Neue"/>
                <a:ea typeface="Helvetica Neue"/>
                <a:cs typeface="Helvetica Neue"/>
              </a:defRPr>
            </a:defPPr>
          </a:lstStyle>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The 1,000 MB variable layout has 250, 250 and 50 MB free holes. Their sum is 550 MB.</a:t>
            </a:r>
          </a:p>
        </p:txBody>
      </p:sp>
    </p:spTree>
    <p:extLst>
      <p:ext uri="{BB962C8B-B14F-4D97-AF65-F5344CB8AC3E}">
        <p14:creationId xmlns:p14="http://schemas.microsoft.com/office/powerpoint/2010/main" val="1796011265"/>
      </p:ext>
    </p:extLst>
  </p:cSld>
</p:sld>
</file>

<file path=ppt/slides/slide9.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2" name="text-60">
            <a:extLst xmlns:a="http://schemas.openxmlformats.org/drawingml/2006/main">
              <a:ext uri="{FF2B5EF4-FFF2-40B4-BE49-F238E27FC236}">
                <a16:creationId xmlns:a16="http://schemas.microsoft.com/office/drawing/2014/main" id="{A60ED168-4060-4483-89EB-1A0ACDED843A}"/>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FFFFFF"/>
                </a:solidFill>
                <a:latin typeface="Helvetica Neue"/>
                <a:ea typeface="Helvetica Neue"/>
                <a:cs typeface="Helvetica Neue"/>
              </a:defRPr>
            </a:defPPr>
          </a:lstStyle>
          <a:p xmlns:a="http://schemas.openxmlformats.org/drawingml/2006/main">
            <a:pPr algn="l">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A 400 MB request fails with 550 MB free</a:t>
            </a:r>
          </a:p>
        </p:txBody>
      </p:sp>
      <p:sp>
        <p:nvSpPr>
          <p:cNvPr id="2" name="text-61">
            <a:extLst xmlns:a="http://schemas.openxmlformats.org/drawingml/2006/main">
              <a:ext uri="{FF2B5EF4-FFF2-40B4-BE49-F238E27FC236}">
                <a16:creationId xmlns:a16="http://schemas.microsoft.com/office/drawing/2014/main" id="{059F2A20-012D-4C21-BA08-C7EACEDD0D9C}"/>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B8C6DF"/>
                </a:solidFill>
                <a:latin typeface="Helvetica Neue"/>
                <a:ea typeface="Helvetica Neue"/>
                <a:cs typeface="Helvetica Neue"/>
              </a:defRPr>
            </a:defPPr>
          </a:lstStyle>
          <a:p xmlns:a="http://schemas.openxmlformats.org/drawingml/2006/main">
            <a:pPr algn="l">
              <a:defRPr sz="1950" b="0">
                <a:solidFill>
                  <a:srgbClr val="B8C6DF"/>
                </a:solidFill>
                <a:latin typeface="Helvetica Neue"/>
                <a:ea typeface="Helvetica Neue"/>
                <a:cs typeface="Helvetica Neue"/>
              </a:defRPr>
            </a:pPr>
            <a:r>
              <a:rPr sz="1950" b="0">
                <a:solidFill>
                  <a:srgbClr val="B8C6DF"/>
                </a:solidFill>
                <a:latin typeface="Helvetica Neue"/>
                <a:ea typeface="Helvetica Neue"/>
                <a:cs typeface="Helvetica Neue"/>
              </a:rPr>
              <a:t>A contiguous request must fit inside a single free hole</a:t>
            </a:r>
          </a:p>
        </p:txBody>
      </p:sp>
      <p:sp>
        <p:nvSpPr>
          <p:cNvPr id="3" name="text-62">
            <a:extLst xmlns:a="http://schemas.openxmlformats.org/drawingml/2006/main">
              <a:ext uri="{FF2B5EF4-FFF2-40B4-BE49-F238E27FC236}">
                <a16:creationId xmlns:a16="http://schemas.microsoft.com/office/drawing/2014/main" id="{606E9E68-1729-4320-9F2E-1CC95DF8050B}"/>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8CA1C5"/>
                </a:solidFill>
                <a:latin typeface="Helvetica Neue"/>
                <a:ea typeface="Helvetica Neue"/>
                <a:cs typeface="Helvetica Neue"/>
              </a:defRPr>
            </a:defPPr>
          </a:lstStyle>
          <a:p xmlns:a="http://schemas.openxmlformats.org/drawingml/2006/main">
            <a:pPr algn="r">
              <a:defRPr sz="1275" b="0">
                <a:solidFill>
                  <a:srgbClr val="8CA1C5"/>
                </a:solidFill>
                <a:latin typeface="Helvetica Neue"/>
                <a:ea typeface="Helvetica Neue"/>
                <a:cs typeface="Helvetica Neue"/>
              </a:defRPr>
            </a:pPr>
            <a:r>
              <a:rPr sz="1275" b="0">
                <a:solidFill>
                  <a:srgbClr val="8CA1C5"/>
                </a:solidFill>
                <a:latin typeface="Helvetica Neue"/>
                <a:ea typeface="Helvetica Neue"/>
                <a:cs typeface="Helvetica Neue"/>
              </a:rPr>
              <a:t>09</a:t>
            </a:r>
          </a:p>
        </p:txBody>
      </p:sp>
      <p:sp>
        <p:nvSpPr>
          <p:cNvPr id="4" name="text-63">
            <a:extLst xmlns:a="http://schemas.openxmlformats.org/drawingml/2006/main">
              <a:ext uri="{FF2B5EF4-FFF2-40B4-BE49-F238E27FC236}">
                <a16:creationId xmlns:a16="http://schemas.microsoft.com/office/drawing/2014/main" id="{E226F3C0-CECE-4F76-BC71-9285C690203E}"/>
              </a:ext>
            </a:extLst>
          </p:cNvPr>
          <p:cNvSpPr>
            <a:spLocks xmlns:a="http://schemas.openxmlformats.org/drawingml/2006/main" noGrp="1"/>
          </p:cNvSpPr>
          <p:nvPr/>
        </p:nvSpPr>
        <p:spPr>
          <a:xfrm xmlns:a="http://schemas.openxmlformats.org/drawingml/2006/main">
            <a:off x="609600" y="22288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Helvetica Neue"/>
                <a:ea typeface="Helvetica Neue"/>
                <a:cs typeface="Helvetica Neue"/>
              </a:defRPr>
            </a:defPPr>
          </a:lstStyle>
          <a:p xmlns:a="http://schemas.openxmlformats.org/drawingml/2006/main">
            <a:pPr algn="l">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550 MB</a:t>
            </a:r>
          </a:p>
        </p:txBody>
      </p:sp>
      <p:sp>
        <p:nvSpPr>
          <p:cNvPr id="5" name="text-64">
            <a:extLst xmlns:a="http://schemas.openxmlformats.org/drawingml/2006/main">
              <a:ext uri="{FF2B5EF4-FFF2-40B4-BE49-F238E27FC236}">
                <a16:creationId xmlns:a16="http://schemas.microsoft.com/office/drawing/2014/main" id="{5FC8BABB-BD24-4E31-B09B-2A41D8DBA3F4}"/>
              </a:ext>
            </a:extLst>
          </p:cNvPr>
          <p:cNvSpPr>
            <a:spLocks xmlns:a="http://schemas.openxmlformats.org/drawingml/2006/main" noGrp="1"/>
          </p:cNvSpPr>
          <p:nvPr/>
        </p:nvSpPr>
        <p:spPr>
          <a:xfrm xmlns:a="http://schemas.openxmlformats.org/drawingml/2006/main">
            <a:off x="609600" y="309562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8C6DF"/>
                </a:solidFill>
                <a:latin typeface="Helvetica Neue"/>
                <a:ea typeface="Helvetica Neue"/>
                <a:cs typeface="Helvetica Neue"/>
              </a:defRPr>
            </a:defPPr>
          </a:lstStyle>
          <a:p xmlns:a="http://schemas.openxmlformats.org/drawingml/2006/main">
            <a:pPr algn="l">
              <a:defRPr sz="1800" b="0">
                <a:solidFill>
                  <a:srgbClr val="B8C6DF"/>
                </a:solidFill>
                <a:latin typeface="Helvetica Neue"/>
                <a:ea typeface="Helvetica Neue"/>
                <a:cs typeface="Helvetica Neue"/>
              </a:defRPr>
            </a:pPr>
            <a:r>
              <a:rPr sz="1800" b="0">
                <a:solidFill>
                  <a:srgbClr val="B8C6DF"/>
                </a:solidFill>
                <a:latin typeface="Helvetica Neue"/>
                <a:ea typeface="Helvetica Neue"/>
                <a:cs typeface="Helvetica Neue"/>
              </a:rPr>
              <a:t>Total free</a:t>
            </a:r>
          </a:p>
        </p:txBody>
      </p:sp>
      <p:sp>
        <p:nvSpPr>
          <p:cNvPr id="6" name="text-65">
            <a:extLst xmlns:a="http://schemas.openxmlformats.org/drawingml/2006/main">
              <a:ext uri="{FF2B5EF4-FFF2-40B4-BE49-F238E27FC236}">
                <a16:creationId xmlns:a16="http://schemas.microsoft.com/office/drawing/2014/main" id="{3851AE64-D53F-4FDF-BDB7-D7D5334674B8}"/>
              </a:ext>
            </a:extLst>
          </p:cNvPr>
          <p:cNvSpPr>
            <a:spLocks xmlns:a="http://schemas.openxmlformats.org/drawingml/2006/main" noGrp="1"/>
          </p:cNvSpPr>
          <p:nvPr/>
        </p:nvSpPr>
        <p:spPr>
          <a:xfrm xmlns:a="http://schemas.openxmlformats.org/drawingml/2006/main">
            <a:off x="4324350" y="22288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Helvetica Neue"/>
                <a:ea typeface="Helvetica Neue"/>
                <a:cs typeface="Helvetica Neue"/>
              </a:defRPr>
            </a:defPPr>
          </a:lstStyle>
          <a:p xmlns:a="http://schemas.openxmlformats.org/drawingml/2006/main">
            <a:pPr algn="l">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250 MB</a:t>
            </a:r>
          </a:p>
        </p:txBody>
      </p:sp>
      <p:sp>
        <p:nvSpPr>
          <p:cNvPr id="7" name="text-66">
            <a:extLst xmlns:a="http://schemas.openxmlformats.org/drawingml/2006/main">
              <a:ext uri="{FF2B5EF4-FFF2-40B4-BE49-F238E27FC236}">
                <a16:creationId xmlns:a16="http://schemas.microsoft.com/office/drawing/2014/main" id="{83776400-36EC-4D38-A7D1-7399A5810611}"/>
              </a:ext>
            </a:extLst>
          </p:cNvPr>
          <p:cNvSpPr>
            <a:spLocks xmlns:a="http://schemas.openxmlformats.org/drawingml/2006/main" noGrp="1"/>
          </p:cNvSpPr>
          <p:nvPr/>
        </p:nvSpPr>
        <p:spPr>
          <a:xfrm xmlns:a="http://schemas.openxmlformats.org/drawingml/2006/main">
            <a:off x="4324350" y="309562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8C6DF"/>
                </a:solidFill>
                <a:latin typeface="Helvetica Neue"/>
                <a:ea typeface="Helvetica Neue"/>
                <a:cs typeface="Helvetica Neue"/>
              </a:defRPr>
            </a:defPPr>
          </a:lstStyle>
          <a:p xmlns:a="http://schemas.openxmlformats.org/drawingml/2006/main">
            <a:pPr algn="l">
              <a:defRPr sz="1800" b="0">
                <a:solidFill>
                  <a:srgbClr val="B8C6DF"/>
                </a:solidFill>
                <a:latin typeface="Helvetica Neue"/>
                <a:ea typeface="Helvetica Neue"/>
                <a:cs typeface="Helvetica Neue"/>
              </a:defRPr>
            </a:pPr>
            <a:r>
              <a:rPr sz="1800" b="0">
                <a:solidFill>
                  <a:srgbClr val="B8C6DF"/>
                </a:solidFill>
                <a:latin typeface="Helvetica Neue"/>
                <a:ea typeface="Helvetica Neue"/>
                <a:cs typeface="Helvetica Neue"/>
              </a:rPr>
              <a:t>Largest hole</a:t>
            </a:r>
          </a:p>
        </p:txBody>
      </p:sp>
      <p:sp>
        <p:nvSpPr>
          <p:cNvPr id="8" name="text-67">
            <a:extLst xmlns:a="http://schemas.openxmlformats.org/drawingml/2006/main">
              <a:ext uri="{FF2B5EF4-FFF2-40B4-BE49-F238E27FC236}">
                <a16:creationId xmlns:a16="http://schemas.microsoft.com/office/drawing/2014/main" id="{A47D3F06-FD7E-4111-B7B7-49826EF0C384}"/>
              </a:ext>
            </a:extLst>
          </p:cNvPr>
          <p:cNvSpPr>
            <a:spLocks xmlns:a="http://schemas.openxmlformats.org/drawingml/2006/main" noGrp="1"/>
          </p:cNvSpPr>
          <p:nvPr/>
        </p:nvSpPr>
        <p:spPr>
          <a:xfrm xmlns:a="http://schemas.openxmlformats.org/drawingml/2006/main">
            <a:off x="8039100" y="2228850"/>
            <a:ext cx="3524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BBF24"/>
                </a:solidFill>
                <a:latin typeface="Helvetica Neue"/>
                <a:ea typeface="Helvetica Neue"/>
                <a:cs typeface="Helvetica Neue"/>
              </a:defRPr>
            </a:defPPr>
          </a:lstStyle>
          <a:p xmlns:a="http://schemas.openxmlformats.org/drawingml/2006/main">
            <a:pPr algn="l">
              <a:defRPr sz="4350" b="1">
                <a:solidFill>
                  <a:srgbClr val="FBBF24"/>
                </a:solidFill>
                <a:latin typeface="Helvetica Neue"/>
                <a:ea typeface="Helvetica Neue"/>
                <a:cs typeface="Helvetica Neue"/>
              </a:defRPr>
            </a:pPr>
            <a:r>
              <a:rPr sz="4350" b="1">
                <a:solidFill>
                  <a:srgbClr val="FBBF24"/>
                </a:solidFill>
                <a:latin typeface="Helvetica Neue"/>
                <a:ea typeface="Helvetica Neue"/>
                <a:cs typeface="Helvetica Neue"/>
              </a:rPr>
              <a:t>400 MB</a:t>
            </a:r>
          </a:p>
        </p:txBody>
      </p:sp>
      <p:sp>
        <p:nvSpPr>
          <p:cNvPr id="9" name="text-68">
            <a:extLst xmlns:a="http://schemas.openxmlformats.org/drawingml/2006/main">
              <a:ext uri="{FF2B5EF4-FFF2-40B4-BE49-F238E27FC236}">
                <a16:creationId xmlns:a16="http://schemas.microsoft.com/office/drawing/2014/main" id="{45D23646-780C-486E-85FA-3C9BD57D0ED6}"/>
              </a:ext>
            </a:extLst>
          </p:cNvPr>
          <p:cNvSpPr>
            <a:spLocks xmlns:a="http://schemas.openxmlformats.org/drawingml/2006/main" noGrp="1"/>
          </p:cNvSpPr>
          <p:nvPr/>
        </p:nvSpPr>
        <p:spPr>
          <a:xfrm xmlns:a="http://schemas.openxmlformats.org/drawingml/2006/main">
            <a:off x="8039100" y="3095625"/>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B8C6DF"/>
                </a:solidFill>
                <a:latin typeface="Helvetica Neue"/>
                <a:ea typeface="Helvetica Neue"/>
                <a:cs typeface="Helvetica Neue"/>
              </a:defRPr>
            </a:defPPr>
          </a:lstStyle>
          <a:p xmlns:a="http://schemas.openxmlformats.org/drawingml/2006/main">
            <a:pPr algn="l">
              <a:defRPr sz="1800" b="0">
                <a:solidFill>
                  <a:srgbClr val="B8C6DF"/>
                </a:solidFill>
                <a:latin typeface="Helvetica Neue"/>
                <a:ea typeface="Helvetica Neue"/>
                <a:cs typeface="Helvetica Neue"/>
              </a:defRPr>
            </a:pPr>
            <a:r>
              <a:rPr sz="1800" b="0">
                <a:solidFill>
                  <a:srgbClr val="B8C6DF"/>
                </a:solidFill>
                <a:latin typeface="Helvetica Neue"/>
                <a:ea typeface="Helvetica Neue"/>
                <a:cs typeface="Helvetica Neue"/>
              </a:rPr>
              <a:t>P6 request</a:t>
            </a:r>
          </a:p>
        </p:txBody>
      </p:sp>
      <p:graphicFrame>
        <p:nvGraphicFramePr>
          <p:cNvPr id="10" name="Chart">
            <a:extLst xmlns:a="http://schemas.openxmlformats.org/drawingml/2006/main">
              <a:ext uri="{FF2B5EF4-FFF2-40B4-BE49-F238E27FC236}">
                <a16:creationId xmlns:a16="http://schemas.microsoft.com/office/drawing/2014/main" id="{5A9C4F6C-A615-419E-9D61-CB9F023983A9}"/>
              </a:ext>
            </a:extLst>
          </p:cNvPr>
          <p:cNvGraphicFramePr/>
          <p:nvPr/>
        </p:nvGraphicFramePr>
        <p:xfrm>
          <a:off xmlns:a="http://schemas.openxmlformats.org/drawingml/2006/main" x="609600" y="4048125"/>
          <a:ext xmlns:a="http://schemas.openxmlformats.org/drawingml/2006/main" cx="10953750" cy="1123950"/>
        </p:xfrm>
        <a:graphic xmlns:a="http://schemas.openxmlformats.org/drawingml/2006/main">
          <a:graphicData uri="http://schemas.openxmlformats.org/drawingml/2006/chart">
            <c:chart xmlns:r="http://schemas.openxmlformats.org/officeDocument/2006/relationships" xmlns:c="http://schemas.openxmlformats.org/drawingml/2006/chart" r:id="Rf8b4f9391c5e4dfa"/>
          </a:graphicData>
        </a:graphic>
      </p:graphicFrame>
      <p:sp>
        <p:nvSpPr>
          <p:cNvPr id="11" name="text-69">
            <a:extLst xmlns:a="http://schemas.openxmlformats.org/drawingml/2006/main">
              <a:ext uri="{FF2B5EF4-FFF2-40B4-BE49-F238E27FC236}">
                <a16:creationId xmlns:a16="http://schemas.microsoft.com/office/drawing/2014/main" id="{5859CB06-D040-4FFB-95C5-21DE80CCC8D4}"/>
              </a:ext>
            </a:extLst>
          </p:cNvPr>
          <p:cNvSpPr>
            <a:spLocks xmlns:a="http://schemas.openxmlformats.org/drawingml/2006/main" noGrp="1"/>
          </p:cNvSpPr>
          <p:nvPr/>
        </p:nvSpPr>
        <p:spPr>
          <a:xfrm xmlns:a="http://schemas.openxmlformats.org/drawingml/2006/main">
            <a:off x="609600" y="55721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E2E8F0"/>
                </a:solidFill>
                <a:latin typeface="Helvetica Neue"/>
                <a:ea typeface="Helvetica Neue"/>
                <a:cs typeface="Helvetica Neue"/>
              </a:defRPr>
            </a:defPPr>
          </a:lstStyle>
          <a:p xmlns:a="http://schemas.openxmlformats.org/drawingml/2006/main">
            <a:pPr algn="l">
              <a:defRPr sz="2250" b="0">
                <a:solidFill>
                  <a:srgbClr val="E2E8F0"/>
                </a:solidFill>
                <a:latin typeface="Helvetica Neue"/>
                <a:ea typeface="Helvetica Neue"/>
                <a:cs typeface="Helvetica Neue"/>
              </a:defRPr>
            </a:pPr>
            <a:r>
              <a:rPr sz="2250" b="0">
                <a:solidFill>
                  <a:srgbClr val="E2E8F0"/>
                </a:solidFill>
                <a:latin typeface="Helvetica Neue"/>
                <a:ea typeface="Helvetica Neue"/>
                <a:cs typeface="Helvetica Neue"/>
              </a:rPr>
              <a:t>Free holes: 250, 250 and 50 MB. P6 needs one 400 MB region.</a:t>
            </a:r>
          </a:p>
        </p:txBody>
      </p:sp>
    </p:spTree>
    <p:extLst>
      <p:ext uri="{BB962C8B-B14F-4D97-AF65-F5344CB8AC3E}">
        <p14:creationId xmlns:p14="http://schemas.microsoft.com/office/powerpoint/2010/main" val="101006666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70">
            <a:extLst xmlns:a="http://schemas.openxmlformats.org/drawingml/2006/main">
              <a:ext uri="{FF2B5EF4-FFF2-40B4-BE49-F238E27FC236}">
                <a16:creationId xmlns:a16="http://schemas.microsoft.com/office/drawing/2014/main" id="{C4A54836-CB8E-4192-8843-E49A208CEF7D}"/>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Compaction and successful retry</a:t>
            </a:r>
          </a:p>
        </p:txBody>
      </p:sp>
      <p:sp>
        <p:nvSpPr>
          <p:cNvPr id="2" name="text-71">
            <a:extLst xmlns:a="http://schemas.openxmlformats.org/drawingml/2006/main">
              <a:ext uri="{FF2B5EF4-FFF2-40B4-BE49-F238E27FC236}">
                <a16:creationId xmlns:a16="http://schemas.microsoft.com/office/drawing/2014/main" id="{55C9238F-DD6B-42B6-8D04-410471905A3A}"/>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layout changes while total free memory stays constant</a:t>
            </a:r>
          </a:p>
        </p:txBody>
      </p:sp>
      <p:sp>
        <p:nvSpPr>
          <p:cNvPr id="3" name="text-72">
            <a:extLst xmlns:a="http://schemas.openxmlformats.org/drawingml/2006/main">
              <a:ext uri="{FF2B5EF4-FFF2-40B4-BE49-F238E27FC236}">
                <a16:creationId xmlns:a16="http://schemas.microsoft.com/office/drawing/2014/main" id="{BB8AC4E3-C742-4768-9007-7AADE9FBAD59}"/>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10</a:t>
            </a:r>
          </a:p>
        </p:txBody>
      </p:sp>
      <p:sp>
        <p:nvSpPr>
          <p:cNvPr id="4" name="text-73">
            <a:extLst xmlns:a="http://schemas.openxmlformats.org/drawingml/2006/main">
              <a:ext uri="{FF2B5EF4-FFF2-40B4-BE49-F238E27FC236}">
                <a16:creationId xmlns:a16="http://schemas.microsoft.com/office/drawing/2014/main" id="{0757ACE7-C092-4AA1-8FF4-43B2AB42D2B4}"/>
              </a:ext>
            </a:extLst>
          </p:cNvPr>
          <p:cNvSpPr>
            <a:spLocks xmlns:a="http://schemas.openxmlformats.org/drawingml/2006/main" noGrp="1"/>
          </p:cNvSpPr>
          <p:nvPr/>
        </p:nvSpPr>
        <p:spPr>
          <a:xfrm xmlns:a="http://schemas.openxmlformats.org/drawingml/2006/main">
            <a:off x="609600" y="19526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F172A"/>
                </a:solidFill>
                <a:latin typeface="Helvetica Neue"/>
                <a:ea typeface="Helvetica Neue"/>
                <a:cs typeface="Helvetica Neue"/>
              </a:defRPr>
            </a:defPPr>
          </a:lstStyle>
          <a:p xmlns:a="http://schemas.openxmlformats.org/drawingml/2006/main">
            <a:pPr algn="l">
              <a:defRPr sz="2025" b="1">
                <a:solidFill>
                  <a:srgbClr val="0F172A"/>
                </a:solidFill>
                <a:latin typeface="Helvetica Neue"/>
                <a:ea typeface="Helvetica Neue"/>
                <a:cs typeface="Helvetica Neue"/>
              </a:defRPr>
            </a:pPr>
            <a:r>
              <a:rPr sz="2025" b="1">
                <a:solidFill>
                  <a:srgbClr val="0F172A"/>
                </a:solidFill>
                <a:latin typeface="Helvetica Neue"/>
                <a:ea typeface="Helvetica Neue"/>
                <a:cs typeface="Helvetica Neue"/>
              </a:rPr>
              <a:t>Before compaction</a:t>
            </a:r>
          </a:p>
        </p:txBody>
      </p:sp>
      <p:graphicFrame>
        <p:nvGraphicFramePr>
          <p:cNvPr id="5" name="Chart">
            <a:extLst xmlns:a="http://schemas.openxmlformats.org/drawingml/2006/main">
              <a:ext uri="{FF2B5EF4-FFF2-40B4-BE49-F238E27FC236}">
                <a16:creationId xmlns:a16="http://schemas.microsoft.com/office/drawing/2014/main" id="{9EA202A6-806F-4836-A184-11B761469FE1}"/>
              </a:ext>
            </a:extLst>
          </p:cNvPr>
          <p:cNvGraphicFramePr/>
          <p:nvPr/>
        </p:nvGraphicFramePr>
        <p:xfrm>
          <a:off xmlns:a="http://schemas.openxmlformats.org/drawingml/2006/main" x="609600" y="2333625"/>
          <a:ext xmlns:a="http://schemas.openxmlformats.org/drawingml/2006/main" cx="10953750" cy="847725"/>
        </p:xfrm>
        <a:graphic xmlns:a="http://schemas.openxmlformats.org/drawingml/2006/main">
          <a:graphicData uri="http://schemas.openxmlformats.org/drawingml/2006/chart">
            <c:chart xmlns:r="http://schemas.openxmlformats.org/officeDocument/2006/relationships" xmlns:c="http://schemas.openxmlformats.org/drawingml/2006/chart" r:id="R9664bbc4eef04c7b"/>
          </a:graphicData>
        </a:graphic>
      </p:graphicFrame>
      <p:sp>
        <p:nvSpPr>
          <p:cNvPr id="6" name="text-74">
            <a:extLst xmlns:a="http://schemas.openxmlformats.org/drawingml/2006/main">
              <a:ext uri="{FF2B5EF4-FFF2-40B4-BE49-F238E27FC236}">
                <a16:creationId xmlns:a16="http://schemas.microsoft.com/office/drawing/2014/main" id="{190497B8-A510-4B24-A84E-C6E13763D7E9}"/>
              </a:ext>
            </a:extLst>
          </p:cNvPr>
          <p:cNvSpPr>
            <a:spLocks xmlns:a="http://schemas.openxmlformats.org/drawingml/2006/main" noGrp="1"/>
          </p:cNvSpPr>
          <p:nvPr/>
        </p:nvSpPr>
        <p:spPr>
          <a:xfrm xmlns:a="http://schemas.openxmlformats.org/drawingml/2006/main">
            <a:off x="609600" y="3409950"/>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563EB"/>
                </a:solidFill>
                <a:latin typeface="Helvetica Neue"/>
                <a:ea typeface="Helvetica Neue"/>
                <a:cs typeface="Helvetica Neue"/>
              </a:defRPr>
            </a:defPPr>
          </a:lstStyle>
          <a:p xmlns:a="http://schemas.openxmlformats.org/drawingml/2006/main">
            <a:pPr algn="l">
              <a:defRPr sz="2025" b="1">
                <a:solidFill>
                  <a:srgbClr val="2563EB"/>
                </a:solidFill>
                <a:latin typeface="Helvetica Neue"/>
                <a:ea typeface="Helvetica Neue"/>
                <a:cs typeface="Helvetica Neue"/>
              </a:defRPr>
            </a:pPr>
            <a:r>
              <a:rPr sz="2025" b="1">
                <a:solidFill>
                  <a:srgbClr val="2563EB"/>
                </a:solidFill>
                <a:latin typeface="Helvetica Neue"/>
                <a:ea typeface="Helvetica Neue"/>
                <a:cs typeface="Helvetica Neue"/>
              </a:rPr>
              <a:t>After compaction: one 550 MB hole</a:t>
            </a:r>
          </a:p>
        </p:txBody>
      </p:sp>
      <p:graphicFrame>
        <p:nvGraphicFramePr>
          <p:cNvPr id="7" name="Chart">
            <a:extLst xmlns:a="http://schemas.openxmlformats.org/drawingml/2006/main">
              <a:ext uri="{FF2B5EF4-FFF2-40B4-BE49-F238E27FC236}">
                <a16:creationId xmlns:a16="http://schemas.microsoft.com/office/drawing/2014/main" id="{6EBAE681-D7A8-4E77-B3C3-0BAB428D33B8}"/>
              </a:ext>
            </a:extLst>
          </p:cNvPr>
          <p:cNvGraphicFramePr/>
          <p:nvPr/>
        </p:nvGraphicFramePr>
        <p:xfrm>
          <a:off xmlns:a="http://schemas.openxmlformats.org/drawingml/2006/main" x="609600" y="3790950"/>
          <a:ext xmlns:a="http://schemas.openxmlformats.org/drawingml/2006/main" cx="10953750" cy="847725"/>
        </p:xfrm>
        <a:graphic xmlns:a="http://schemas.openxmlformats.org/drawingml/2006/main">
          <a:graphicData uri="http://schemas.openxmlformats.org/drawingml/2006/chart">
            <c:chart xmlns:r="http://schemas.openxmlformats.org/officeDocument/2006/relationships" xmlns:c="http://schemas.openxmlformats.org/drawingml/2006/chart" r:id="R4666e379ab894410"/>
          </a:graphicData>
        </a:graphic>
      </p:graphicFrame>
      <p:sp>
        <p:nvSpPr>
          <p:cNvPr id="8" name="text-75">
            <a:extLst xmlns:a="http://schemas.openxmlformats.org/drawingml/2006/main">
              <a:ext uri="{FF2B5EF4-FFF2-40B4-BE49-F238E27FC236}">
                <a16:creationId xmlns:a16="http://schemas.microsoft.com/office/drawing/2014/main" id="{105FE46B-F7C6-4DE0-BA95-5312FAAF370E}"/>
              </a:ext>
            </a:extLst>
          </p:cNvPr>
          <p:cNvSpPr>
            <a:spLocks xmlns:a="http://schemas.openxmlformats.org/drawingml/2006/main" noGrp="1"/>
          </p:cNvSpPr>
          <p:nvPr/>
        </p:nvSpPr>
        <p:spPr>
          <a:xfrm xmlns:a="http://schemas.openxmlformats.org/drawingml/2006/main">
            <a:off x="609600" y="486727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0F172A"/>
                </a:solidFill>
                <a:latin typeface="Helvetica Neue"/>
                <a:ea typeface="Helvetica Neue"/>
                <a:cs typeface="Helvetica Neue"/>
              </a:defRPr>
            </a:defPPr>
          </a:lstStyle>
          <a:p xmlns:a="http://schemas.openxmlformats.org/drawingml/2006/main">
            <a:pPr algn="l">
              <a:defRPr sz="2025" b="1">
                <a:solidFill>
                  <a:srgbClr val="0F172A"/>
                </a:solidFill>
                <a:latin typeface="Helvetica Neue"/>
                <a:ea typeface="Helvetica Neue"/>
                <a:cs typeface="Helvetica Neue"/>
              </a:defRPr>
            </a:pPr>
            <a:r>
              <a:rPr sz="2025" b="1">
                <a:solidFill>
                  <a:srgbClr val="0F172A"/>
                </a:solidFill>
                <a:latin typeface="Helvetica Neue"/>
                <a:ea typeface="Helvetica Neue"/>
                <a:cs typeface="Helvetica Neue"/>
              </a:rPr>
              <a:t>After retry: 850 MB allocated, 150 MB free</a:t>
            </a:r>
          </a:p>
        </p:txBody>
      </p:sp>
      <p:graphicFrame>
        <p:nvGraphicFramePr>
          <p:cNvPr id="9" name="Chart">
            <a:extLst xmlns:a="http://schemas.openxmlformats.org/drawingml/2006/main">
              <a:ext uri="{FF2B5EF4-FFF2-40B4-BE49-F238E27FC236}">
                <a16:creationId xmlns:a16="http://schemas.microsoft.com/office/drawing/2014/main" id="{4A31ECAD-E4B6-497C-921A-F691BDD19A00}"/>
              </a:ext>
            </a:extLst>
          </p:cNvPr>
          <p:cNvGraphicFramePr/>
          <p:nvPr/>
        </p:nvGraphicFramePr>
        <p:xfrm>
          <a:off xmlns:a="http://schemas.openxmlformats.org/drawingml/2006/main" x="609600" y="5248275"/>
          <a:ext xmlns:a="http://schemas.openxmlformats.org/drawingml/2006/main" cx="10953750" cy="847725"/>
        </p:xfrm>
        <a:graphic xmlns:a="http://schemas.openxmlformats.org/drawingml/2006/main">
          <a:graphicData uri="http://schemas.openxmlformats.org/drawingml/2006/chart">
            <c:chart xmlns:r="http://schemas.openxmlformats.org/officeDocument/2006/relationships" xmlns:c="http://schemas.openxmlformats.org/drawingml/2006/chart" r:id="Rbae1ada8192f4e48"/>
          </a:graphicData>
        </a:graphic>
      </p:graphicFrame>
    </p:spTree>
    <p:extLst>
      <p:ext uri="{BB962C8B-B14F-4D97-AF65-F5344CB8AC3E}">
        <p14:creationId xmlns:p14="http://schemas.microsoft.com/office/powerpoint/2010/main" val="1247901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76">
            <a:extLst xmlns:a="http://schemas.openxmlformats.org/drawingml/2006/main">
              <a:ext uri="{FF2B5EF4-FFF2-40B4-BE49-F238E27FC236}">
                <a16:creationId xmlns:a16="http://schemas.microsoft.com/office/drawing/2014/main" id="{491135A8-FA36-4E2C-82E1-18AC8057B167}"/>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Algorithm comparison results</a:t>
            </a:r>
          </a:p>
        </p:txBody>
      </p:sp>
      <p:sp>
        <p:nvSpPr>
          <p:cNvPr id="2" name="text-77">
            <a:extLst xmlns:a="http://schemas.openxmlformats.org/drawingml/2006/main">
              <a:ext uri="{FF2B5EF4-FFF2-40B4-BE49-F238E27FC236}">
                <a16:creationId xmlns:a16="http://schemas.microsoft.com/office/drawing/2014/main" id="{278D35C8-CE43-4624-ABBA-8AD8825A9677}"/>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Variable mode with the classic requests 212, 417, 112 and 426 MB</a:t>
            </a:r>
          </a:p>
        </p:txBody>
      </p:sp>
      <p:sp>
        <p:nvSpPr>
          <p:cNvPr id="3" name="text-78">
            <a:extLst xmlns:a="http://schemas.openxmlformats.org/drawingml/2006/main">
              <a:ext uri="{FF2B5EF4-FFF2-40B4-BE49-F238E27FC236}">
                <a16:creationId xmlns:a16="http://schemas.microsoft.com/office/drawing/2014/main" id="{B2FD53F3-ACB3-41ED-B323-F22B2C5CF466}"/>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11</a:t>
            </a:r>
          </a:p>
        </p:txBody>
      </p:sp>
      <p:graphicFrame>
        <p:nvGraphicFramePr>
          <p:cNvPr id="4" name="Chart">
            <a:extLst xmlns:a="http://schemas.openxmlformats.org/drawingml/2006/main">
              <a:ext uri="{FF2B5EF4-FFF2-40B4-BE49-F238E27FC236}">
                <a16:creationId xmlns:a16="http://schemas.microsoft.com/office/drawing/2014/main" id="{06FCFE47-79F0-4E54-BF60-FDD3D886DBC2}"/>
              </a:ext>
            </a:extLst>
          </p:cNvPr>
          <p:cNvGraphicFramePr/>
          <p:nvPr/>
        </p:nvGraphicFramePr>
        <p:xfrm>
          <a:off xmlns:a="http://schemas.openxmlformats.org/drawingml/2006/main" x="495300" y="2095500"/>
          <a:ext xmlns:a="http://schemas.openxmlformats.org/drawingml/2006/main" cx="5476875" cy="3228975"/>
        </p:xfrm>
        <a:graphic xmlns:a="http://schemas.openxmlformats.org/drawingml/2006/main">
          <a:graphicData uri="http://schemas.openxmlformats.org/drawingml/2006/chart">
            <c:chart xmlns:r="http://schemas.openxmlformats.org/officeDocument/2006/relationships" xmlns:c="http://schemas.openxmlformats.org/drawingml/2006/chart" r:id="R3d49e1fff2bd4445"/>
          </a:graphicData>
        </a:graphic>
      </p:graphicFrame>
      <p:graphicFrame>
        <p:nvGraphicFramePr>
          <p:cNvPr id="5" name="">
            <a:extLst xmlns:a="http://schemas.openxmlformats.org/drawingml/2006/main">
              <a:ext uri="{FF2B5EF4-FFF2-40B4-BE49-F238E27FC236}">
                <a16:creationId xmlns:a16="http://schemas.microsoft.com/office/drawing/2014/main" id="{E9A0A1B7-63B9-4A14-A303-1018BCE70B28}"/>
              </a:ext>
            </a:extLst>
          </p:cNvPr>
          <p:cNvGraphicFramePr/>
          <p:nvPr/>
        </p:nvGraphicFramePr>
        <p:xfrm>
          <a:off xmlns:a="http://schemas.openxmlformats.org/drawingml/2006/main" x="6191250" y="2200275"/>
          <a:ext xmlns:a="http://schemas.openxmlformats.org/drawingml/2006/main" cx="5381625" cy="3009900"/>
        </p:xfrm>
        <a:graphic xmlns:a="http://schemas.openxmlformats.org/drawingml/2006/main">
          <a:graphicData uri="http://schemas.openxmlformats.org/drawingml/2006/table">
            <a:tbl>
              <a:tblPr/>
              <a:tblGrid>
                <a:gridCol w="1695450"/>
                <a:gridCol w="1066800"/>
                <a:gridCol w="1133475"/>
                <a:gridCol w="1485900"/>
              </a:tblGrid>
              <a:tr h="601980">
                <a:tc>
                  <a:txBody>
                    <a:bodyPr/>
                    <a:lstStyle/>
                    <a:p>
                      <a:r>
                        <a:rPr sz="1725" b="1">
                          <a:solidFill>
                            <a:srgbClr val="FFFFFF"/>
                          </a:solidFill>
                          <a:latin typeface="Helvetica Neue"/>
                          <a:ea typeface="Helvetica Neue"/>
                          <a:cs typeface="Helvetica Neue"/>
                        </a:rPr>
                        <a:t>Algorithm</a:t>
                      </a:r>
                    </a:p>
                  </a:txBody>
                  <a:tcPr marL="152400" marR="152400" marT="66675" marB="66675" anchor="ctr">
                    <a:lnL w="9525">
                      <a:solidFill>
                        <a:srgbClr val="E2E8F0"/>
                      </a:solidFill>
                      <a:prstDash val="solid"/>
                    </a:lnL>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725" b="1">
                          <a:solidFill>
                            <a:srgbClr val="FFFFFF"/>
                          </a:solidFill>
                          <a:latin typeface="Helvetica Neue"/>
                          <a:ea typeface="Helvetica Neue"/>
                          <a:cs typeface="Helvetica Neue"/>
                        </a:rPr>
                        <a:t>Scans</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725" b="1">
                          <a:solidFill>
                            <a:srgbClr val="FFFFFF"/>
                          </a:solidFill>
                          <a:latin typeface="Helvetica Neue"/>
                          <a:ea typeface="Helvetica Neue"/>
                          <a:cs typeface="Helvetica Neue"/>
                        </a:rPr>
                        <a:t>Free MB</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725" b="1">
                          <a:solidFill>
                            <a:srgbClr val="FFFFFF"/>
                          </a:solidFill>
                          <a:latin typeface="Helvetica Neue"/>
                          <a:ea typeface="Helvetica Neue"/>
                          <a:cs typeface="Helvetica Neue"/>
                        </a:rPr>
                        <a:t>External MB</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r>
              <a:tr h="601980">
                <a:tc>
                  <a:txBody>
                    <a:bodyPr/>
                    <a:lstStyle/>
                    <a:p>
                      <a:r>
                        <a:rPr sz="1725" b="0">
                          <a:solidFill>
                            <a:srgbClr val="0F172A"/>
                          </a:solidFill>
                          <a:latin typeface="Helvetica Neue"/>
                          <a:ea typeface="Helvetica Neue"/>
                          <a:cs typeface="Helvetica Neue"/>
                        </a:rPr>
                        <a:t>First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14</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959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659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01980">
                <a:tc>
                  <a:txBody>
                    <a:bodyPr/>
                    <a:lstStyle/>
                    <a:p>
                      <a:r>
                        <a:rPr sz="1725" b="0">
                          <a:solidFill>
                            <a:srgbClr val="0F172A"/>
                          </a:solidFill>
                          <a:latin typeface="Helvetica Neue"/>
                          <a:ea typeface="Helvetica Neue"/>
                          <a:cs typeface="Helvetica Neue"/>
                        </a:rPr>
                        <a:t>Best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20</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533</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359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01980">
                <a:tc>
                  <a:txBody>
                    <a:bodyPr/>
                    <a:lstStyle/>
                    <a:p>
                      <a:r>
                        <a:rPr sz="1725" b="0">
                          <a:solidFill>
                            <a:srgbClr val="0F172A"/>
                          </a:solidFill>
                          <a:latin typeface="Helvetica Neue"/>
                          <a:ea typeface="Helvetica Neue"/>
                          <a:cs typeface="Helvetica Neue"/>
                        </a:rPr>
                        <a:t>Worst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20</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959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659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01980">
                <a:tc>
                  <a:txBody>
                    <a:bodyPr/>
                    <a:lstStyle/>
                    <a:p>
                      <a:r>
                        <a:rPr sz="1725" b="0">
                          <a:solidFill>
                            <a:srgbClr val="0F172A"/>
                          </a:solidFill>
                          <a:latin typeface="Helvetica Neue"/>
                          <a:ea typeface="Helvetica Neue"/>
                          <a:cs typeface="Helvetica Neue"/>
                        </a:rPr>
                        <a:t>Next Fit</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12</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959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725" b="0">
                          <a:solidFill>
                            <a:srgbClr val="0F172A"/>
                          </a:solidFill>
                          <a:latin typeface="Helvetica Neue"/>
                          <a:ea typeface="Helvetica Neue"/>
                          <a:cs typeface="Helvetica Neue"/>
                        </a:rPr>
                        <a:t>659</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bl>
          </a:graphicData>
        </a:graphic>
      </p:graphicFrame>
      <p:sp>
        <p:nvSpPr>
          <p:cNvPr id="6" name="text-79">
            <a:extLst xmlns:a="http://schemas.openxmlformats.org/drawingml/2006/main">
              <a:ext uri="{FF2B5EF4-FFF2-40B4-BE49-F238E27FC236}">
                <a16:creationId xmlns:a16="http://schemas.microsoft.com/office/drawing/2014/main" id="{060BB6D7-E83A-4127-BB64-AB5713A691ED}"/>
              </a:ext>
            </a:extLst>
          </p:cNvPr>
          <p:cNvSpPr>
            <a:spLocks xmlns:a="http://schemas.openxmlformats.org/drawingml/2006/main" noGrp="1"/>
          </p:cNvSpPr>
          <p:nvPr/>
        </p:nvSpPr>
        <p:spPr>
          <a:xfrm xmlns:a="http://schemas.openxmlformats.org/drawingml/2006/main">
            <a:off x="609600" y="56578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563EB"/>
                </a:solidFill>
                <a:latin typeface="Helvetica Neue"/>
                <a:ea typeface="Helvetica Neue"/>
                <a:cs typeface="Helvetica Neue"/>
              </a:defRPr>
            </a:defPPr>
          </a:lstStyle>
          <a:p xmlns:a="http://schemas.openxmlformats.org/drawingml/2006/main">
            <a:pPr algn="l">
              <a:defRPr sz="2175" b="1">
                <a:solidFill>
                  <a:srgbClr val="2563EB"/>
                </a:solidFill>
                <a:latin typeface="Helvetica Neue"/>
                <a:ea typeface="Helvetica Neue"/>
                <a:cs typeface="Helvetica Neue"/>
              </a:defRPr>
            </a:pPr>
            <a:r>
              <a:rPr sz="2175" b="1">
                <a:solidFill>
                  <a:srgbClr val="2563EB"/>
                </a:solidFill>
                <a:latin typeface="Helvetica Neue"/>
                <a:ea typeface="Helvetica Neue"/>
                <a:cs typeface="Helvetica Neue"/>
              </a:rPr>
              <a:t>Best Fit serves one more request, while Next Fit checks fewer free regions.</a:t>
            </a:r>
          </a:p>
        </p:txBody>
      </p:sp>
      <p:sp>
        <p:nvSpPr>
          <p:cNvPr id="7" name="text-80">
            <a:extLst xmlns:a="http://schemas.openxmlformats.org/drawingml/2006/main">
              <a:ext uri="{FF2B5EF4-FFF2-40B4-BE49-F238E27FC236}">
                <a16:creationId xmlns:a16="http://schemas.microsoft.com/office/drawing/2014/main" id="{69D997D3-AA05-45A5-811C-387EF5709746}"/>
              </a:ext>
            </a:extLst>
          </p:cNvPr>
          <p:cNvSpPr>
            <a:spLocks xmlns:a="http://schemas.openxmlformats.org/drawingml/2006/main" noGrp="1"/>
          </p:cNvSpPr>
          <p:nvPr/>
        </p:nvSpPr>
        <p:spPr>
          <a:xfrm xmlns:a="http://schemas.openxmlformats.org/drawingml/2006/main">
            <a:off x="609600" y="6105525"/>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52647C"/>
                </a:solidFill>
                <a:latin typeface="Helvetica Neue"/>
                <a:ea typeface="Helvetica Neue"/>
                <a:cs typeface="Helvetica Neue"/>
              </a:defRPr>
            </a:defPPr>
          </a:lstStyle>
          <a:p xmlns:a="http://schemas.openxmlformats.org/drawingml/2006/main">
            <a:pPr algn="l">
              <a:defRPr sz="1725" b="0">
                <a:solidFill>
                  <a:srgbClr val="52647C"/>
                </a:solidFill>
                <a:latin typeface="Helvetica Neue"/>
                <a:ea typeface="Helvetica Neue"/>
                <a:cs typeface="Helvetica Neue"/>
              </a:defRPr>
            </a:pPr>
            <a:r>
              <a:rPr sz="1725" b="0">
                <a:solidFill>
                  <a:srgbClr val="52647C"/>
                </a:solidFill>
                <a:latin typeface="Helvetica Neue"/>
                <a:ea typeface="Helvetica Neue"/>
                <a:cs typeface="Helvetica Neue"/>
              </a:rPr>
              <a:t>Initial regions: 100, 500, 200, 300 and 600 MB. These results describe this workload.</a:t>
            </a:r>
          </a:p>
        </p:txBody>
      </p:sp>
    </p:spTree>
    <p:extLst>
      <p:ext uri="{BB962C8B-B14F-4D97-AF65-F5344CB8AC3E}">
        <p14:creationId xmlns:p14="http://schemas.microsoft.com/office/powerpoint/2010/main" val="43921773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81">
            <a:extLst xmlns:a="http://schemas.openxmlformats.org/drawingml/2006/main">
              <a:ext uri="{FF2B5EF4-FFF2-40B4-BE49-F238E27FC236}">
                <a16:creationId xmlns:a16="http://schemas.microsoft.com/office/drawing/2014/main" id="{4EF68979-D930-45D7-9EE3-BFC4AEEADC04}"/>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Allocation workflow</a:t>
            </a:r>
          </a:p>
        </p:txBody>
      </p:sp>
      <p:sp>
        <p:nvSpPr>
          <p:cNvPr id="2" name="text-82">
            <a:extLst xmlns:a="http://schemas.openxmlformats.org/drawingml/2006/main">
              <a:ext uri="{FF2B5EF4-FFF2-40B4-BE49-F238E27FC236}">
                <a16:creationId xmlns:a16="http://schemas.microsoft.com/office/drawing/2014/main" id="{ADD634D9-9105-4755-B267-BE8C62E0D476}"/>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browser handles a request through one shared memory engine</a:t>
            </a:r>
          </a:p>
        </p:txBody>
      </p:sp>
      <p:sp>
        <p:nvSpPr>
          <p:cNvPr id="3" name="text-83">
            <a:extLst xmlns:a="http://schemas.openxmlformats.org/drawingml/2006/main">
              <a:ext uri="{FF2B5EF4-FFF2-40B4-BE49-F238E27FC236}">
                <a16:creationId xmlns:a16="http://schemas.microsoft.com/office/drawing/2014/main" id="{614D3358-FF78-4D6A-9830-B3E002DB9029}"/>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12</a:t>
            </a:r>
          </a:p>
        </p:txBody>
      </p:sp>
      <p:graphicFrame>
        <p:nvGraphicFramePr>
          <p:cNvPr id="4" name="">
            <a:extLst xmlns:a="http://schemas.openxmlformats.org/drawingml/2006/main">
              <a:ext uri="{FF2B5EF4-FFF2-40B4-BE49-F238E27FC236}">
                <a16:creationId xmlns:a16="http://schemas.microsoft.com/office/drawing/2014/main" id="{474D5A99-3D42-4C89-82F7-357C4CB86673}"/>
              </a:ext>
            </a:extLst>
          </p:cNvPr>
          <p:cNvGraphicFramePr/>
          <p:nvPr/>
        </p:nvGraphicFramePr>
        <p:xfrm>
          <a:off xmlns:a="http://schemas.openxmlformats.org/drawingml/2006/main" x="609600" y="2066925"/>
          <a:ext xmlns:a="http://schemas.openxmlformats.org/drawingml/2006/main" cx="10972800" cy="3476625"/>
        </p:xfrm>
        <a:graphic xmlns:a="http://schemas.openxmlformats.org/drawingml/2006/main">
          <a:graphicData uri="http://schemas.openxmlformats.org/drawingml/2006/table">
            <a:tbl>
              <a:tblPr/>
              <a:tblGrid>
                <a:gridCol w="1000125"/>
                <a:gridCol w="3286125"/>
                <a:gridCol w="6686550"/>
              </a:tblGrid>
              <a:tr h="695325">
                <a:tc>
                  <a:txBody>
                    <a:bodyPr/>
                    <a:lstStyle/>
                    <a:p>
                      <a:r>
                        <a:rPr sz="1950" b="1">
                          <a:solidFill>
                            <a:srgbClr val="FFFFFF"/>
                          </a:solidFill>
                          <a:latin typeface="Helvetica Neue"/>
                          <a:ea typeface="Helvetica Neue"/>
                          <a:cs typeface="Helvetica Neue"/>
                        </a:rPr>
                        <a:t>Step</a:t>
                      </a:r>
                    </a:p>
                  </a:txBody>
                  <a:tcPr marL="152400" marR="152400" marT="66675" marB="66675" anchor="ctr">
                    <a:lnL w="9525">
                      <a:solidFill>
                        <a:srgbClr val="E2E8F0"/>
                      </a:solidFill>
                      <a:prstDash val="solid"/>
                    </a:lnL>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950" b="1">
                          <a:solidFill>
                            <a:srgbClr val="FFFFFF"/>
                          </a:solidFill>
                          <a:latin typeface="Helvetica Neue"/>
                          <a:ea typeface="Helvetica Neue"/>
                          <a:cs typeface="Helvetica Neue"/>
                        </a:rPr>
                        <a:t>Component</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c>
                  <a:txBody>
                    <a:bodyPr/>
                    <a:lstStyle/>
                    <a:p>
                      <a:r>
                        <a:rPr sz="1950" b="1">
                          <a:solidFill>
                            <a:srgbClr val="FFFFFF"/>
                          </a:solidFill>
                          <a:latin typeface="Helvetica Neue"/>
                          <a:ea typeface="Helvetica Neue"/>
                          <a:cs typeface="Helvetica Neue"/>
                        </a:rPr>
                        <a:t>What happens</a:t>
                      </a:r>
                    </a:p>
                  </a:txBody>
                  <a:tcPr marL="152400" marR="152400" marT="66675" marB="66675" anchor="ctr">
                    <a:lnR w="9525">
                      <a:solidFill>
                        <a:srgbClr val="E2E8F0"/>
                      </a:solidFill>
                      <a:prstDash val="solid"/>
                    </a:lnR>
                    <a:lnT w="9525">
                      <a:solidFill>
                        <a:srgbClr val="E2E8F0"/>
                      </a:solidFill>
                      <a:prstDash val="solid"/>
                    </a:lnT>
                    <a:lnB w="9525">
                      <a:solidFill>
                        <a:srgbClr val="E2E8F0"/>
                      </a:solidFill>
                      <a:prstDash val="solid"/>
                    </a:lnB>
                    <a:solidFill>
                      <a:srgbClr val="0B1220"/>
                    </a:solidFill>
                  </a:tcPr>
                </a:tc>
              </a:tr>
              <a:tr h="695325">
                <a:tc>
                  <a:txBody>
                    <a:bodyPr/>
                    <a:lstStyle/>
                    <a:p>
                      <a:r>
                        <a:rPr sz="1950" b="0">
                          <a:solidFill>
                            <a:srgbClr val="0F172A"/>
                          </a:solidFill>
                          <a:latin typeface="Helvetica Neue"/>
                          <a:ea typeface="Helvetica Neue"/>
                          <a:cs typeface="Helvetica Neue"/>
                        </a:rPr>
                        <a:t>1</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Controller</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Read the request and selected algorithm.</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1950" b="0">
                          <a:solidFill>
                            <a:srgbClr val="0F172A"/>
                          </a:solidFill>
                          <a:latin typeface="Helvetica Neue"/>
                          <a:ea typeface="Helvetica Neue"/>
                          <a:cs typeface="Helvetica Neue"/>
                        </a:rPr>
                        <a:t>2</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Memory engine</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Request a suitable region from the strategy.</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1950" b="0">
                          <a:solidFill>
                            <a:srgbClr val="0F172A"/>
                          </a:solidFill>
                          <a:latin typeface="Helvetica Neue"/>
                          <a:ea typeface="Helvetica Neue"/>
                          <a:cs typeface="Helvetica Neue"/>
                        </a:rPr>
                        <a:t>3</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Placement strategy</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Return the region and search result.</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r h="695325">
                <a:tc>
                  <a:txBody>
                    <a:bodyPr/>
                    <a:lstStyle/>
                    <a:p>
                      <a:r>
                        <a:rPr sz="1950" b="0">
                          <a:solidFill>
                            <a:srgbClr val="0F172A"/>
                          </a:solidFill>
                          <a:latin typeface="Helvetica Neue"/>
                          <a:ea typeface="Helvetica Neue"/>
                          <a:cs typeface="Helvetica Neue"/>
                        </a:rPr>
                        <a:t>4</a:t>
                      </a:r>
                    </a:p>
                  </a:txBody>
                  <a:tcPr marL="152400" marR="152400" marT="66675" marB="66675" anchor="ctr">
                    <a:lnL w="9525">
                      <a:solidFill>
                        <a:srgbClr val="E2E8F0"/>
                      </a:solidFill>
                      <a:prstDash val="solid"/>
                    </a:lnL>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State and interface</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c>
                  <a:txBody>
                    <a:bodyPr/>
                    <a:lstStyle/>
                    <a:p>
                      <a:r>
                        <a:rPr sz="1950" b="0">
                          <a:solidFill>
                            <a:srgbClr val="0F172A"/>
                          </a:solidFill>
                          <a:latin typeface="Helvetica Neue"/>
                          <a:ea typeface="Helvetica Neue"/>
                          <a:cs typeface="Helvetica Neue"/>
                        </a:rPr>
                        <a:t>Update ownership, addresses and the display.</a:t>
                      </a:r>
                    </a:p>
                  </a:txBody>
                  <a:tcPr marL="152400" marR="152400" marT="66675" marB="66675" anchor="ctr">
                    <a:lnR w="9525">
                      <a:solidFill>
                        <a:srgbClr val="E2E8F0"/>
                      </a:solidFill>
                      <a:prstDash val="solid"/>
                    </a:lnR>
                    <a:lnB w="9525">
                      <a:solidFill>
                        <a:srgbClr val="E2E8F0"/>
                      </a:solidFill>
                      <a:prstDash val="solid"/>
                    </a:lnB>
                    <a:solidFill>
                      <a:srgbClr val="FFFFFF"/>
                    </a:solidFill>
                  </a:tcPr>
                </a:tc>
              </a:tr>
            </a:tbl>
          </a:graphicData>
        </a:graphic>
      </p:graphicFrame>
      <p:sp>
        <p:nvSpPr>
          <p:cNvPr id="5" name="text-84">
            <a:extLst xmlns:a="http://schemas.openxmlformats.org/drawingml/2006/main">
              <a:ext uri="{FF2B5EF4-FFF2-40B4-BE49-F238E27FC236}">
                <a16:creationId xmlns:a16="http://schemas.microsoft.com/office/drawing/2014/main" id="{B5F76F1F-1EAF-453C-B9E3-CE16915E0EBF}"/>
              </a:ext>
            </a:extLst>
          </p:cNvPr>
          <p:cNvSpPr>
            <a:spLocks xmlns:a="http://schemas.openxmlformats.org/drawingml/2006/main" noGrp="1"/>
          </p:cNvSpPr>
          <p:nvPr/>
        </p:nvSpPr>
        <p:spPr>
          <a:xfrm xmlns:a="http://schemas.openxmlformats.org/drawingml/2006/main">
            <a:off x="609600" y="58007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2647C"/>
                </a:solidFill>
                <a:latin typeface="Helvetica Neue"/>
                <a:ea typeface="Helvetica Neue"/>
                <a:cs typeface="Helvetica Neue"/>
              </a:defRPr>
            </a:defPPr>
          </a:lstStyle>
          <a:p xmlns:a="http://schemas.openxmlformats.org/drawingml/2006/main">
            <a:pPr algn="l">
              <a:defRPr sz="1875" b="0">
                <a:solidFill>
                  <a:srgbClr val="52647C"/>
                </a:solidFill>
                <a:latin typeface="Helvetica Neue"/>
                <a:ea typeface="Helvetica Neue"/>
                <a:cs typeface="Helvetica Neue"/>
              </a:defRPr>
            </a:pPr>
            <a:r>
              <a:rPr sz="1875" b="0">
                <a:solidFill>
                  <a:srgbClr val="52647C"/>
                </a:solidFill>
                <a:latin typeface="Helvetica Neue"/>
                <a:ea typeface="Helvetica Neue"/>
                <a:cs typeface="Helvetica Neue"/>
              </a:rPr>
              <a:t>HTML and CSS display the studio. Plain JavaScript runs the model in the browser.</a:t>
            </a:r>
          </a:p>
        </p:txBody>
      </p:sp>
    </p:spTree>
    <p:extLst>
      <p:ext uri="{BB962C8B-B14F-4D97-AF65-F5344CB8AC3E}">
        <p14:creationId xmlns:p14="http://schemas.microsoft.com/office/powerpoint/2010/main" val="56076888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ext-85">
            <a:extLst xmlns:a="http://schemas.openxmlformats.org/drawingml/2006/main">
              <a:ext uri="{FF2B5EF4-FFF2-40B4-BE49-F238E27FC236}">
                <a16:creationId xmlns:a16="http://schemas.microsoft.com/office/drawing/2014/main" id="{0E69C52C-FDBA-4D13-8CB7-8978E701E23B}"/>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0F172A"/>
                </a:solidFill>
                <a:latin typeface="Helvetica Neue"/>
                <a:ea typeface="Helvetica Neue"/>
                <a:cs typeface="Helvetica Neue"/>
              </a:defRPr>
            </a:defPPr>
          </a:lstStyle>
          <a:p xmlns:a="http://schemas.openxmlformats.org/drawingml/2006/main">
            <a:pPr algn="l">
              <a:defRPr sz="3450" b="1">
                <a:solidFill>
                  <a:srgbClr val="0F172A"/>
                </a:solidFill>
                <a:latin typeface="Helvetica Neue"/>
                <a:ea typeface="Helvetica Neue"/>
                <a:cs typeface="Helvetica Neue"/>
              </a:defRPr>
            </a:pPr>
            <a:r>
              <a:rPr sz="3450" b="1">
                <a:solidFill>
                  <a:srgbClr val="0F172A"/>
                </a:solidFill>
                <a:latin typeface="Helvetica Neue"/>
                <a:ea typeface="Helvetica Neue"/>
                <a:cs typeface="Helvetica Neue"/>
              </a:rPr>
              <a:t>Testing and model limits</a:t>
            </a:r>
          </a:p>
        </p:txBody>
      </p:sp>
      <p:sp>
        <p:nvSpPr>
          <p:cNvPr id="2" name="text-86">
            <a:extLst xmlns:a="http://schemas.openxmlformats.org/drawingml/2006/main">
              <a:ext uri="{FF2B5EF4-FFF2-40B4-BE49-F238E27FC236}">
                <a16:creationId xmlns:a16="http://schemas.microsoft.com/office/drawing/2014/main" id="{42F013B9-7330-4038-88DE-CB7D98F1BD17}"/>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2647C"/>
                </a:solidFill>
                <a:latin typeface="Helvetica Neue"/>
                <a:ea typeface="Helvetica Neue"/>
                <a:cs typeface="Helvetica Neue"/>
              </a:defRPr>
            </a:defPPr>
          </a:lstStyle>
          <a:p xmlns:a="http://schemas.openxmlformats.org/drawingml/2006/main">
            <a:pPr algn="l">
              <a:defRPr sz="1950" b="0">
                <a:solidFill>
                  <a:srgbClr val="52647C"/>
                </a:solidFill>
                <a:latin typeface="Helvetica Neue"/>
                <a:ea typeface="Helvetica Neue"/>
                <a:cs typeface="Helvetica Neue"/>
              </a:defRPr>
            </a:pPr>
            <a:r>
              <a:rPr sz="1950" b="0">
                <a:solidFill>
                  <a:srgbClr val="52647C"/>
                </a:solidFill>
                <a:latin typeface="Helvetica Neue"/>
                <a:ea typeface="Helvetica Neue"/>
                <a:cs typeface="Helvetica Neue"/>
              </a:rPr>
              <a:t>The verification checks correctness within this contiguous-memory simulation</a:t>
            </a:r>
          </a:p>
        </p:txBody>
      </p:sp>
      <p:sp>
        <p:nvSpPr>
          <p:cNvPr id="3" name="text-87">
            <a:extLst xmlns:a="http://schemas.openxmlformats.org/drawingml/2006/main">
              <a:ext uri="{FF2B5EF4-FFF2-40B4-BE49-F238E27FC236}">
                <a16:creationId xmlns:a16="http://schemas.microsoft.com/office/drawing/2014/main" id="{FB4BC3F6-10AC-455D-A694-F7BDA6576FB8}"/>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94A3B8"/>
                </a:solidFill>
                <a:latin typeface="Helvetica Neue"/>
                <a:ea typeface="Helvetica Neue"/>
                <a:cs typeface="Helvetica Neue"/>
              </a:defRPr>
            </a:defPPr>
          </a:lstStyle>
          <a:p xmlns:a="http://schemas.openxmlformats.org/drawingml/2006/main">
            <a:pPr algn="r">
              <a:defRPr sz="1275" b="0">
                <a:solidFill>
                  <a:srgbClr val="94A3B8"/>
                </a:solidFill>
                <a:latin typeface="Helvetica Neue"/>
                <a:ea typeface="Helvetica Neue"/>
                <a:cs typeface="Helvetica Neue"/>
              </a:defRPr>
            </a:pPr>
            <a:r>
              <a:rPr sz="1275" b="0">
                <a:solidFill>
                  <a:srgbClr val="94A3B8"/>
                </a:solidFill>
                <a:latin typeface="Helvetica Neue"/>
                <a:ea typeface="Helvetica Neue"/>
                <a:cs typeface="Helvetica Neue"/>
              </a:rPr>
              <a:t>13</a:t>
            </a:r>
          </a:p>
        </p:txBody>
      </p:sp>
      <p:sp>
        <p:nvSpPr>
          <p:cNvPr id="4" name="text-88">
            <a:extLst xmlns:a="http://schemas.openxmlformats.org/drawingml/2006/main">
              <a:ext uri="{FF2B5EF4-FFF2-40B4-BE49-F238E27FC236}">
                <a16:creationId xmlns:a16="http://schemas.microsoft.com/office/drawing/2014/main" id="{58ED5628-5A77-4B76-A4FE-C705EE60A50E}"/>
              </a:ext>
            </a:extLst>
          </p:cNvPr>
          <p:cNvSpPr>
            <a:spLocks xmlns:a="http://schemas.openxmlformats.org/drawingml/2006/main" noGrp="1"/>
          </p:cNvSpPr>
          <p:nvPr/>
        </p:nvSpPr>
        <p:spPr>
          <a:xfrm xmlns:a="http://schemas.openxmlformats.org/drawingml/2006/main">
            <a:off x="609600" y="2066925"/>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Helvetica Neue"/>
                <a:ea typeface="Helvetica Neue"/>
                <a:cs typeface="Helvetica Neue"/>
              </a:defRPr>
            </a:defPPr>
          </a:lstStyle>
          <a:p xmlns:a="http://schemas.openxmlformats.org/drawingml/2006/main">
            <a:pPr algn="l">
              <a:defRPr sz="2400" b="1">
                <a:solidFill>
                  <a:srgbClr val="2563EB"/>
                </a:solidFill>
                <a:latin typeface="Helvetica Neue"/>
                <a:ea typeface="Helvetica Neue"/>
                <a:cs typeface="Helvetica Neue"/>
              </a:defRPr>
            </a:pPr>
            <a:r>
              <a:rPr sz="2400" b="1">
                <a:solidFill>
                  <a:srgbClr val="2563EB"/>
                </a:solidFill>
                <a:latin typeface="Helvetica Neue"/>
                <a:ea typeface="Helvetica Neue"/>
                <a:cs typeface="Helvetica Neue"/>
              </a:rPr>
              <a:t>Verification</a:t>
            </a:r>
          </a:p>
        </p:txBody>
      </p:sp>
      <p:sp>
        <p:nvSpPr>
          <p:cNvPr id="5" name="text-89">
            <a:extLst xmlns:a="http://schemas.openxmlformats.org/drawingml/2006/main">
              <a:ext uri="{FF2B5EF4-FFF2-40B4-BE49-F238E27FC236}">
                <a16:creationId xmlns:a16="http://schemas.microsoft.com/office/drawing/2014/main" id="{95CF9A51-7962-4EC2-8839-140931F3D4BD}"/>
              </a:ext>
            </a:extLst>
          </p:cNvPr>
          <p:cNvSpPr>
            <a:spLocks xmlns:a="http://schemas.openxmlformats.org/drawingml/2006/main" noGrp="1"/>
          </p:cNvSpPr>
          <p:nvPr/>
        </p:nvSpPr>
        <p:spPr>
          <a:xfrm xmlns:a="http://schemas.openxmlformats.org/drawingml/2006/main">
            <a:off x="609600" y="2809875"/>
            <a:ext cx="52197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0F172A"/>
                </a:solidFill>
                <a:latin typeface="Helvetica Neue"/>
                <a:ea typeface="Helvetica Neue"/>
                <a:cs typeface="Helvetica Neue"/>
              </a:defRPr>
            </a:defPPr>
          </a:lstStyle>
          <a:p xmlns:a="http://schemas.openxmlformats.org/drawingml/2006/main">
            <a:pPr algn="l">
              <a:defRPr sz="2175" b="1">
                <a:solidFill>
                  <a:srgbClr val="0F172A"/>
                </a:solidFill>
                <a:latin typeface="Helvetica Neue"/>
                <a:ea typeface="Helvetica Neue"/>
                <a:cs typeface="Helvetica Neue"/>
              </a:defRPr>
            </a:pPr>
            <a:r>
              <a:rPr sz="2175" b="1">
                <a:solidFill>
                  <a:srgbClr val="0F172A"/>
                </a:solidFill>
                <a:latin typeface="Helvetica Neue"/>
                <a:ea typeface="Helvetica Neue"/>
                <a:cs typeface="Helvetica Neue"/>
              </a:rPr>
              <a:t>48 regression checks</a:t>
            </a:r>
          </a:p>
          <a:p xmlns:a="http://schemas.openxmlformats.org/drawingml/2006/main">
            <a:pPr algn="l">
              <a:defRPr sz="2175" b="1">
                <a:solidFill>
                  <a:srgbClr val="0F172A"/>
                </a:solidFill>
                <a:latin typeface="Helvetica Neue"/>
                <a:ea typeface="Helvetica Neue"/>
                <a:cs typeface="Helvetica Neue"/>
              </a:defRPr>
            </a:pPr>
            <a:r>
              <a:rPr sz="2175" b="1">
                <a:solidFill>
                  <a:srgbClr val="0F172A"/>
                </a:solidFill>
                <a:latin typeface="Helvetica Neue"/>
                <a:ea typeface="Helvetica Neue"/>
                <a:cs typeface="Helvetica Neue"/>
              </a:rPr>
              <a:t>4,000 deterministic mixed actions</a:t>
            </a:r>
          </a:p>
          <a:p xmlns:a="http://schemas.openxmlformats.org/drawingml/2006/main">
            <a:pPr algn="l">
              <a:defRPr sz="2175" b="1">
                <a:solidFill>
                  <a:srgbClr val="0F172A"/>
                </a:solidFill>
                <a:latin typeface="Helvetica Neue"/>
                <a:ea typeface="Helvetica Neue"/>
                <a:cs typeface="Helvetica Neue"/>
              </a:defRPr>
            </a:pPr>
            <a:r>
              <a:rPr sz="2175" b="1">
                <a:solidFill>
                  <a:srgbClr val="0F172A"/>
                </a:solidFill>
                <a:latin typeface="Helvetica Neue"/>
                <a:ea typeface="Helvetica Neue"/>
                <a:cs typeface="Helvetica Neue"/>
              </a:rPr>
              <a:t>40 built-in browser combinations</a:t>
            </a:r>
          </a:p>
        </p:txBody>
      </p:sp>
      <p:sp>
        <p:nvSpPr>
          <p:cNvPr id="6" name="text-90">
            <a:extLst xmlns:a="http://schemas.openxmlformats.org/drawingml/2006/main">
              <a:ext uri="{FF2B5EF4-FFF2-40B4-BE49-F238E27FC236}">
                <a16:creationId xmlns:a16="http://schemas.microsoft.com/office/drawing/2014/main" id="{2335B955-DDFA-4F0C-BEFB-CC473AE85C68}"/>
              </a:ext>
            </a:extLst>
          </p:cNvPr>
          <p:cNvSpPr>
            <a:spLocks xmlns:a="http://schemas.openxmlformats.org/drawingml/2006/main" noGrp="1"/>
          </p:cNvSpPr>
          <p:nvPr/>
        </p:nvSpPr>
        <p:spPr>
          <a:xfrm xmlns:a="http://schemas.openxmlformats.org/drawingml/2006/main">
            <a:off x="609600" y="4686300"/>
            <a:ext cx="5219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47C"/>
                </a:solidFill>
                <a:latin typeface="Helvetica Neue"/>
                <a:ea typeface="Helvetica Neue"/>
                <a:cs typeface="Helvetica Neue"/>
              </a:defRPr>
            </a:defPPr>
          </a:lstStyle>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Checks cover conserved capacity, valid addresses, process ownership and exactly one step commit.</a:t>
            </a:r>
          </a:p>
        </p:txBody>
      </p:sp>
      <p:sp>
        <p:nvSpPr>
          <p:cNvPr id="7" name="text-91">
            <a:extLst xmlns:a="http://schemas.openxmlformats.org/drawingml/2006/main">
              <a:ext uri="{FF2B5EF4-FFF2-40B4-BE49-F238E27FC236}">
                <a16:creationId xmlns:a16="http://schemas.microsoft.com/office/drawing/2014/main" id="{25C83523-C2D1-435C-BDF2-2E052D6AD0B6}"/>
              </a:ext>
            </a:extLst>
          </p:cNvPr>
          <p:cNvSpPr>
            <a:spLocks xmlns:a="http://schemas.openxmlformats.org/drawingml/2006/main" noGrp="1"/>
          </p:cNvSpPr>
          <p:nvPr/>
        </p:nvSpPr>
        <p:spPr>
          <a:xfrm xmlns:a="http://schemas.openxmlformats.org/drawingml/2006/main">
            <a:off x="6477000" y="2066925"/>
            <a:ext cx="502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0F172A"/>
                </a:solidFill>
                <a:latin typeface="Helvetica Neue"/>
                <a:ea typeface="Helvetica Neue"/>
                <a:cs typeface="Helvetica Neue"/>
              </a:defRPr>
            </a:defPPr>
          </a:lstStyle>
          <a:p xmlns:a="http://schemas.openxmlformats.org/drawingml/2006/main">
            <a:pPr algn="l">
              <a:defRPr sz="2400" b="1">
                <a:solidFill>
                  <a:srgbClr val="0F172A"/>
                </a:solidFill>
                <a:latin typeface="Helvetica Neue"/>
                <a:ea typeface="Helvetica Neue"/>
                <a:cs typeface="Helvetica Neue"/>
              </a:defRPr>
            </a:pPr>
            <a:r>
              <a:rPr sz="2400" b="1">
                <a:solidFill>
                  <a:srgbClr val="0F172A"/>
                </a:solidFill>
                <a:latin typeface="Helvetica Neue"/>
                <a:ea typeface="Helvetica Neue"/>
                <a:cs typeface="Helvetica Neue"/>
              </a:rPr>
              <a:t>Model limits</a:t>
            </a:r>
          </a:p>
        </p:txBody>
      </p:sp>
      <p:sp>
        <p:nvSpPr>
          <p:cNvPr id="8" name="text-92">
            <a:extLst xmlns:a="http://schemas.openxmlformats.org/drawingml/2006/main">
              <a:ext uri="{FF2B5EF4-FFF2-40B4-BE49-F238E27FC236}">
                <a16:creationId xmlns:a16="http://schemas.microsoft.com/office/drawing/2014/main" id="{C675C303-E9C2-4DBA-B5C5-AAEF8BD61E16}"/>
              </a:ext>
            </a:extLst>
          </p:cNvPr>
          <p:cNvSpPr>
            <a:spLocks xmlns:a="http://schemas.openxmlformats.org/drawingml/2006/main" noGrp="1"/>
          </p:cNvSpPr>
          <p:nvPr/>
        </p:nvSpPr>
        <p:spPr>
          <a:xfrm xmlns:a="http://schemas.openxmlformats.org/drawingml/2006/main">
            <a:off x="6477000" y="2809875"/>
            <a:ext cx="5029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F172A"/>
                </a:solidFill>
                <a:latin typeface="Helvetica Neue"/>
                <a:ea typeface="Helvetica Neue"/>
                <a:cs typeface="Helvetica Neue"/>
              </a:defRPr>
            </a:defPPr>
          </a:lstStyle>
          <a:p xmlns:a="http://schemas.openxmlformats.org/drawingml/2006/main">
            <a:pPr algn="l">
              <a:defRPr sz="2100" b="1">
                <a:solidFill>
                  <a:srgbClr val="0F172A"/>
                </a:solidFill>
                <a:latin typeface="Helvetica Neue"/>
                <a:ea typeface="Helvetica Neue"/>
                <a:cs typeface="Helvetica Neue"/>
              </a:defRPr>
            </a:pPr>
            <a:r>
              <a:rPr sz="2100" b="1">
                <a:solidFill>
                  <a:srgbClr val="0F172A"/>
                </a:solidFill>
                <a:latin typeface="Helvetica Neue"/>
                <a:ea typeface="Helvetica Neue"/>
                <a:cs typeface="Helvetica Neue"/>
              </a:rPr>
              <a:t>Whole-MB simulated addresses</a:t>
            </a:r>
          </a:p>
          <a:p xmlns:a="http://schemas.openxmlformats.org/drawingml/2006/main">
            <a:pPr algn="l">
              <a:defRPr sz="2100" b="1">
                <a:solidFill>
                  <a:srgbClr val="0F172A"/>
                </a:solidFill>
                <a:latin typeface="Helvetica Neue"/>
                <a:ea typeface="Helvetica Neue"/>
                <a:cs typeface="Helvetica Neue"/>
              </a:defRPr>
            </a:pPr>
            <a:r>
              <a:rPr sz="2100" b="1">
                <a:solidFill>
                  <a:srgbClr val="0F172A"/>
                </a:solidFill>
                <a:latin typeface="Helvetica Neue"/>
                <a:ea typeface="Helvetica Neue"/>
                <a:cs typeface="Helvetica Neue"/>
              </a:rPr>
              <a:t>One contiguous region per process</a:t>
            </a:r>
          </a:p>
        </p:txBody>
      </p:sp>
      <p:sp>
        <p:nvSpPr>
          <p:cNvPr id="9" name="text-93">
            <a:extLst xmlns:a="http://schemas.openxmlformats.org/drawingml/2006/main">
              <a:ext uri="{FF2B5EF4-FFF2-40B4-BE49-F238E27FC236}">
                <a16:creationId xmlns:a16="http://schemas.microsoft.com/office/drawing/2014/main" id="{5CC7B607-EF2A-44E5-ABAD-C135A213EEAB}"/>
              </a:ext>
            </a:extLst>
          </p:cNvPr>
          <p:cNvSpPr>
            <a:spLocks xmlns:a="http://schemas.openxmlformats.org/drawingml/2006/main" noGrp="1"/>
          </p:cNvSpPr>
          <p:nvPr/>
        </p:nvSpPr>
        <p:spPr>
          <a:xfrm xmlns:a="http://schemas.openxmlformats.org/drawingml/2006/main">
            <a:off x="6477000" y="4086225"/>
            <a:ext cx="5029200" cy="1800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2647C"/>
                </a:solidFill>
                <a:latin typeface="Helvetica Neue"/>
                <a:ea typeface="Helvetica Neue"/>
                <a:cs typeface="Helvetica Neue"/>
              </a:defRPr>
            </a:defPPr>
          </a:lstStyle>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Paging, virtual memory and swapping remain outside scope.</a:t>
            </a:r>
          </a:p>
          <a:p xmlns:a="http://schemas.openxmlformats.org/drawingml/2006/main">
            <a:r>
              <a:t/>
            </a:r>
          </a:p>
          <a:p xmlns:a="http://schemas.openxmlformats.org/drawingml/2006/main">
            <a:pPr algn="l">
              <a:defRPr sz="2025" b="0">
                <a:solidFill>
                  <a:srgbClr val="52647C"/>
                </a:solidFill>
                <a:latin typeface="Helvetica Neue"/>
                <a:ea typeface="Helvetica Neue"/>
                <a:cs typeface="Helvetica Neue"/>
              </a:defRPr>
            </a:pPr>
            <a:r>
              <a:rPr sz="2025" b="0">
                <a:solidFill>
                  <a:srgbClr val="52647C"/>
                </a:solidFill>
                <a:latin typeface="Helvetica Neue"/>
                <a:ea typeface="Helvetica Neue"/>
                <a:cs typeface="Helvetica Neue"/>
              </a:rPr>
              <a:t>Search counts measure examined regions. Compaction cost is unmeasured.</a:t>
            </a:r>
          </a:p>
        </p:txBody>
      </p:sp>
    </p:spTree>
    <p:extLst>
      <p:ext uri="{BB962C8B-B14F-4D97-AF65-F5344CB8AC3E}">
        <p14:creationId xmlns:p14="http://schemas.microsoft.com/office/powerpoint/2010/main" val="44176499"/>
      </p:ext>
    </p:extLst>
  </p:cSld>
</p:sld>
</file>

<file path=ppt/slides/slide14.xml><?xml version="1.0" encoding="utf-8"?>
<p:sld xmlns:p="http://schemas.openxmlformats.org/presentationml/2006/main">
  <p:cSld>
    <p:bg>
      <p:bgPr>
        <a:solidFill xmlns:a="http://schemas.openxmlformats.org/drawingml/2006/main">
          <a:srgbClr val="0B1220"/>
        </a:solidFill>
      </p:bgPr>
    </p:bg>
    <p:spTree>
      <p:nvGrpSpPr>
        <p:cNvPr id="1" name=""/>
        <p:cNvGrpSpPr/>
        <p:nvPr/>
      </p:nvGrpSpPr>
      <p:grpSpPr>
        <a:xfrm xmlns:a="http://schemas.openxmlformats.org/drawingml/2006/main"/>
      </p:grpSpPr>
      <p:sp>
        <p:nvSpPr>
          <p:cNvPr id="11" name="text-94">
            <a:extLst xmlns:a="http://schemas.openxmlformats.org/drawingml/2006/main">
              <a:ext uri="{FF2B5EF4-FFF2-40B4-BE49-F238E27FC236}">
                <a16:creationId xmlns:a16="http://schemas.microsoft.com/office/drawing/2014/main" id="{16DEC1EC-092A-46E3-B092-67FF5FA0FCAA}"/>
              </a:ext>
            </a:extLst>
          </p:cNvPr>
          <p:cNvSpPr>
            <a:spLocks xmlns:a="http://schemas.openxmlformats.org/drawingml/2006/main" noGrp="1"/>
          </p:cNvSpPr>
          <p:nvPr/>
        </p:nvSpPr>
        <p:spPr>
          <a:xfrm xmlns:a="http://schemas.openxmlformats.org/drawingml/2006/main">
            <a:off x="609600" y="495300"/>
            <a:ext cx="108966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FFFFFF"/>
                </a:solidFill>
                <a:latin typeface="Helvetica Neue"/>
                <a:ea typeface="Helvetica Neue"/>
                <a:cs typeface="Helvetica Neue"/>
              </a:defRPr>
            </a:defPPr>
          </a:lstStyle>
          <a:p xmlns:a="http://schemas.openxmlformats.org/drawingml/2006/main">
            <a:pPr algn="l">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Conclusions</a:t>
            </a:r>
          </a:p>
        </p:txBody>
      </p:sp>
      <p:sp>
        <p:nvSpPr>
          <p:cNvPr id="2" name="text-95">
            <a:extLst xmlns:a="http://schemas.openxmlformats.org/drawingml/2006/main">
              <a:ext uri="{FF2B5EF4-FFF2-40B4-BE49-F238E27FC236}">
                <a16:creationId xmlns:a16="http://schemas.microsoft.com/office/drawing/2014/main" id="{36D99DC9-7E12-4345-BF29-7C7840843D50}"/>
              </a:ext>
            </a:extLst>
          </p:cNvPr>
          <p:cNvSpPr>
            <a:spLocks xmlns:a="http://schemas.openxmlformats.org/drawingml/2006/main" noGrp="1"/>
          </p:cNvSpPr>
          <p:nvPr/>
        </p:nvSpPr>
        <p:spPr>
          <a:xfrm xmlns:a="http://schemas.openxmlformats.org/drawingml/2006/main">
            <a:off x="609600" y="128587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B8C6DF"/>
                </a:solidFill>
                <a:latin typeface="Helvetica Neue"/>
                <a:ea typeface="Helvetica Neue"/>
                <a:cs typeface="Helvetica Neue"/>
              </a:defRPr>
            </a:defPPr>
          </a:lstStyle>
          <a:p xmlns:a="http://schemas.openxmlformats.org/drawingml/2006/main">
            <a:pPr algn="l">
              <a:defRPr sz="1950" b="0">
                <a:solidFill>
                  <a:srgbClr val="B8C6DF"/>
                </a:solidFill>
                <a:latin typeface="Helvetica Neue"/>
                <a:ea typeface="Helvetica Neue"/>
                <a:cs typeface="Helvetica Neue"/>
              </a:defRPr>
            </a:pPr>
            <a:r>
              <a:rPr sz="1950" b="0">
                <a:solidFill>
                  <a:srgbClr val="B8C6DF"/>
                </a:solidFill>
                <a:latin typeface="Helvetica Neue"/>
                <a:ea typeface="Helvetica Neue"/>
                <a:cs typeface="Helvetica Neue"/>
              </a:rPr>
              <a:t>The examples explain contiguous placement and its limitations</a:t>
            </a:r>
          </a:p>
        </p:txBody>
      </p:sp>
      <p:sp>
        <p:nvSpPr>
          <p:cNvPr id="3" name="text-96">
            <a:extLst xmlns:a="http://schemas.openxmlformats.org/drawingml/2006/main">
              <a:ext uri="{FF2B5EF4-FFF2-40B4-BE49-F238E27FC236}">
                <a16:creationId xmlns:a16="http://schemas.microsoft.com/office/drawing/2014/main" id="{B92FFB1E-9674-4A80-A32A-1B34E98E3627}"/>
              </a:ext>
            </a:extLst>
          </p:cNvPr>
          <p:cNvSpPr>
            <a:spLocks xmlns:a="http://schemas.openxmlformats.org/drawingml/2006/main" noGrp="1"/>
          </p:cNvSpPr>
          <p:nvPr/>
        </p:nvSpPr>
        <p:spPr>
          <a:xfrm xmlns:a="http://schemas.openxmlformats.org/drawingml/2006/main">
            <a:off x="11087100" y="6343650"/>
            <a:ext cx="4953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8CA1C5"/>
                </a:solidFill>
                <a:latin typeface="Helvetica Neue"/>
                <a:ea typeface="Helvetica Neue"/>
                <a:cs typeface="Helvetica Neue"/>
              </a:defRPr>
            </a:defPPr>
          </a:lstStyle>
          <a:p xmlns:a="http://schemas.openxmlformats.org/drawingml/2006/main">
            <a:pPr algn="r">
              <a:defRPr sz="1275" b="0">
                <a:solidFill>
                  <a:srgbClr val="8CA1C5"/>
                </a:solidFill>
                <a:latin typeface="Helvetica Neue"/>
                <a:ea typeface="Helvetica Neue"/>
                <a:cs typeface="Helvetica Neue"/>
              </a:defRPr>
            </a:pPr>
            <a:r>
              <a:rPr sz="1275" b="0">
                <a:solidFill>
                  <a:srgbClr val="8CA1C5"/>
                </a:solidFill>
                <a:latin typeface="Helvetica Neue"/>
                <a:ea typeface="Helvetica Neue"/>
                <a:cs typeface="Helvetica Neue"/>
              </a:rPr>
              <a:t>14</a:t>
            </a:r>
          </a:p>
        </p:txBody>
      </p:sp>
      <p:sp>
        <p:nvSpPr>
          <p:cNvPr id="4" name="text-97">
            <a:extLst xmlns:a="http://schemas.openxmlformats.org/drawingml/2006/main">
              <a:ext uri="{FF2B5EF4-FFF2-40B4-BE49-F238E27FC236}">
                <a16:creationId xmlns:a16="http://schemas.microsoft.com/office/drawing/2014/main" id="{81E18BC9-5C9E-4449-AC9D-D846360CEC7F}"/>
              </a:ext>
            </a:extLst>
          </p:cNvPr>
          <p:cNvSpPr>
            <a:spLocks xmlns:a="http://schemas.openxmlformats.org/drawingml/2006/main" noGrp="1"/>
          </p:cNvSpPr>
          <p:nvPr/>
        </p:nvSpPr>
        <p:spPr>
          <a:xfrm xmlns:a="http://schemas.openxmlformats.org/drawingml/2006/main">
            <a:off x="609600" y="2190750"/>
            <a:ext cx="31908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93C5FD"/>
                </a:solidFill>
                <a:latin typeface="Helvetica Neue"/>
                <a:ea typeface="Helvetica Neue"/>
                <a:cs typeface="Helvetica Neue"/>
              </a:defRPr>
            </a:defPPr>
          </a:lstStyle>
          <a:p xmlns:a="http://schemas.openxmlformats.org/drawingml/2006/main">
            <a:pPr algn="l">
              <a:defRPr sz="2550" b="1">
                <a:solidFill>
                  <a:srgbClr val="93C5FD"/>
                </a:solidFill>
                <a:latin typeface="Helvetica Neue"/>
                <a:ea typeface="Helvetica Neue"/>
                <a:cs typeface="Helvetica Neue"/>
              </a:defRPr>
            </a:pPr>
            <a:r>
              <a:rPr sz="2550" b="1">
                <a:solidFill>
                  <a:srgbClr val="93C5FD"/>
                </a:solidFill>
                <a:latin typeface="Helvetica Neue"/>
                <a:ea typeface="Helvetica Neue"/>
                <a:cs typeface="Helvetica Neue"/>
              </a:rPr>
              <a:t>Allocation strategy</a:t>
            </a:r>
          </a:p>
        </p:txBody>
      </p:sp>
      <p:sp>
        <p:nvSpPr>
          <p:cNvPr id="5" name="text-98">
            <a:extLst xmlns:a="http://schemas.openxmlformats.org/drawingml/2006/main">
              <a:ext uri="{FF2B5EF4-FFF2-40B4-BE49-F238E27FC236}">
                <a16:creationId xmlns:a16="http://schemas.microsoft.com/office/drawing/2014/main" id="{CEAECC6C-36DE-49E0-9EB7-599C0C2A7814}"/>
              </a:ext>
            </a:extLst>
          </p:cNvPr>
          <p:cNvSpPr>
            <a:spLocks xmlns:a="http://schemas.openxmlformats.org/drawingml/2006/main" noGrp="1"/>
          </p:cNvSpPr>
          <p:nvPr/>
        </p:nvSpPr>
        <p:spPr>
          <a:xfrm xmlns:a="http://schemas.openxmlformats.org/drawingml/2006/main">
            <a:off x="4095750" y="2190750"/>
            <a:ext cx="73628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FFFFF"/>
                </a:solidFill>
                <a:latin typeface="Helvetica Neue"/>
                <a:ea typeface="Helvetica Neue"/>
                <a:cs typeface="Helvetica Neue"/>
              </a:defRPr>
            </a:defPPr>
          </a:lstStyle>
          <a:p xmlns:a="http://schemas.openxmlformats.org/drawingml/2006/main">
            <a:pPr algn="l">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On the classic workload, Best Fit serves 4 requests. The other three serve 3.</a:t>
            </a:r>
          </a:p>
        </p:txBody>
      </p:sp>
      <p:sp>
        <p:nvSpPr>
          <p:cNvPr id="6" name="text-99">
            <a:extLst xmlns:a="http://schemas.openxmlformats.org/drawingml/2006/main">
              <a:ext uri="{FF2B5EF4-FFF2-40B4-BE49-F238E27FC236}">
                <a16:creationId xmlns:a16="http://schemas.microsoft.com/office/drawing/2014/main" id="{916769E0-6C64-4C2A-BB20-21E096A60CA4}"/>
              </a:ext>
            </a:extLst>
          </p:cNvPr>
          <p:cNvSpPr>
            <a:spLocks xmlns:a="http://schemas.openxmlformats.org/drawingml/2006/main" noGrp="1"/>
          </p:cNvSpPr>
          <p:nvPr/>
        </p:nvSpPr>
        <p:spPr>
          <a:xfrm xmlns:a="http://schemas.openxmlformats.org/drawingml/2006/main">
            <a:off x="609600" y="3714750"/>
            <a:ext cx="319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93C5FD"/>
                </a:solidFill>
                <a:latin typeface="Helvetica Neue"/>
                <a:ea typeface="Helvetica Neue"/>
                <a:cs typeface="Helvetica Neue"/>
              </a:defRPr>
            </a:defPPr>
          </a:lstStyle>
          <a:p xmlns:a="http://schemas.openxmlformats.org/drawingml/2006/main">
            <a:pPr algn="l">
              <a:defRPr sz="2550" b="1">
                <a:solidFill>
                  <a:srgbClr val="93C5FD"/>
                </a:solidFill>
                <a:latin typeface="Helvetica Neue"/>
                <a:ea typeface="Helvetica Neue"/>
                <a:cs typeface="Helvetica Neue"/>
              </a:defRPr>
            </a:pPr>
            <a:r>
              <a:rPr sz="2550" b="1">
                <a:solidFill>
                  <a:srgbClr val="93C5FD"/>
                </a:solidFill>
                <a:latin typeface="Helvetica Neue"/>
                <a:ea typeface="Helvetica Neue"/>
                <a:cs typeface="Helvetica Neue"/>
              </a:rPr>
              <a:t>Fragmentation</a:t>
            </a:r>
          </a:p>
        </p:txBody>
      </p:sp>
      <p:sp>
        <p:nvSpPr>
          <p:cNvPr id="7" name="text-100">
            <a:extLst xmlns:a="http://schemas.openxmlformats.org/drawingml/2006/main">
              <a:ext uri="{FF2B5EF4-FFF2-40B4-BE49-F238E27FC236}">
                <a16:creationId xmlns:a16="http://schemas.microsoft.com/office/drawing/2014/main" id="{FD6CE52F-DE15-48DB-B3A2-6FC7E4AE651F}"/>
              </a:ext>
            </a:extLst>
          </p:cNvPr>
          <p:cNvSpPr>
            <a:spLocks xmlns:a="http://schemas.openxmlformats.org/drawingml/2006/main" noGrp="1"/>
          </p:cNvSpPr>
          <p:nvPr/>
        </p:nvSpPr>
        <p:spPr>
          <a:xfrm xmlns:a="http://schemas.openxmlformats.org/drawingml/2006/main">
            <a:off x="4095750" y="3714750"/>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FFFFF"/>
                </a:solidFill>
                <a:latin typeface="Helvetica Neue"/>
                <a:ea typeface="Helvetica Neue"/>
                <a:cs typeface="Helvetica Neue"/>
              </a:defRPr>
            </a:defPPr>
          </a:lstStyle>
          <a:p xmlns:a="http://schemas.openxmlformats.org/drawingml/2006/main">
            <a:pPr algn="l">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A 400 MB request fails when 550 MB is free but the largest hole is 250 MB.</a:t>
            </a:r>
          </a:p>
        </p:txBody>
      </p:sp>
      <p:sp>
        <p:nvSpPr>
          <p:cNvPr id="8" name="text-101">
            <a:extLst xmlns:a="http://schemas.openxmlformats.org/drawingml/2006/main">
              <a:ext uri="{FF2B5EF4-FFF2-40B4-BE49-F238E27FC236}">
                <a16:creationId xmlns:a16="http://schemas.microsoft.com/office/drawing/2014/main" id="{2B73F1A6-8619-4A24-936E-6CE136F3A7A7}"/>
              </a:ext>
            </a:extLst>
          </p:cNvPr>
          <p:cNvSpPr>
            <a:spLocks xmlns:a="http://schemas.openxmlformats.org/drawingml/2006/main" noGrp="1"/>
          </p:cNvSpPr>
          <p:nvPr/>
        </p:nvSpPr>
        <p:spPr>
          <a:xfrm xmlns:a="http://schemas.openxmlformats.org/drawingml/2006/main">
            <a:off x="609600" y="5219700"/>
            <a:ext cx="319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93C5FD"/>
                </a:solidFill>
                <a:latin typeface="Helvetica Neue"/>
                <a:ea typeface="Helvetica Neue"/>
                <a:cs typeface="Helvetica Neue"/>
              </a:defRPr>
            </a:defPPr>
          </a:lstStyle>
          <a:p xmlns:a="http://schemas.openxmlformats.org/drawingml/2006/main">
            <a:pPr algn="l">
              <a:defRPr sz="2550" b="1">
                <a:solidFill>
                  <a:srgbClr val="93C5FD"/>
                </a:solidFill>
                <a:latin typeface="Helvetica Neue"/>
                <a:ea typeface="Helvetica Neue"/>
                <a:cs typeface="Helvetica Neue"/>
              </a:defRPr>
            </a:pPr>
            <a:r>
              <a:rPr sz="2550" b="1">
                <a:solidFill>
                  <a:srgbClr val="93C5FD"/>
                </a:solidFill>
                <a:latin typeface="Helvetica Neue"/>
                <a:ea typeface="Helvetica Neue"/>
                <a:cs typeface="Helvetica Neue"/>
              </a:rPr>
              <a:t>Compaction</a:t>
            </a:r>
          </a:p>
        </p:txBody>
      </p:sp>
      <p:sp>
        <p:nvSpPr>
          <p:cNvPr id="9" name="text-102">
            <a:extLst xmlns:a="http://schemas.openxmlformats.org/drawingml/2006/main">
              <a:ext uri="{FF2B5EF4-FFF2-40B4-BE49-F238E27FC236}">
                <a16:creationId xmlns:a16="http://schemas.microsoft.com/office/drawing/2014/main" id="{D21C6D04-A4DD-4234-80A0-63F7225637DC}"/>
              </a:ext>
            </a:extLst>
          </p:cNvPr>
          <p:cNvSpPr>
            <a:spLocks xmlns:a="http://schemas.openxmlformats.org/drawingml/2006/main" noGrp="1"/>
          </p:cNvSpPr>
          <p:nvPr/>
        </p:nvSpPr>
        <p:spPr>
          <a:xfrm xmlns:a="http://schemas.openxmlformats.org/drawingml/2006/main">
            <a:off x="4095750" y="5219700"/>
            <a:ext cx="73628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FFFFF"/>
                </a:solidFill>
                <a:latin typeface="Helvetica Neue"/>
                <a:ea typeface="Helvetica Neue"/>
                <a:cs typeface="Helvetica Neue"/>
              </a:defRPr>
            </a:defPPr>
          </a:lstStyle>
          <a:p xmlns:a="http://schemas.openxmlformats.org/drawingml/2006/main">
            <a:pPr algn="l">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The retry succeeds after free space becomes one 550 MB region.</a:t>
            </a:r>
          </a:p>
        </p:txBody>
      </p:sp>
      <p:sp>
        <p:nvSpPr>
          <p:cNvPr id="10" name="text-103">
            <a:extLst xmlns:a="http://schemas.openxmlformats.org/drawingml/2006/main">
              <a:ext uri="{FF2B5EF4-FFF2-40B4-BE49-F238E27FC236}">
                <a16:creationId xmlns:a16="http://schemas.microsoft.com/office/drawing/2014/main" id="{43ADBAEB-3E2B-41D6-B09F-3766B23DBEC4}"/>
              </a:ext>
            </a:extLst>
          </p:cNvPr>
          <p:cNvSpPr>
            <a:spLocks xmlns:a="http://schemas.openxmlformats.org/drawingml/2006/main" noGrp="1"/>
          </p:cNvSpPr>
          <p:nvPr/>
        </p:nvSpPr>
        <p:spPr>
          <a:xfrm xmlns:a="http://schemas.openxmlformats.org/drawingml/2006/main">
            <a:off x="609600" y="6191250"/>
            <a:ext cx="10287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8C6DF"/>
                </a:solidFill>
                <a:latin typeface="Helvetica Neue"/>
                <a:ea typeface="Helvetica Neue"/>
                <a:cs typeface="Helvetica Neue"/>
              </a:defRPr>
            </a:defPPr>
          </a:lstStyle>
          <a:p xmlns:a="http://schemas.openxmlformats.org/drawingml/2006/main">
            <a:pPr algn="l">
              <a:defRPr sz="1500" b="0">
                <a:solidFill>
                  <a:srgbClr val="B8C6DF"/>
                </a:solidFill>
                <a:latin typeface="Helvetica Neue"/>
                <a:ea typeface="Helvetica Neue"/>
                <a:cs typeface="Helvetica Neue"/>
              </a:defRPr>
            </a:pPr>
            <a:r>
              <a:rPr sz="1500" b="0">
                <a:solidFill>
                  <a:srgbClr val="B8C6DF"/>
                </a:solidFill>
                <a:latin typeface="Helvetica Neue"/>
                <a:ea typeface="Helvetica Neue"/>
                <a:cs typeface="Helvetica Neue"/>
              </a:rPr>
              <a:t>Live demo: umang-vekariya.github.io/interactive-memory-allocation-simulator/</a:t>
            </a:r>
          </a:p>
        </p:txBody>
      </p:sp>
    </p:spTree>
    <p:extLst>
      <p:ext uri="{BB962C8B-B14F-4D97-AF65-F5344CB8AC3E}">
        <p14:creationId xmlns:p14="http://schemas.microsoft.com/office/powerpoint/2010/main" val="18883117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2026-10-14T08:49:46.0990000Z</dcterms:created>
  <dcterms:modified xsi:type="dcterms:W3CDTF">2026-10-14T08:49:46.0990000Z</dcterms:modified>
</coreProperties>
</file>