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b6f1a1b55094695" /><Relationship Type="http://schemas.openxmlformats.org/officeDocument/2006/relationships/extended-properties" Target="/docProps/app.xml" Id="Rb1939e824dac4023" /><Relationship Type="http://schemas.openxmlformats.org/officeDocument/2006/relationships/officeDocument" Target="/ppt/presentation.xml" Id="R6705e7ace4914f61" /></Relationships>
</file>

<file path=ppt/presentation.xml><?xml version="1.0" encoding="utf-8"?>
<p:presentation xmlns:p="http://schemas.openxmlformats.org/presentationml/2006/main">
  <p:sldMasterIdLst>
    <p:sldMasterId xmlns:r="http://schemas.openxmlformats.org/officeDocument/2006/relationships" id="2147483648" r:id="R131dd791de5d47d3"/>
  </p:sldMasterIdLst>
  <p:notesMasterIdLst>
    <p:notesMasterId xmlns:r="http://schemas.openxmlformats.org/officeDocument/2006/relationships" r:id="Rf33aa813ecdf4de8"/>
  </p:notesMasterIdLst>
  <p:sldIdLst>
    <p:sldId xmlns:r="http://schemas.openxmlformats.org/officeDocument/2006/relationships" id="256" r:id="R09dde812086844e6"/>
    <p:sldId xmlns:r="http://schemas.openxmlformats.org/officeDocument/2006/relationships" id="257" r:id="R5b616fff8cda4b75"/>
    <p:sldId xmlns:r="http://schemas.openxmlformats.org/officeDocument/2006/relationships" id="258" r:id="R95cbbc4cbfbc4496"/>
    <p:sldId xmlns:r="http://schemas.openxmlformats.org/officeDocument/2006/relationships" id="259" r:id="Ra0671c08f99c45e4"/>
    <p:sldId xmlns:r="http://schemas.openxmlformats.org/officeDocument/2006/relationships" id="260" r:id="R4903bc5e2b514b6b"/>
    <p:sldId xmlns:r="http://schemas.openxmlformats.org/officeDocument/2006/relationships" id="261" r:id="R474a27f8dc614b70"/>
    <p:sldId xmlns:r="http://schemas.openxmlformats.org/officeDocument/2006/relationships" id="262" r:id="R04cf8430ee154477"/>
    <p:sldId xmlns:r="http://schemas.openxmlformats.org/officeDocument/2006/relationships" id="263" r:id="R5260de4c8723435f"/>
    <p:sldId xmlns:r="http://schemas.openxmlformats.org/officeDocument/2006/relationships" id="264" r:id="Rfeb3865ec209404e"/>
    <p:sldId xmlns:r="http://schemas.openxmlformats.org/officeDocument/2006/relationships" id="265" r:id="Rc83da0ce729445f0"/>
    <p:sldId xmlns:r="http://schemas.openxmlformats.org/officeDocument/2006/relationships" id="266" r:id="R39f5742333b84a73"/>
    <p:sldId xmlns:r="http://schemas.openxmlformats.org/officeDocument/2006/relationships" id="267" r:id="Rc51ecf0fed42449e"/>
    <p:sldId xmlns:r="http://schemas.openxmlformats.org/officeDocument/2006/relationships" id="268" r:id="R015940a669744344"/>
    <p:sldId xmlns:r="http://schemas.openxmlformats.org/officeDocument/2006/relationships" id="269" r:id="R259823af3a704845"/>
    <p:sldId xmlns:r="http://schemas.openxmlformats.org/officeDocument/2006/relationships" id="270" r:id="R02633456d15d43a7"/>
    <p:sldId xmlns:r="http://schemas.openxmlformats.org/officeDocument/2006/relationships" id="271" r:id="R4cef28a9a1a44c12"/>
    <p:sldId xmlns:r="http://schemas.openxmlformats.org/officeDocument/2006/relationships" id="272" r:id="Rab754d363cbf425d"/>
    <p:sldId xmlns:r="http://schemas.openxmlformats.org/officeDocument/2006/relationships" id="273" r:id="R340df90cfc504e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5c6b822bb24235" /><Relationship Type="http://schemas.openxmlformats.org/officeDocument/2006/relationships/slideMaster" Target="/ppt/slideMasters/slideMaster1.xml" Id="R131dd791de5d47d3" /><Relationship Type="http://schemas.openxmlformats.org/officeDocument/2006/relationships/notesMaster" Target="/ppt/notesMasters/notesMaster1.xml" Id="Rf33aa813ecdf4de8" /><Relationship Type="http://schemas.openxmlformats.org/officeDocument/2006/relationships/presProps" Target="/ppt/presProps.xml" Id="R8763e3e3d8c24938" /><Relationship Type="http://schemas.openxmlformats.org/officeDocument/2006/relationships/tableStyles" Target="/ppt/tableStyles.xml" Id="R2ee28549e6844173" /><Relationship Type="http://schemas.openxmlformats.org/officeDocument/2006/relationships/slide" Target="/ppt/slides/slide1.xml" Id="R09dde812086844e6" /><Relationship Type="http://schemas.openxmlformats.org/officeDocument/2006/relationships/slide" Target="/ppt/slides/slide2.xml" Id="R5b616fff8cda4b75" /><Relationship Type="http://schemas.openxmlformats.org/officeDocument/2006/relationships/slide" Target="/ppt/slides/slide3.xml" Id="R95cbbc4cbfbc4496" /><Relationship Type="http://schemas.openxmlformats.org/officeDocument/2006/relationships/slide" Target="/ppt/slides/slide4.xml" Id="Ra0671c08f99c45e4" /><Relationship Type="http://schemas.openxmlformats.org/officeDocument/2006/relationships/slide" Target="/ppt/slides/slide5.xml" Id="R4903bc5e2b514b6b" /><Relationship Type="http://schemas.openxmlformats.org/officeDocument/2006/relationships/slide" Target="/ppt/slides/slide6.xml" Id="R474a27f8dc614b70" /><Relationship Type="http://schemas.openxmlformats.org/officeDocument/2006/relationships/slide" Target="/ppt/slides/slide7.xml" Id="R04cf8430ee154477" /><Relationship Type="http://schemas.openxmlformats.org/officeDocument/2006/relationships/slide" Target="/ppt/slides/slide8.xml" Id="R5260de4c8723435f" /><Relationship Type="http://schemas.openxmlformats.org/officeDocument/2006/relationships/slide" Target="/ppt/slides/slide9.xml" Id="Rfeb3865ec209404e" /><Relationship Type="http://schemas.openxmlformats.org/officeDocument/2006/relationships/slide" Target="/ppt/slides/slide10.xml" Id="Rc83da0ce729445f0" /><Relationship Type="http://schemas.openxmlformats.org/officeDocument/2006/relationships/slide" Target="/ppt/slides/slide11.xml" Id="R39f5742333b84a73" /><Relationship Type="http://schemas.openxmlformats.org/officeDocument/2006/relationships/slide" Target="/ppt/slides/slide12.xml" Id="Rc51ecf0fed42449e" /><Relationship Type="http://schemas.openxmlformats.org/officeDocument/2006/relationships/slide" Target="/ppt/slides/slide13.xml" Id="R015940a669744344" /><Relationship Type="http://schemas.openxmlformats.org/officeDocument/2006/relationships/slide" Target="/ppt/slides/slide14.xml" Id="R259823af3a704845" /><Relationship Type="http://schemas.openxmlformats.org/officeDocument/2006/relationships/slide" Target="/ppt/slides/slide15.xml" Id="R02633456d15d43a7" /><Relationship Type="http://schemas.openxmlformats.org/officeDocument/2006/relationships/slide" Target="/ppt/slides/slide16.xml" Id="R4cef28a9a1a44c12" /><Relationship Type="http://schemas.openxmlformats.org/officeDocument/2006/relationships/slide" Target="/ppt/slides/slide17.xml" Id="Rab754d363cbf425d" /><Relationship Type="http://schemas.openxmlformats.org/officeDocument/2006/relationships/slide" Target="/ppt/slides/slide18.xml" Id="R340df90cfc504e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e22b6394714b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a150b3fcd64966" /><Relationship Type="http://schemas.openxmlformats.org/officeDocument/2006/relationships/notesMaster" Target="/ppt/notesMasters/notesMaster1.xml" Id="R64bb7aff4c454e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84ae431e204f45" /><Relationship Type="http://schemas.openxmlformats.org/officeDocument/2006/relationships/notesMaster" Target="/ppt/notesMasters/notesMaster1.xml" Id="Rb63ac6b4276e45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343fc33dce42ff" /><Relationship Type="http://schemas.openxmlformats.org/officeDocument/2006/relationships/notesMaster" Target="/ppt/notesMasters/notesMaster1.xml" Id="Rd0d3f95c8e244a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13fff00cb04704" /><Relationship Type="http://schemas.openxmlformats.org/officeDocument/2006/relationships/notesMaster" Target="/ppt/notesMasters/notesMaster1.xml" Id="Rb20d841dc44344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a5741f209f4b0b" /><Relationship Type="http://schemas.openxmlformats.org/officeDocument/2006/relationships/notesMaster" Target="/ppt/notesMasters/notesMaster1.xml" Id="Rd58d236744e343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5b88783e3a466e" /><Relationship Type="http://schemas.openxmlformats.org/officeDocument/2006/relationships/notesMaster" Target="/ppt/notesMasters/notesMaster1.xml" Id="R4300c648e84744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90f3ff4dbe4482" /><Relationship Type="http://schemas.openxmlformats.org/officeDocument/2006/relationships/notesMaster" Target="/ppt/notesMasters/notesMaster1.xml" Id="Rd3f6b1963cc84a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c7a8fb953b4a6f" /><Relationship Type="http://schemas.openxmlformats.org/officeDocument/2006/relationships/notesMaster" Target="/ppt/notesMasters/notesMaster1.xml" Id="R89a178bd9fdd47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9e3b6d62d644b1" /><Relationship Type="http://schemas.openxmlformats.org/officeDocument/2006/relationships/notesMaster" Target="/ppt/notesMasters/notesMaster1.xml" Id="R7fa755776c5044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6cf48bcec64525" /><Relationship Type="http://schemas.openxmlformats.org/officeDocument/2006/relationships/notesMaster" Target="/ppt/notesMasters/notesMaster1.xml" Id="R102f6b91e5f047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3e0f4647924638" /><Relationship Type="http://schemas.openxmlformats.org/officeDocument/2006/relationships/notesMaster" Target="/ppt/notesMasters/notesMaster1.xml" Id="R1df0d32e082a46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4996668e644a8e" /><Relationship Type="http://schemas.openxmlformats.org/officeDocument/2006/relationships/notesMaster" Target="/ppt/notesMasters/notesMaster1.xml" Id="Rc0feddb6e85e43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f70af68db74df9" /><Relationship Type="http://schemas.openxmlformats.org/officeDocument/2006/relationships/notesMaster" Target="/ppt/notesMasters/notesMaster1.xml" Id="R3b031d762ba044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afc3ca12af41fd" /><Relationship Type="http://schemas.openxmlformats.org/officeDocument/2006/relationships/notesMaster" Target="/ppt/notesMasters/notesMaster1.xml" Id="R204522a60fc64a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bc49cc089142c7" /><Relationship Type="http://schemas.openxmlformats.org/officeDocument/2006/relationships/notesMaster" Target="/ppt/notesMasters/notesMaster1.xml" Id="R681cce4d04624e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f7d9eddab24084" /><Relationship Type="http://schemas.openxmlformats.org/officeDocument/2006/relationships/notesMaster" Target="/ppt/notesMasters/notesMaster1.xml" Id="R7df58b939bbc4d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7549719904741a1" /><Relationship Type="http://schemas.openxmlformats.org/officeDocument/2006/relationships/notesMaster" Target="/ppt/notesMasters/notesMaster1.xml" Id="R57ccdd0640fc4a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b5a82733874984" /><Relationship Type="http://schemas.openxmlformats.org/officeDocument/2006/relationships/notesMaster" Target="/ppt/notesMasters/notesMaster1.xml" Id="R8ff6d9806dd841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team and the project. We simulate contiguous allocation in the browser so each placement decision and its consequences are visible. The deck has fourteen main slides followed by four appendix slides for viva questions. Suggested speaking time is 10 to 12 minutes. Team members can share the concepts, implementation, and demo sections.</a:t>
            </a:r>
          </a:p>
          <a:p xmlns:a="http://schemas.openxmlformats.org/drawingml/2006/main">
            <a:r>
              <a:t>Cover artwork is a conceptual AI-generated illustration created with the built-in image tool. It does not depict physical hardware from this project.</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learning goal rather than listing every feature. Overview introduces placement with a small independent example. The studio supports manual requests, previews, playback, and scenarios. The screenshot is from an earlier demonstration session, before Next Fit and the newest learning views. The current application also shows the saved Next Fit pointer and live metric explanations. All memory sizes and addresses are simulated.</a:t>
            </a:r>
          </a:p>
          <a:p xmlns:a="http://schemas.openxmlformats.org/drawingml/2006/main">
            <a:r>
              <a:t>Source image: docs/images/overview.jpg.</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1,000 MB layout with two existing 250 MB allocations and a 500 MB free hole. A 200 MB request occupies one contiguous region. In variable mode the engine splits the selected hole. The remaining 300 MB stays available. These memory bars are editable native charts with literal size data. Explain that contiguous means adjacent addresses within a single region.</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Fit scans from the beginning. Best Fit and Worst Fit examine all free regions in this list implementation. Next Fit performs a circular First Fit scan from the saved address. All four have O(n) worst-case search time. Explain that no strategy wins every workload. Placement functions return search trails without mutating memory. The engine performs the actual state transition.</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Initially A and B occupied the first two partitions. A then released its partition, leaving the saved Next Fit address at 600 MB. First Fit restarts at zero and places C in the first partition. Next Fit resumes at the third partition and places C there, then wraps its saved address to zero. A 200 MB request reserves a 300 MB fixed partition, leaving 100 MB internal waste. The live pointer shows the resume address. Failed requests and previews never advance it.</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300 MB bars have the same physical size. In fixed mode the engine reserves an entire partition. The unused 100 MB is internal fragmentation, not free memory. In variable mode it allocates exactly 200 MB and retains a separate 100 MB free region. In-place growth uses a following free region in variable mode or unused reserved capacity in fixed mode. The labels show the distinction; colors in this explanatory chart distinguish the named series.</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guided fragmentation state. Five initial allocations of 250, 200, 250, 250, and 50 MB fill 1,000 MB. Releasing P1, P3, and P5 leaves holes of 250, 250, and 50 MB. P2 and P4 remain allocated. P6 requests 400 MB and fails. Total free memory is sufficient, but the largest hole is too small. The engine’s variable-mode external fragmentation metric is 550 minus 250, or 300 MB. That fragmented space is still free and can serve smaller requests.</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Compaction moves P2 from 250–449 to 0–199 and P4 from 700–949 to 200–449. It combines all 550 MB of free space into one region at 450–999. It moves two allocated processes and preserves free memory. The retry places P6 at 450–849 and leaves a 150 MB hole. The final state has 850 MB reserved and 150 MB free. Fixed partition mode disables compaction because partition boundaries must remain fixed.</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charts come from the current engine and all use the same 1,700 MB scale. Each strategy gets an independent state with the same original regions and request sequence. Best Fit allocates all four. First Fit, Worst Fit and Next Fit allocate three. Colors remain consistent for the same process ID. Free regions use a neutral color. Adjacent configured holes initially remain independently selectable to preserve the textbook hole-list model. This is an example outcome, not a universal ranking.</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are from the current memory engine. First Fit has 3 successes, 14 free-block examinations, 43.6% useful utilization and 659 MB external fragmentation. Best Fit has 4, 20, 68.6% and 359 MB. Worst Fit has 3, 20, 43.6% and 659 MB. Next Fit has 3, 12, 43.6% and 659 MB. Search effort counts examined free blocks, not CPU time. Best Fit’s extra scans improve successful placement in this example. All ratios use exact engine values before displayed rounding.</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project tree if the examiner asks. Core has algorithms.js and memory-engine.js. app.js initializes the application, handles controls and coordinates rendering. Interface files show the state and provide features. Scripts share the page scope and load in the order at the bottom of index.html, with app.js last. Browser storage autosaves committed workload actions and reconstructs the state through replay. This project has no database or backend simulation service. It uses plain JavaScript rather than React or TypeScript.</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presenting, start the server with python3 -m http.server 8001 --bind 127.0.0.1 and open http://127.0.0.1:8001/. Open Simulation studio. Start guided demo replaces the current workload after confirmation when needed. Advance with Next stage and avoid unrelated mutations during the lesson. Show the failed P6 request, then compaction, then successful retry. If time allows, open Compare algorithms, run the classic scenario comparison, inspect all four maps and show Next Fit’s saved position. Loading a workload replaces the current session, so save an experiment first if you want to retain it.</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suite passes 48 tests. Its deterministic stress case executes 500 mixed actions per algorithm per partition mode, totaling 4,000 actions. It checks capacity conservation, contiguous address ranges, unique block IDs, process ownership and nonnegative waste. Dedicated checks cover Next Fit wraparound, cursor persistence, preview purity, step commits, saved workload replay and independent comparison. Teaching-view checks verify pointer text, metrics, escaped user content, stale snapshots and reset. These are correctness checks, not a claim about runtime performance.</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the observed results to operating-system concepts. Invite questions and use the appendix for metrics, ranking, Next Fit details and viva answers. The application is a simplified contiguous-memory simulation. It does not implement paging, virtual memory, swapping, CPU scheduling or real kernel allocation. These are possible future extensions rather than current capabilities.</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reserved utilization from useful utilization. Fixed partitions can show high reserved utilization while wasting space internally. External fragmentation is this simulator’s dispersion metric; it does not mean the memory disappeared. Smaller requests can still use it. The external ratio divides by free memory and the internal ratio divides by reserved memory. Both return zero for zero denominators. Fixed partition limitations appear as capacity failures rather than external fragmentation.</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Formula: 0.65 times success rate plus 0.15 times useful payload utilization plus 0.15 times (100 minus external fragmentation ratio) plus 5 times (1 minus searches divided by maximum searches across algorithms, with a minimum denominator of 1). Successful allocations include successful growth attempts. The score is a project-specific comparison aid, not a standard OS theorem. Payload utilization avoids rewarding fixed-partition waste. Every comparison result is a snapshot; rerun it after changing the workload.</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stores an address rather than a block-list index. This prevents splits and merges from invalidating the saved position. When coalescing makes the cursor fall inside a free hole, the search considers that whole region. Variable mode can immediately use the leftover hole from the last allocation. Fixed mode resumes at the next partition. Other algorithms, algorithm switches and in-place growth do not advance the saved Next Fit position. Compaction resets it because relocation changes addresses. Each replay and comparison state maintains its own cursor.</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More possible questions: coalescing merges already adjacent free regions, while compaction relocates allocated processes to bring separate holes together. The model uses simulated MB offsets rather than real pointers. Worst-case search is O(n). Comparison fairness comes from identical starting memory and recorded lifecycle actions on independent states. Local JSON saves replay committed actions rather than trusting imported statistics. Be ready to explain why the initially configured variable holes remain independent until merging or compaction, as documented in the model.</a:t>
            </a:r>
          </a:p>
          <a:p xmlns:a="http://schemas.openxmlformats.org/drawingml/2006/main">
            <a:r>
              <a:t/>
            </a:r>
          </a:p>
          <a:p xmlns:a="http://schemas.openxmlformats.org/drawingml/2006/main">
            <a:r>
              <a:t>Project source: README.md, docs/PROJECT_GUIDE.md, js/core/algorithms.js and js/core/memory-engine.js in OS mem alloc Poject.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f863c186004f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4708f377454f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1979ff977042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e9697527624c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5a21932bb94d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c8ef3eeb8c43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1481BB-E0F3-4536-B266-B646CFD00A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4D328B-1537-4967-A5DB-9DD9254038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678EBB-223D-496D-BFB6-59CC0C9D5E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91EC1B-076A-489F-B161-D19D4C345C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C6C5F0-72B7-4468-B903-26F3014652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A26917-B6B2-45DD-A282-E254DCC40B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52E121-5974-455C-A8D6-7B85FC24CB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22D6B9-DA9A-4D79-A807-B985CCC277E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5198A5-5126-432E-B834-0F7EA0B0D7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5E5C70-80B3-4C6D-9AE0-0AB4C7338D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ea7e3e8b6f4eff" /><Relationship Type="http://schemas.openxmlformats.org/officeDocument/2006/relationships/slideLayout" Target="/ppt/slideLayouts/slideLayout1.xml" Id="Re4bcbacb52ce44b2" /><Relationship Type="http://schemas.openxmlformats.org/officeDocument/2006/relationships/slideLayout" Target="/ppt/slideLayouts/slideLayout2.xml" Id="R8079d407c8584e79" /><Relationship Type="http://schemas.openxmlformats.org/officeDocument/2006/relationships/slideLayout" Target="/ppt/slideLayouts/slideLayout3.xml" Id="R8122c38f972a45a4" /><Relationship Type="http://schemas.openxmlformats.org/officeDocument/2006/relationships/slideLayout" Target="/ppt/slideLayouts/slideLayout4.xml" Id="R25c0663194154645" /><Relationship Type="http://schemas.openxmlformats.org/officeDocument/2006/relationships/slideLayout" Target="/ppt/slideLayouts/slideLayout5.xml" Id="R407b5599b2544f07" /><Relationship Type="http://schemas.openxmlformats.org/officeDocument/2006/relationships/slideLayout" Target="/ppt/slideLayouts/slideLayout6.xml" Id="R2307089118ed48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bcbacb52ce44b2"/>
    <p:sldLayoutId xmlns:r="http://schemas.openxmlformats.org/officeDocument/2006/relationships" id="2147483650" r:id="R8079d407c8584e79"/>
    <p:sldLayoutId xmlns:r="http://schemas.openxmlformats.org/officeDocument/2006/relationships" id="2147483651" r:id="R8122c38f972a45a4"/>
    <p:sldLayoutId xmlns:r="http://schemas.openxmlformats.org/officeDocument/2006/relationships" id="2147483652" r:id="R25c0663194154645"/>
    <p:sldLayoutId xmlns:r="http://schemas.openxmlformats.org/officeDocument/2006/relationships" id="2147483653" r:id="R407b5599b2544f07"/>
    <p:sldLayoutId xmlns:r="http://schemas.openxmlformats.org/officeDocument/2006/relationships" id="2147483654" r:id="R2307089118ed48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71ee74c6254de3" /><Relationship Type="http://schemas.openxmlformats.org/officeDocument/2006/relationships/image" Target="/ppt/media/image.png" Id="R7e6b39cbd8f24d95" /><Relationship Type="http://schemas.openxmlformats.org/officeDocument/2006/relationships/notesSlide" Target="/ppt/notesSlides/notesSlide1.xml" Id="Rbbe7a57c593f48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17a4376059460c" /><Relationship Type="http://schemas.openxmlformats.org/officeDocument/2006/relationships/image" Target="/ppt/media/image.jpeg" Id="R00de015b22a7464a" /><Relationship Type="http://schemas.openxmlformats.org/officeDocument/2006/relationships/notesSlide" Target="/ppt/notesSlides/notesSlide2.xml" Id="R9bcae55eb28547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50db0207ce4392" /><Relationship Type="http://schemas.openxmlformats.org/officeDocument/2006/relationships/chart" Target="/ppt/slides/charts/chart1.xml" Id="R4d01c42fe87142a8" /><Relationship Type="http://schemas.openxmlformats.org/officeDocument/2006/relationships/chart" Target="/ppt/slides/charts/chart2.xml" Id="R4aca784fab6442fa" /><Relationship Type="http://schemas.openxmlformats.org/officeDocument/2006/relationships/notesSlide" Target="/ppt/notesSlides/notesSlide3.xml" Id="R290072fd8db143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a0b0f090614c8b" /><Relationship Type="http://schemas.openxmlformats.org/officeDocument/2006/relationships/notesSlide" Target="/ppt/notesSlides/notesSlide4.xml" Id="R21bdb85ab63f47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c7920ab47a46be" /><Relationship Type="http://schemas.openxmlformats.org/officeDocument/2006/relationships/chart" Target="/ppt/slides/charts/chart3.xml" Id="Rcb87b91a690a4045" /><Relationship Type="http://schemas.openxmlformats.org/officeDocument/2006/relationships/chart" Target="/ppt/slides/charts/chart4.xml" Id="Rb9a5663b51cc4cea" /><Relationship Type="http://schemas.openxmlformats.org/officeDocument/2006/relationships/chart" Target="/ppt/slides/charts/chart5.xml" Id="R8757697c84d140c0" /><Relationship Type="http://schemas.openxmlformats.org/officeDocument/2006/relationships/notesSlide" Target="/ppt/notesSlides/notesSlide5.xml" Id="Ra28b413ac8f747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2b4e20031c4656" /><Relationship Type="http://schemas.openxmlformats.org/officeDocument/2006/relationships/chart" Target="/ppt/slides/charts/chart6.xml" Id="R817db3dbd4aa4428" /><Relationship Type="http://schemas.openxmlformats.org/officeDocument/2006/relationships/chart" Target="/ppt/slides/charts/chart7.xml" Id="R8ae31b83e65e4a7b" /><Relationship Type="http://schemas.openxmlformats.org/officeDocument/2006/relationships/notesSlide" Target="/ppt/notesSlides/notesSlide6.xml" Id="R70e3888f55704e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04924af46148bc" /><Relationship Type="http://schemas.openxmlformats.org/officeDocument/2006/relationships/chart" Target="/ppt/slides/charts/chart8.xml" Id="R859af0bb00e74aa6" /><Relationship Type="http://schemas.openxmlformats.org/officeDocument/2006/relationships/notesSlide" Target="/ppt/notesSlides/notesSlide7.xml" Id="Rf27436930a934e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d2eb14dea74a84" /><Relationship Type="http://schemas.openxmlformats.org/officeDocument/2006/relationships/chart" Target="/ppt/slides/charts/chart9.xml" Id="R9ef15d5dfaed4380" /><Relationship Type="http://schemas.openxmlformats.org/officeDocument/2006/relationships/chart" Target="/ppt/slides/charts/chart10.xml" Id="R6c3b1cd34c0d4827" /><Relationship Type="http://schemas.openxmlformats.org/officeDocument/2006/relationships/notesSlide" Target="/ppt/notesSlides/notesSlide8.xml" Id="R7b920aadd11d4b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70eb4fdb3f4105" /><Relationship Type="http://schemas.openxmlformats.org/officeDocument/2006/relationships/chart" Target="/ppt/slides/charts/chart11.xml" Id="R3c4a5eb042c946fe" /><Relationship Type="http://schemas.openxmlformats.org/officeDocument/2006/relationships/chart" Target="/ppt/slides/charts/chart12.xml" Id="R6468c2d2950b4042" /><Relationship Type="http://schemas.openxmlformats.org/officeDocument/2006/relationships/chart" Target="/ppt/slides/charts/chart13.xml" Id="Rf61b1679fa24416b" /><Relationship Type="http://schemas.openxmlformats.org/officeDocument/2006/relationships/chart" Target="/ppt/slides/charts/chart14.xml" Id="Rf5ec2df700334a86" /><Relationship Type="http://schemas.openxmlformats.org/officeDocument/2006/relationships/notesSlide" Target="/ppt/notesSlides/notesSlide9.xml" Id="R7fe06231a53147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7db0a452464ddc" /><Relationship Type="http://schemas.openxmlformats.org/officeDocument/2006/relationships/notesSlide" Target="/ppt/notesSlides/notesSlide10.xml" Id="R3b99324d223b4c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30be54aa304d86" /><Relationship Type="http://schemas.openxmlformats.org/officeDocument/2006/relationships/notesSlide" Target="/ppt/notesSlides/notesSlide11.xml" Id="R7e6049916a8540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0ac5db5d334700" /><Relationship Type="http://schemas.openxmlformats.org/officeDocument/2006/relationships/notesSlide" Target="/ppt/notesSlides/notesSlide12.xml" Id="Rc3e6d58c7d9843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1c73bb134545cb" /><Relationship Type="http://schemas.openxmlformats.org/officeDocument/2006/relationships/notesSlide" Target="/ppt/notesSlides/notesSlide13.xml" Id="Rf04dbdaeef964a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a9d6b31bd4e46e2" /><Relationship Type="http://schemas.openxmlformats.org/officeDocument/2006/relationships/notesSlide" Target="/ppt/notesSlides/notesSlide14.xml" Id="R367a3d19e8c849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dc9c620c104711" /><Relationship Type="http://schemas.openxmlformats.org/officeDocument/2006/relationships/notesSlide" Target="/ppt/notesSlides/notesSlide15.xml" Id="R775cb863c32f43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59c6564d6374193" /><Relationship Type="http://schemas.openxmlformats.org/officeDocument/2006/relationships/notesSlide" Target="/ppt/notesSlides/notesSlide16.xml" Id="R849ddc2cfd1e43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42c022b47264a94" /><Relationship Type="http://schemas.openxmlformats.org/officeDocument/2006/relationships/notesSlide" Target="/ppt/notesSlides/notesSlide17.xml" Id="R982668fb3e7e4d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d21ffcd282943ee" /><Relationship Type="http://schemas.openxmlformats.org/officeDocument/2006/relationships/notesSlide" Target="/ppt/notesSlides/notesSlide18.xml" Id="R54b04a328b0145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A</c:v>
          </c:tx>
          <c:spPr>
            <a:solidFill xmlns:a="http://schemas.openxmlformats.org/drawingml/2006/main">
              <a:srgbClr val="E879F9"/>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250</c:v>
                </c:pt>
              </c:numCache>
            </c:numRef>
          </c:val>
        </c:ser>
        <c:ser>
          <c:idx val="1"/>
          <c:order val="1"/>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500</c:v>
                </c:pt>
              </c:numCache>
            </c:numRef>
          </c:val>
        </c:ser>
        <c:ser>
          <c:idx val="2"/>
          <c:order val="2"/>
          <c:tx>
            <c:v>B</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250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A</c:v>
          </c:tx>
          <c:spPr>
            <a:solidFill xmlns:a="http://schemas.openxmlformats.org/drawingml/2006/main">
              <a:srgbClr val="E879F9"/>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250</c:v>
                </c:pt>
              </c:numCache>
            </c:numRef>
          </c:val>
        </c:ser>
        <c:ser>
          <c:idx val="1"/>
          <c:order val="1"/>
          <c:tx>
            <c:v>New</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200</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300</c:v>
                </c:pt>
              </c:numCache>
            </c:numRef>
          </c:val>
        </c:ser>
        <c:ser>
          <c:idx val="3"/>
          <c:order val="3"/>
          <c:tx>
            <c:v>B</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Data'!$G$2:$G$2</c:f>
              <c:strCache>
                <c:ptCount val="1"/>
                <c:pt idx="0">
                  <c:v>Memory</c:v>
                </c:pt>
              </c:strCache>
            </c:strRef>
          </c:cat>
          <c:val>
            <c:numRef>
              <c:f>'Chart Data'!$H$2:$H$2</c:f>
              <c:numCache>
                <c:formatCode>General</c:formatCode>
                <c:ptCount val="1"/>
                <c:pt idx="0">
                  <c:v>250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300</c:v>
                </c:pt>
              </c:numCache>
            </c:numRef>
          </c:val>
        </c:ser>
        <c:ser>
          <c:idx val="1"/>
          <c:order val="1"/>
          <c:tx>
            <c:v>B</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300</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300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c:v>
          </c:tx>
          <c:spPr>
            <a:solidFill xmlns:a="http://schemas.openxmlformats.org/drawingml/2006/main">
              <a:srgbClr val="A78B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300</c:v>
                </c:pt>
              </c:numCache>
            </c:numRef>
          </c:val>
        </c:ser>
        <c:ser>
          <c:idx val="1"/>
          <c:order val="1"/>
          <c:tx>
            <c:v>B</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300</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300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300</c:v>
                </c:pt>
              </c:numCache>
            </c:numRef>
          </c:val>
        </c:ser>
        <c:ser>
          <c:idx val="1"/>
          <c:order val="1"/>
          <c:tx>
            <c:v>B</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300</c:v>
                </c:pt>
              </c:numCache>
            </c:numRef>
          </c:val>
        </c:ser>
        <c:ser>
          <c:idx val="2"/>
          <c:order val="2"/>
          <c:tx>
            <c:v>C</c:v>
          </c:tx>
          <c:spPr>
            <a:solidFill xmlns:a="http://schemas.openxmlformats.org/drawingml/2006/main">
              <a:srgbClr val="A78B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300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Payload</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200</c:v>
                </c:pt>
              </c:numCache>
            </c:numRef>
          </c:val>
        </c:ser>
        <c:ser>
          <c:idx val="1"/>
          <c:order val="1"/>
          <c:tx>
            <c:v>Waste</c:v>
          </c:tx>
          <c:spPr>
            <a:solidFill xmlns:a="http://schemas.openxmlformats.org/drawingml/2006/main">
              <a:srgbClr val="FBBF24"/>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100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Payload</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200</c:v>
                </c:pt>
              </c:numCache>
            </c:numRef>
          </c:val>
        </c:ser>
        <c:ser>
          <c:idx val="1"/>
          <c:order val="1"/>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100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0B1220"/>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250</c:v>
                </c:pt>
              </c:numCache>
            </c:numRef>
          </c:val>
        </c:ser>
        <c:ser>
          <c:idx val="1"/>
          <c:order val="1"/>
          <c:tx>
            <c:v>P2</c:v>
          </c:tx>
          <c:spPr>
            <a:solidFill xmlns:a="http://schemas.openxmlformats.org/drawingml/2006/main">
              <a:srgbClr val="818CF8"/>
            </a:solidFill>
            <a:ln xmlns:a="http://schemas.openxmlformats.org/drawingml/2006/main" w="9525">
              <a:solidFill>
                <a:srgbClr val="0B1220"/>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200</c:v>
                </c:pt>
              </c:numCache>
            </c:numRef>
          </c:val>
        </c:ser>
        <c:ser>
          <c:idx val="2"/>
          <c:order val="2"/>
          <c:tx>
            <c:v>Free</c:v>
          </c:tx>
          <c:spPr>
            <a:solidFill xmlns:a="http://schemas.openxmlformats.org/drawingml/2006/main">
              <a:srgbClr val="CBD5E1"/>
            </a:solidFill>
            <a:ln xmlns:a="http://schemas.openxmlformats.org/drawingml/2006/main" w="9525">
              <a:solidFill>
                <a:srgbClr val="0B1220"/>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250</c:v>
                </c:pt>
              </c:numCache>
            </c:numRef>
          </c:val>
        </c:ser>
        <c:ser>
          <c:idx val="3"/>
          <c:order val="3"/>
          <c:tx>
            <c:v>P4</c:v>
          </c:tx>
          <c:spPr>
            <a:solidFill xmlns:a="http://schemas.openxmlformats.org/drawingml/2006/main">
              <a:srgbClr val="60A5FA"/>
            </a:solidFill>
            <a:ln xmlns:a="http://schemas.openxmlformats.org/drawingml/2006/main" w="9525">
              <a:solidFill>
                <a:srgbClr val="0B1220"/>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Data'!$G$2:$G$2</c:f>
              <c:strCache>
                <c:ptCount val="1"/>
                <c:pt idx="0">
                  <c:v>Memory</c:v>
                </c:pt>
              </c:strCache>
            </c:strRef>
          </c:cat>
          <c:val>
            <c:numRef>
              <c:f>'Chart Data'!$H$2:$H$2</c:f>
              <c:numCache>
                <c:formatCode>General</c:formatCode>
                <c:ptCount val="1"/>
                <c:pt idx="0">
                  <c:v>250</c:v>
                </c:pt>
              </c:numCache>
            </c:numRef>
          </c:val>
        </c:ser>
        <c:ser>
          <c:idx val="4"/>
          <c:order val="4"/>
          <c:tx>
            <c:v>Free</c:v>
          </c:tx>
          <c:spPr>
            <a:solidFill xmlns:a="http://schemas.openxmlformats.org/drawingml/2006/main">
              <a:srgbClr val="CBD5E1"/>
            </a:solidFill>
            <a:ln xmlns:a="http://schemas.openxmlformats.org/drawingml/2006/main" w="9525">
              <a:solidFill>
                <a:srgbClr val="0B1220"/>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Data'!$I$2:$I$2</c:f>
              <c:strCache>
                <c:ptCount val="1"/>
                <c:pt idx="0">
                  <c:v>Memory</c:v>
                </c:pt>
              </c:strCache>
            </c:strRef>
          </c:cat>
          <c:val>
            <c:numRef>
              <c:f>'Chart Data'!$J$2:$J$2</c:f>
              <c:numCache>
                <c:formatCode>General</c:formatCode>
                <c:ptCount val="1"/>
                <c:pt idx="0">
                  <c:v>50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250</c:v>
                </c:pt>
              </c:numCache>
            </c:numRef>
          </c:val>
        </c:ser>
        <c:ser>
          <c:idx val="1"/>
          <c:order val="1"/>
          <c:tx>
            <c:v>P2</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200</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250</c:v>
                </c:pt>
              </c:numCache>
            </c:numRef>
          </c:val>
        </c:ser>
        <c:ser>
          <c:idx val="3"/>
          <c:order val="3"/>
          <c:tx>
            <c:v>P4</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Data'!$G$2:$G$2</c:f>
              <c:strCache>
                <c:ptCount val="1"/>
                <c:pt idx="0">
                  <c:v>Memory</c:v>
                </c:pt>
              </c:strCache>
            </c:strRef>
          </c:cat>
          <c:val>
            <c:numRef>
              <c:f>'Chart Data'!$H$2:$H$2</c:f>
              <c:numCache>
                <c:formatCode>General</c:formatCode>
                <c:ptCount val="1"/>
                <c:pt idx="0">
                  <c:v>250</c:v>
                </c:pt>
              </c:numCache>
            </c:numRef>
          </c:val>
        </c:ser>
        <c:ser>
          <c:idx val="4"/>
          <c:order val="4"/>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Data'!$I$2:$I$2</c:f>
              <c:strCache>
                <c:ptCount val="1"/>
                <c:pt idx="0">
                  <c:v>Memory</c:v>
                </c:pt>
              </c:strCache>
            </c:strRef>
          </c:cat>
          <c:val>
            <c:numRef>
              <c:f>'Chart Data'!$J$2:$J$2</c:f>
              <c:numCache>
                <c:formatCode>General</c:formatCode>
                <c:ptCount val="1"/>
                <c:pt idx="0">
                  <c:v>50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P2</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200</c:v>
                </c:pt>
              </c:numCache>
            </c:numRef>
          </c:val>
        </c:ser>
        <c:ser>
          <c:idx val="1"/>
          <c:order val="1"/>
          <c:tx>
            <c:v>P4</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250</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550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100</c:v>
                </c:pt>
              </c:numCache>
            </c:numRef>
          </c:val>
        </c:ser>
        <c:ser>
          <c:idx val="1"/>
          <c:order val="1"/>
          <c:tx>
            <c:v>P1</c:v>
          </c:tx>
          <c:spPr>
            <a:solidFill xmlns:a="http://schemas.openxmlformats.org/drawingml/2006/main">
              <a:srgbClr val="38BD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212</c:v>
                </c:pt>
              </c:numCache>
            </c:numRef>
          </c:val>
        </c:ser>
        <c:ser>
          <c:idx val="2"/>
          <c:order val="2"/>
          <c:tx>
            <c:v>P3</c:v>
          </c:tx>
          <c:spPr>
            <a:solidFill xmlns:a="http://schemas.openxmlformats.org/drawingml/2006/main">
              <a:srgbClr val="E879F9"/>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112</c:v>
                </c:pt>
              </c:numCache>
            </c:numRef>
          </c:val>
        </c:ser>
        <c:ser>
          <c:idx val="3"/>
          <c:order val="3"/>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Data'!$G$2:$G$2</c:f>
              <c:strCache>
                <c:ptCount val="1"/>
                <c:pt idx="0">
                  <c:v>Memory</c:v>
                </c:pt>
              </c:strCache>
            </c:strRef>
          </c:cat>
          <c:val>
            <c:numRef>
              <c:f>'Chart Data'!$H$2:$H$2</c:f>
              <c:numCache>
                <c:formatCode>General</c:formatCode>
                <c:ptCount val="1"/>
                <c:pt idx="0">
                  <c:v>176</c:v>
                </c:pt>
              </c:numCache>
            </c:numRef>
          </c:val>
        </c:ser>
        <c:ser>
          <c:idx val="4"/>
          <c:order val="4"/>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Data'!$I$2:$I$2</c:f>
              <c:strCache>
                <c:ptCount val="1"/>
                <c:pt idx="0">
                  <c:v>Memory</c:v>
                </c:pt>
              </c:strCache>
            </c:strRef>
          </c:cat>
          <c:val>
            <c:numRef>
              <c:f>'Chart Data'!$J$2:$J$2</c:f>
              <c:numCache>
                <c:formatCode>General</c:formatCode>
                <c:ptCount val="1"/>
                <c:pt idx="0">
                  <c:v>200</c:v>
                </c:pt>
              </c:numCache>
            </c:numRef>
          </c:val>
        </c:ser>
        <c:ser>
          <c:idx val="5"/>
          <c:order val="5"/>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Data'!$K$2:$K$2</c:f>
              <c:strCache>
                <c:ptCount val="1"/>
                <c:pt idx="0">
                  <c:v>Memory</c:v>
                </c:pt>
              </c:strCache>
            </c:strRef>
          </c:cat>
          <c:val>
            <c:numRef>
              <c:f>'Chart Data'!$L$2:$L$2</c:f>
              <c:numCache>
                <c:formatCode>General</c:formatCode>
                <c:ptCount val="1"/>
                <c:pt idx="0">
                  <c:v>300</c:v>
                </c:pt>
              </c:numCache>
            </c:numRef>
          </c:val>
        </c:ser>
        <c:ser>
          <c:idx val="6"/>
          <c:order val="6"/>
          <c:tx>
            <c:v>P2</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Data'!$M$2:$M$2</c:f>
              <c:strCache>
                <c:ptCount val="1"/>
                <c:pt idx="0">
                  <c:v>Memory</c:v>
                </c:pt>
              </c:strCache>
            </c:strRef>
          </c:cat>
          <c:val>
            <c:numRef>
              <c:f>'Chart Data'!$N$2:$N$2</c:f>
              <c:numCache>
                <c:formatCode>General</c:formatCode>
                <c:ptCount val="1"/>
                <c:pt idx="0">
                  <c:v>417</c:v>
                </c:pt>
              </c:numCache>
            </c:numRef>
          </c:val>
        </c:ser>
        <c:ser>
          <c:idx val="7"/>
          <c:order val="7"/>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Data'!$O$2:$O$2</c:f>
              <c:strCache>
                <c:ptCount val="1"/>
                <c:pt idx="0">
                  <c:v>Memory</c:v>
                </c:pt>
              </c:strCache>
            </c:strRef>
          </c:cat>
          <c:val>
            <c:numRef>
              <c:f>'Chart Data'!$P$2:$P$2</c:f>
              <c:numCache>
                <c:formatCode>General</c:formatCode>
                <c:ptCount val="1"/>
                <c:pt idx="0">
                  <c:v>183</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100</c:v>
                </c:pt>
              </c:numCache>
            </c:numRef>
          </c:val>
        </c:ser>
        <c:ser>
          <c:idx val="1"/>
          <c:order val="1"/>
          <c:tx>
            <c:v>P2</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417</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83</c:v>
                </c:pt>
              </c:numCache>
            </c:numRef>
          </c:val>
        </c:ser>
        <c:ser>
          <c:idx val="3"/>
          <c:order val="3"/>
          <c:tx>
            <c:v>P3</c:v>
          </c:tx>
          <c:spPr>
            <a:solidFill xmlns:a="http://schemas.openxmlformats.org/drawingml/2006/main">
              <a:srgbClr val="E879F9"/>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Data'!$G$2:$G$2</c:f>
              <c:strCache>
                <c:ptCount val="1"/>
                <c:pt idx="0">
                  <c:v>Memory</c:v>
                </c:pt>
              </c:strCache>
            </c:strRef>
          </c:cat>
          <c:val>
            <c:numRef>
              <c:f>'Chart Data'!$H$2:$H$2</c:f>
              <c:numCache>
                <c:formatCode>General</c:formatCode>
                <c:ptCount val="1"/>
                <c:pt idx="0">
                  <c:v>112</c:v>
                </c:pt>
              </c:numCache>
            </c:numRef>
          </c:val>
        </c:ser>
        <c:ser>
          <c:idx val="4"/>
          <c:order val="4"/>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Data'!$I$2:$I$2</c:f>
              <c:strCache>
                <c:ptCount val="1"/>
                <c:pt idx="0">
                  <c:v>Memory</c:v>
                </c:pt>
              </c:strCache>
            </c:strRef>
          </c:cat>
          <c:val>
            <c:numRef>
              <c:f>'Chart Data'!$J$2:$J$2</c:f>
              <c:numCache>
                <c:formatCode>General</c:formatCode>
                <c:ptCount val="1"/>
                <c:pt idx="0">
                  <c:v>88</c:v>
                </c:pt>
              </c:numCache>
            </c:numRef>
          </c:val>
        </c:ser>
        <c:ser>
          <c:idx val="5"/>
          <c:order val="5"/>
          <c:tx>
            <c:v>P1</c:v>
          </c:tx>
          <c:spPr>
            <a:solidFill xmlns:a="http://schemas.openxmlformats.org/drawingml/2006/main">
              <a:srgbClr val="38BD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Data'!$K$2:$K$2</c:f>
              <c:strCache>
                <c:ptCount val="1"/>
                <c:pt idx="0">
                  <c:v>Memory</c:v>
                </c:pt>
              </c:strCache>
            </c:strRef>
          </c:cat>
          <c:val>
            <c:numRef>
              <c:f>'Chart Data'!$L$2:$L$2</c:f>
              <c:numCache>
                <c:formatCode>General</c:formatCode>
                <c:ptCount val="1"/>
                <c:pt idx="0">
                  <c:v>212</c:v>
                </c:pt>
              </c:numCache>
            </c:numRef>
          </c:val>
        </c:ser>
        <c:ser>
          <c:idx val="6"/>
          <c:order val="6"/>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Data'!$M$2:$M$2</c:f>
              <c:strCache>
                <c:ptCount val="1"/>
                <c:pt idx="0">
                  <c:v>Memory</c:v>
                </c:pt>
              </c:strCache>
            </c:strRef>
          </c:cat>
          <c:val>
            <c:numRef>
              <c:f>'Chart Data'!$N$2:$N$2</c:f>
              <c:numCache>
                <c:formatCode>General</c:formatCode>
                <c:ptCount val="1"/>
                <c:pt idx="0">
                  <c:v>88</c:v>
                </c:pt>
              </c:numCache>
            </c:numRef>
          </c:val>
        </c:ser>
        <c:ser>
          <c:idx val="7"/>
          <c:order val="7"/>
          <c:tx>
            <c:v>P4</c:v>
          </c:tx>
          <c:spPr>
            <a:solidFill xmlns:a="http://schemas.openxmlformats.org/drawingml/2006/main">
              <a:srgbClr val="60A5FA"/>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Data'!$O$2:$O$2</c:f>
              <c:strCache>
                <c:ptCount val="1"/>
                <c:pt idx="0">
                  <c:v>Memory</c:v>
                </c:pt>
              </c:strCache>
            </c:strRef>
          </c:cat>
          <c:val>
            <c:numRef>
              <c:f>'Chart Data'!$P$2:$P$2</c:f>
              <c:numCache>
                <c:formatCode>General</c:formatCode>
                <c:ptCount val="1"/>
                <c:pt idx="0">
                  <c:v>426</c:v>
                </c:pt>
              </c:numCache>
            </c:numRef>
          </c:val>
        </c:ser>
        <c:ser>
          <c:idx val="8"/>
          <c:order val="8"/>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Data'!$Q$2:$Q$2</c:f>
              <c:strCache>
                <c:ptCount val="1"/>
                <c:pt idx="0">
                  <c:v>Memory</c:v>
                </c:pt>
              </c:strCache>
            </c:strRef>
          </c:cat>
          <c:val>
            <c:numRef>
              <c:f>'Chart Data'!$R$2:$R$2</c:f>
              <c:numCache>
                <c:formatCode>General</c:formatCode>
                <c:ptCount val="1"/>
                <c:pt idx="0">
                  <c:v>174</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100</c:v>
                </c:pt>
              </c:numCache>
            </c:numRef>
          </c:val>
        </c:ser>
        <c:ser>
          <c:idx val="1"/>
          <c:order val="1"/>
          <c:tx>
            <c:v>P2</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417</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83</c:v>
                </c:pt>
              </c:numCache>
            </c:numRef>
          </c:val>
        </c:ser>
        <c:ser>
          <c:idx val="3"/>
          <c:order val="3"/>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Data'!$G$2:$G$2</c:f>
              <c:strCache>
                <c:ptCount val="1"/>
                <c:pt idx="0">
                  <c:v>Memory</c:v>
                </c:pt>
              </c:strCache>
            </c:strRef>
          </c:cat>
          <c:val>
            <c:numRef>
              <c:f>'Chart Data'!$H$2:$H$2</c:f>
              <c:numCache>
                <c:formatCode>General</c:formatCode>
                <c:ptCount val="1"/>
                <c:pt idx="0">
                  <c:v>200</c:v>
                </c:pt>
              </c:numCache>
            </c:numRef>
          </c:val>
        </c:ser>
        <c:ser>
          <c:idx val="4"/>
          <c:order val="4"/>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Data'!$I$2:$I$2</c:f>
              <c:strCache>
                <c:ptCount val="1"/>
                <c:pt idx="0">
                  <c:v>Memory</c:v>
                </c:pt>
              </c:strCache>
            </c:strRef>
          </c:cat>
          <c:val>
            <c:numRef>
              <c:f>'Chart Data'!$J$2:$J$2</c:f>
              <c:numCache>
                <c:formatCode>General</c:formatCode>
                <c:ptCount val="1"/>
                <c:pt idx="0">
                  <c:v>300</c:v>
                </c:pt>
              </c:numCache>
            </c:numRef>
          </c:val>
        </c:ser>
        <c:ser>
          <c:idx val="5"/>
          <c:order val="5"/>
          <c:tx>
            <c:v>P1</c:v>
          </c:tx>
          <c:spPr>
            <a:solidFill xmlns:a="http://schemas.openxmlformats.org/drawingml/2006/main">
              <a:srgbClr val="38BD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Data'!$K$2:$K$2</c:f>
              <c:strCache>
                <c:ptCount val="1"/>
                <c:pt idx="0">
                  <c:v>Memory</c:v>
                </c:pt>
              </c:strCache>
            </c:strRef>
          </c:cat>
          <c:val>
            <c:numRef>
              <c:f>'Chart Data'!$L$2:$L$2</c:f>
              <c:numCache>
                <c:formatCode>General</c:formatCode>
                <c:ptCount val="1"/>
                <c:pt idx="0">
                  <c:v>212</c:v>
                </c:pt>
              </c:numCache>
            </c:numRef>
          </c:val>
        </c:ser>
        <c:ser>
          <c:idx val="6"/>
          <c:order val="6"/>
          <c:tx>
            <c:v>P3</c:v>
          </c:tx>
          <c:spPr>
            <a:solidFill xmlns:a="http://schemas.openxmlformats.org/drawingml/2006/main">
              <a:srgbClr val="E879F9"/>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Data'!$M$2:$M$2</c:f>
              <c:strCache>
                <c:ptCount val="1"/>
                <c:pt idx="0">
                  <c:v>Memory</c:v>
                </c:pt>
              </c:strCache>
            </c:strRef>
          </c:cat>
          <c:val>
            <c:numRef>
              <c:f>'Chart Data'!$N$2:$N$2</c:f>
              <c:numCache>
                <c:formatCode>General</c:formatCode>
                <c:ptCount val="1"/>
                <c:pt idx="0">
                  <c:v>112</c:v>
                </c:pt>
              </c:numCache>
            </c:numRef>
          </c:val>
        </c:ser>
        <c:ser>
          <c:idx val="7"/>
          <c:order val="7"/>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Data'!$O$2:$O$2</c:f>
              <c:strCache>
                <c:ptCount val="1"/>
                <c:pt idx="0">
                  <c:v>Memory</c:v>
                </c:pt>
              </c:strCache>
            </c:strRef>
          </c:cat>
          <c:val>
            <c:numRef>
              <c:f>'Chart Data'!$P$2:$P$2</c:f>
              <c:numCache>
                <c:formatCode>General</c:formatCode>
                <c:ptCount val="1"/>
                <c:pt idx="0">
                  <c:v>276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Data'!$A$2:$A$2</c:f>
              <c:strCache>
                <c:ptCount val="1"/>
                <c:pt idx="0">
                  <c:v>Memory</c:v>
                </c:pt>
              </c:strCache>
            </c:strRef>
          </c:cat>
          <c:val>
            <c:numRef>
              <c:f>'Chart Data'!$B$2:$B$2</c:f>
              <c:numCache>
                <c:formatCode>General</c:formatCode>
                <c:ptCount val="1"/>
                <c:pt idx="0">
                  <c:v>100</c:v>
                </c:pt>
              </c:numCache>
            </c:numRef>
          </c:val>
        </c:ser>
        <c:ser>
          <c:idx val="1"/>
          <c:order val="1"/>
          <c:tx>
            <c:v>P1</c:v>
          </c:tx>
          <c:spPr>
            <a:solidFill xmlns:a="http://schemas.openxmlformats.org/drawingml/2006/main">
              <a:srgbClr val="38BD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Data'!$C$2:$C$2</c:f>
              <c:strCache>
                <c:ptCount val="1"/>
                <c:pt idx="0">
                  <c:v>Memory</c:v>
                </c:pt>
              </c:strCache>
            </c:strRef>
          </c:cat>
          <c:val>
            <c:numRef>
              <c:f>'Chart Data'!$D$2:$D$2</c:f>
              <c:numCache>
                <c:formatCode>General</c:formatCode>
                <c:ptCount val="1"/>
                <c:pt idx="0">
                  <c:v>212</c:v>
                </c:pt>
              </c:numCache>
            </c:numRef>
          </c:val>
        </c:ser>
        <c:ser>
          <c:idx val="2"/>
          <c:order val="2"/>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Data'!$E$2:$E$2</c:f>
              <c:strCache>
                <c:ptCount val="1"/>
                <c:pt idx="0">
                  <c:v>Memory</c:v>
                </c:pt>
              </c:strCache>
            </c:strRef>
          </c:cat>
          <c:val>
            <c:numRef>
              <c:f>'Chart Data'!$F$2:$F$2</c:f>
              <c:numCache>
                <c:formatCode>General</c:formatCode>
                <c:ptCount val="1"/>
                <c:pt idx="0">
                  <c:v>288</c:v>
                </c:pt>
              </c:numCache>
            </c:numRef>
          </c:val>
        </c:ser>
        <c:ser>
          <c:idx val="3"/>
          <c:order val="3"/>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Data'!$G$2:$G$2</c:f>
              <c:strCache>
                <c:ptCount val="1"/>
                <c:pt idx="0">
                  <c:v>Memory</c:v>
                </c:pt>
              </c:strCache>
            </c:strRef>
          </c:cat>
          <c:val>
            <c:numRef>
              <c:f>'Chart Data'!$H$2:$H$2</c:f>
              <c:numCache>
                <c:formatCode>General</c:formatCode>
                <c:ptCount val="1"/>
                <c:pt idx="0">
                  <c:v>200</c:v>
                </c:pt>
              </c:numCache>
            </c:numRef>
          </c:val>
        </c:ser>
        <c:ser>
          <c:idx val="4"/>
          <c:order val="4"/>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1"/>
            <c:showPercent val="0"/>
            <c:showBubbleSize val="0"/>
            <c:separator>
</c:separator>
            <c:showLeaderLines val="0"/>
          </c:dLbls>
          <c:cat>
            <c:strRef>
              <c:f>'Chart Data'!$I$2:$I$2</c:f>
              <c:strCache>
                <c:ptCount val="1"/>
                <c:pt idx="0">
                  <c:v>Memory</c:v>
                </c:pt>
              </c:strCache>
            </c:strRef>
          </c:cat>
          <c:val>
            <c:numRef>
              <c:f>'Chart Data'!$J$2:$J$2</c:f>
              <c:numCache>
                <c:formatCode>General</c:formatCode>
                <c:ptCount val="1"/>
                <c:pt idx="0">
                  <c:v>300</c:v>
                </c:pt>
              </c:numCache>
            </c:numRef>
          </c:val>
        </c:ser>
        <c:ser>
          <c:idx val="5"/>
          <c:order val="5"/>
          <c:tx>
            <c:v>P2</c:v>
          </c:tx>
          <c:spPr>
            <a:solidFill xmlns:a="http://schemas.openxmlformats.org/drawingml/2006/main">
              <a:srgbClr val="818CF8"/>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1"/>
            <c:showCatName val="0"/>
            <c:showSerName val="1"/>
            <c:showPercent val="0"/>
            <c:showBubbleSize val="0"/>
            <c:separator>
</c:separator>
            <c:showLeaderLines val="0"/>
          </c:dLbls>
          <c:cat>
            <c:strRef>
              <c:f>'Chart Data'!$K$2:$K$2</c:f>
              <c:strCache>
                <c:ptCount val="1"/>
                <c:pt idx="0">
                  <c:v>Memory</c:v>
                </c:pt>
              </c:strCache>
            </c:strRef>
          </c:cat>
          <c:val>
            <c:numRef>
              <c:f>'Chart Data'!$L$2:$L$2</c:f>
              <c:numCache>
                <c:formatCode>General</c:formatCode>
                <c:ptCount val="1"/>
                <c:pt idx="0">
                  <c:v>417</c:v>
                </c:pt>
              </c:numCache>
            </c:numRef>
          </c:val>
        </c:ser>
        <c:ser>
          <c:idx val="6"/>
          <c:order val="6"/>
          <c:tx>
            <c:v>P3</c:v>
          </c:tx>
          <c:spPr>
            <a:solidFill xmlns:a="http://schemas.openxmlformats.org/drawingml/2006/main">
              <a:srgbClr val="E879F9"/>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Data'!$M$2:$M$2</c:f>
              <c:strCache>
                <c:ptCount val="1"/>
                <c:pt idx="0">
                  <c:v>Memory</c:v>
                </c:pt>
              </c:strCache>
            </c:strRef>
          </c:cat>
          <c:val>
            <c:numRef>
              <c:f>'Chart Data'!$N$2:$N$2</c:f>
              <c:numCache>
                <c:formatCode>General</c:formatCode>
                <c:ptCount val="1"/>
                <c:pt idx="0">
                  <c:v>112</c:v>
                </c:pt>
              </c:numCache>
            </c:numRef>
          </c:val>
        </c:ser>
        <c:ser>
          <c:idx val="7"/>
          <c:order val="7"/>
          <c:tx>
            <c:v>Free</c:v>
          </c:tx>
          <c:spPr>
            <a:solidFill xmlns:a="http://schemas.openxmlformats.org/drawingml/2006/main">
              <a:srgbClr val="CBD5E1"/>
            </a:solidFill>
            <a:ln xmlns:a="http://schemas.openxmlformats.org/drawingml/2006/main" w="9525">
              <a:solidFill>
                <a:srgbClr val="FFFFFF"/>
              </a:solidFill>
            </a:ln>
          </c:spPr>
          <c:invertIfNegative val="0"/>
          <c:dLbls>
            <c:numFmt formatCode="0&quot; MB&quot;" sourceLinked="0"/>
            <c:txPr>
              <a:bodyPr xmlns:a="http://schemas.openxmlformats.org/drawingml/2006/main" anchorCtr="1"/>
              <a:lstStyle xmlns:a="http://schemas.openxmlformats.org/drawingml/2006/main"/>
              <a:p xmlns:a="http://schemas.openxmlformats.org/drawingml/2006/main">
                <a:pPr>
                  <a:defRPr sz="1725" b="1">
                    <a:solidFill>
                      <a:srgbClr val="0F172A"/>
                    </a:solidFill>
                    <a:latin typeface="Helvetica Neue"/>
                    <a:ea typeface="Helvetica Neue"/>
                    <a:cs typeface="Helvetica Neue"/>
                  </a:defRPr>
                </a:pPr>
              </a:p>
            </c:txPr>
            <c:dLblPos val="ctr"/>
            <c:showLegendKey val="0"/>
            <c:showVal val="0"/>
            <c:showCatName val="0"/>
            <c:showSerName val="0"/>
            <c:showPercent val="0"/>
            <c:showBubbleSize val="0"/>
            <c:separator>
</c:separator>
            <c:showLeaderLines val="0"/>
          </c:dLbls>
          <c:cat>
            <c:strRef>
              <c:f>'Chart Data'!$O$2:$O$2</c:f>
              <c:strCache>
                <c:ptCount val="1"/>
                <c:pt idx="0">
                  <c:v>Memory</c:v>
                </c:pt>
              </c:strCache>
            </c:strRef>
          </c:cat>
          <c:val>
            <c:numRef>
              <c:f>'Chart Data'!$P$2:$P$2</c:f>
              <c:numCache>
                <c:formatCode>General</c:formatCode>
                <c:ptCount val="1"/>
                <c:pt idx="0">
                  <c:v>71</c:v>
                </c:pt>
              </c:numCache>
            </c:numRef>
          </c:val>
        </c:ser>
        <c:dLbls>
          <c:txPr>
            <a:bodyPr xmlns:a="http://schemas.openxmlformats.org/drawingml/2006/main" anchorCtr="1"/>
            <a:lstStyle xmlns:a="http://schemas.openxmlformats.org/drawingml/2006/main"/>
            <a:p xmlns:a="http://schemas.openxmlformats.org/drawingml/2006/main">
              <a:pPr>
                <a:defRPr sz="1575">
                  <a:solidFill>
                    <a:srgbClr val="0F172A"/>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01D0CF6F-A72B-42C0-A9B7-E9EBC749DBA2}"/>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8CA1C5"/>
                </a:solidFill>
                <a:latin typeface="Helvetica Neue"/>
                <a:ea typeface="Helvetica Neue"/>
                <a:cs typeface="Helvetica Neue"/>
              </a:defRPr>
            </a:defPPr>
          </a:lstStyle>
          <a:p xmlns:a="http://schemas.openxmlformats.org/drawingml/2006/main">
            <a:pPr algn="r">
              <a:defRPr sz="1275" b="0">
                <a:solidFill>
                  <a:srgbClr val="8CA1C5"/>
                </a:solidFill>
                <a:latin typeface="Helvetica Neue"/>
                <a:ea typeface="Helvetica Neue"/>
                <a:cs typeface="Helvetica Neue"/>
              </a:defRPr>
            </a:pPr>
            <a:r>
              <a:rPr sz="1275" b="0">
                <a:solidFill>
                  <a:srgbClr val="8CA1C5"/>
                </a:solidFill>
                <a:latin typeface="Helvetica Neue"/>
                <a:ea typeface="Helvetica Neue"/>
                <a:cs typeface="Helvetica Neue"/>
              </a:rPr>
              <a:t>01</a:t>
            </a:r>
          </a:p>
        </p:txBody>
      </p:sp>
      <p:pic>
        <p:nvPicPr>
          <p:cNvPr id="2" name="">
            <a:extLst xmlns:a="http://schemas.openxmlformats.org/drawingml/2006/main">
              <a:ext uri="{FF2B5EF4-FFF2-40B4-BE49-F238E27FC236}">
                <a16:creationId xmlns:a16="http://schemas.microsoft.com/office/drawing/2014/main" id="{871BFF00-AD33-41E1-8C71-87B3FB330438}"/>
              </a:ext>
            </a:extLst>
          </p:cNvPr>
          <p:cNvPicPr>
            <a:picLocks xmlns:a="http://schemas.openxmlformats.org/drawingml/2006/main" noChangeAspect="1"/>
          </p:cNvPicPr>
          <p:nvPr/>
        </p:nvPicPr>
        <p:blipFill>
          <a:blip xmlns:r="http://schemas.openxmlformats.org/officeDocument/2006/relationships" xmlns:a="http://schemas.openxmlformats.org/drawingml/2006/main" r:embed="R7e6b39cbd8f24d9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2B19E9DF-8118-46C0-9712-4A5F7F3A6E57}"/>
              </a:ext>
            </a:extLst>
          </p:cNvPr>
          <p:cNvSpPr>
            <a:spLocks xmlns:a="http://schemas.openxmlformats.org/drawingml/2006/main" noGrp="1"/>
          </p:cNvSpPr>
          <p:nvPr/>
        </p:nvSpPr>
        <p:spPr>
          <a:xfrm xmlns:a="http://schemas.openxmlformats.org/drawingml/2006/main">
            <a:off x="609600" y="1609725"/>
            <a:ext cx="5238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Interactive</a:t>
            </a:r>
          </a:p>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Memory Allocation</a:t>
            </a:r>
          </a:p>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Simulator</a:t>
            </a:r>
          </a:p>
        </p:txBody>
      </p:sp>
      <p:sp>
        <p:nvSpPr>
          <p:cNvPr id="4" name="text-3">
            <a:extLst xmlns:a="http://schemas.openxmlformats.org/drawingml/2006/main">
              <a:ext uri="{FF2B5EF4-FFF2-40B4-BE49-F238E27FC236}">
                <a16:creationId xmlns:a16="http://schemas.microsoft.com/office/drawing/2014/main" id="{0E53A4BC-3CCB-42B4-B525-5340D892F69F}"/>
              </a:ext>
            </a:extLst>
          </p:cNvPr>
          <p:cNvSpPr>
            <a:spLocks xmlns:a="http://schemas.openxmlformats.org/drawingml/2006/main" noGrp="1"/>
          </p:cNvSpPr>
          <p:nvPr/>
        </p:nvSpPr>
        <p:spPr>
          <a:xfrm xmlns:a="http://schemas.openxmlformats.org/drawingml/2006/main">
            <a:off x="628650" y="43243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B8C6DF"/>
                </a:solidFill>
                <a:latin typeface="Helvetica Neue"/>
                <a:ea typeface="Helvetica Neue"/>
                <a:cs typeface="Helvetica Neue"/>
              </a:defRPr>
            </a:defPPr>
          </a:lstStyle>
          <a:p xmlns:a="http://schemas.openxmlformats.org/drawingml/2006/main">
            <a:pPr algn="l">
              <a:defRPr sz="2100" b="0">
                <a:solidFill>
                  <a:srgbClr val="B8C6DF"/>
                </a:solidFill>
                <a:latin typeface="Helvetica Neue"/>
                <a:ea typeface="Helvetica Neue"/>
                <a:cs typeface="Helvetica Neue"/>
              </a:defRPr>
            </a:pPr>
            <a:r>
              <a:rPr sz="2100" b="0">
                <a:solidFill>
                  <a:srgbClr val="B8C6DF"/>
                </a:solidFill>
                <a:latin typeface="Helvetica Neue"/>
                <a:ea typeface="Helvetica Neue"/>
                <a:cs typeface="Helvetica Neue"/>
              </a:rPr>
              <a:t>Operating Systems Project</a:t>
            </a:r>
          </a:p>
        </p:txBody>
      </p:sp>
      <p:sp>
        <p:nvSpPr>
          <p:cNvPr id="5" name="text-4">
            <a:extLst xmlns:a="http://schemas.openxmlformats.org/drawingml/2006/main">
              <a:ext uri="{FF2B5EF4-FFF2-40B4-BE49-F238E27FC236}">
                <a16:creationId xmlns:a16="http://schemas.microsoft.com/office/drawing/2014/main" id="{93B3A22E-1833-44FC-BAB1-FA08D708B628}"/>
              </a:ext>
            </a:extLst>
          </p:cNvPr>
          <p:cNvSpPr>
            <a:spLocks xmlns:a="http://schemas.openxmlformats.org/drawingml/2006/main" noGrp="1"/>
          </p:cNvSpPr>
          <p:nvPr/>
        </p:nvSpPr>
        <p:spPr>
          <a:xfrm xmlns:a="http://schemas.openxmlformats.org/drawingml/2006/main">
            <a:off x="628650" y="5238750"/>
            <a:ext cx="4381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Helvetica Neue"/>
                <a:ea typeface="Helvetica Neue"/>
                <a:cs typeface="Helvetica Neue"/>
              </a:defRPr>
            </a:defPPr>
          </a:lstStyle>
          <a:p xmlns:a="http://schemas.openxmlformats.org/drawingml/2006/main">
            <a:pPr algn="l">
              <a:defRPr sz="1800" b="0">
                <a:solidFill>
                  <a:srgbClr val="E2E8F0"/>
                </a:solidFill>
                <a:latin typeface="Helvetica Neue"/>
                <a:ea typeface="Helvetica Neue"/>
                <a:cs typeface="Helvetica Neue"/>
              </a:defRPr>
            </a:pPr>
            <a:r>
              <a:rPr sz="1800" b="0">
                <a:solidFill>
                  <a:srgbClr val="E2E8F0"/>
                </a:solidFill>
                <a:latin typeface="Helvetica Neue"/>
                <a:ea typeface="Helvetica Neue"/>
                <a:cs typeface="Helvetica Neue"/>
              </a:rPr>
              <a:t>Umang Vekariya</a:t>
            </a:r>
          </a:p>
          <a:p xmlns:a="http://schemas.openxmlformats.org/drawingml/2006/main">
            <a:pPr algn="l">
              <a:defRPr sz="1800" b="0">
                <a:solidFill>
                  <a:srgbClr val="E2E8F0"/>
                </a:solidFill>
                <a:latin typeface="Helvetica Neue"/>
                <a:ea typeface="Helvetica Neue"/>
                <a:cs typeface="Helvetica Neue"/>
              </a:defRPr>
            </a:pPr>
            <a:r>
              <a:rPr sz="1800" b="0">
                <a:solidFill>
                  <a:srgbClr val="E2E8F0"/>
                </a:solidFill>
                <a:latin typeface="Helvetica Neue"/>
                <a:ea typeface="Helvetica Neue"/>
                <a:cs typeface="Helvetica Neue"/>
              </a:rPr>
              <a:t>Sarthak Dhawale</a:t>
            </a:r>
          </a:p>
          <a:p xmlns:a="http://schemas.openxmlformats.org/drawingml/2006/main">
            <a:pPr algn="l">
              <a:defRPr sz="1800" b="0">
                <a:solidFill>
                  <a:srgbClr val="E2E8F0"/>
                </a:solidFill>
                <a:latin typeface="Helvetica Neue"/>
                <a:ea typeface="Helvetica Neue"/>
                <a:cs typeface="Helvetica Neue"/>
              </a:defRPr>
            </a:pPr>
            <a:r>
              <a:rPr sz="1800" b="0">
                <a:solidFill>
                  <a:srgbClr val="E2E8F0"/>
                </a:solidFill>
                <a:latin typeface="Helvetica Neue"/>
                <a:ea typeface="Helvetica Neue"/>
                <a:cs typeface="Helvetica Neue"/>
              </a:rPr>
              <a:t>Aditya Khunt</a:t>
            </a:r>
          </a:p>
        </p:txBody>
      </p:sp>
    </p:spTree>
    <p:extLst>
      <p:ext uri="{BB962C8B-B14F-4D97-AF65-F5344CB8AC3E}">
        <p14:creationId xmlns:p14="http://schemas.microsoft.com/office/powerpoint/2010/main" val="10005089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5">
            <a:extLst xmlns:a="http://schemas.openxmlformats.org/drawingml/2006/main">
              <a:ext uri="{FF2B5EF4-FFF2-40B4-BE49-F238E27FC236}">
                <a16:creationId xmlns:a16="http://schemas.microsoft.com/office/drawing/2014/main" id="{35EB7B16-6DF4-4692-8C5D-B518AE94B8F2}"/>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The simulator makes allocation decisions visible</a:t>
            </a:r>
          </a:p>
        </p:txBody>
      </p:sp>
      <p:sp>
        <p:nvSpPr>
          <p:cNvPr id="2" name="text-6">
            <a:extLst xmlns:a="http://schemas.openxmlformats.org/drawingml/2006/main">
              <a:ext uri="{FF2B5EF4-FFF2-40B4-BE49-F238E27FC236}">
                <a16:creationId xmlns:a16="http://schemas.microsoft.com/office/drawing/2014/main" id="{DB8CCC13-E2AC-43E9-B9A7-DB8946921C3A}"/>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02</a:t>
            </a:r>
          </a:p>
        </p:txBody>
      </p:sp>
      <p:sp>
        <p:nvSpPr>
          <p:cNvPr id="3" name="text-7">
            <a:extLst xmlns:a="http://schemas.openxmlformats.org/drawingml/2006/main">
              <a:ext uri="{FF2B5EF4-FFF2-40B4-BE49-F238E27FC236}">
                <a16:creationId xmlns:a16="http://schemas.microsoft.com/office/drawing/2014/main" id="{5424DD3B-C647-4833-B95F-89BD0AD125A5}"/>
              </a:ext>
            </a:extLst>
          </p:cNvPr>
          <p:cNvSpPr>
            <a:spLocks xmlns:a="http://schemas.openxmlformats.org/drawingml/2006/main" noGrp="1"/>
          </p:cNvSpPr>
          <p:nvPr/>
        </p:nvSpPr>
        <p:spPr>
          <a:xfrm xmlns:a="http://schemas.openxmlformats.org/drawingml/2006/main">
            <a:off x="609600" y="17145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2563EB"/>
                </a:solidFill>
                <a:latin typeface="Helvetica Neue"/>
                <a:ea typeface="Helvetica Neue"/>
                <a:cs typeface="Helvetica Neue"/>
              </a:defRPr>
            </a:defPPr>
          </a:lstStyle>
          <a:p xmlns:a="http://schemas.openxmlformats.org/drawingml/2006/main">
            <a:pPr algn="l">
              <a:defRPr sz="2475" b="1">
                <a:solidFill>
                  <a:srgbClr val="2563EB"/>
                </a:solidFill>
                <a:latin typeface="Helvetica Neue"/>
                <a:ea typeface="Helvetica Neue"/>
                <a:cs typeface="Helvetica Neue"/>
              </a:defRPr>
            </a:pPr>
            <a:r>
              <a:rPr sz="2475" b="1">
                <a:solidFill>
                  <a:srgbClr val="2563EB"/>
                </a:solidFill>
                <a:latin typeface="Helvetica Neue"/>
                <a:ea typeface="Helvetica Neue"/>
                <a:cs typeface="Helvetica Neue"/>
              </a:rPr>
              <a:t>Where does a request fit?</a:t>
            </a:r>
          </a:p>
        </p:txBody>
      </p:sp>
      <p:sp>
        <p:nvSpPr>
          <p:cNvPr id="4" name="text-8">
            <a:extLst xmlns:a="http://schemas.openxmlformats.org/drawingml/2006/main">
              <a:ext uri="{FF2B5EF4-FFF2-40B4-BE49-F238E27FC236}">
                <a16:creationId xmlns:a16="http://schemas.microsoft.com/office/drawing/2014/main" id="{0EFB05D8-F1AC-4458-8297-FF56778D6F9C}"/>
              </a:ext>
            </a:extLst>
          </p:cNvPr>
          <p:cNvSpPr>
            <a:spLocks xmlns:a="http://schemas.openxmlformats.org/drawingml/2006/main" noGrp="1"/>
          </p:cNvSpPr>
          <p:nvPr/>
        </p:nvSpPr>
        <p:spPr>
          <a:xfrm xmlns:a="http://schemas.openxmlformats.org/drawingml/2006/main">
            <a:off x="609600" y="238125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F172A"/>
                </a:solidFill>
                <a:latin typeface="Helvetica Neue"/>
                <a:ea typeface="Helvetica Neue"/>
                <a:cs typeface="Helvetica Neue"/>
              </a:defRPr>
            </a:defPPr>
          </a:lstStyle>
          <a:p xmlns:a="http://schemas.openxmlformats.org/drawingml/2006/main">
            <a:pPr algn="l">
              <a:defRPr sz="2175" b="0">
                <a:solidFill>
                  <a:srgbClr val="0F172A"/>
                </a:solidFill>
                <a:latin typeface="Helvetica Neue"/>
                <a:ea typeface="Helvetica Neue"/>
                <a:cs typeface="Helvetica Neue"/>
              </a:defRPr>
            </a:pPr>
            <a:r>
              <a:rPr sz="2175" b="0">
                <a:solidFill>
                  <a:srgbClr val="0F172A"/>
                </a:solidFill>
                <a:latin typeface="Helvetica Neue"/>
                <a:ea typeface="Helvetica Neue"/>
                <a:cs typeface="Helvetica Neue"/>
              </a:rPr>
              <a:t>Choose a strategy and watch the memory layout change.</a:t>
            </a:r>
          </a:p>
        </p:txBody>
      </p:sp>
      <p:sp>
        <p:nvSpPr>
          <p:cNvPr id="5" name="text-9">
            <a:extLst xmlns:a="http://schemas.openxmlformats.org/drawingml/2006/main">
              <a:ext uri="{FF2B5EF4-FFF2-40B4-BE49-F238E27FC236}">
                <a16:creationId xmlns:a16="http://schemas.microsoft.com/office/drawing/2014/main" id="{BC686DC3-DBCE-42A8-92A8-077F578CCC4F}"/>
              </a:ext>
            </a:extLst>
          </p:cNvPr>
          <p:cNvSpPr>
            <a:spLocks xmlns:a="http://schemas.openxmlformats.org/drawingml/2006/main" noGrp="1"/>
          </p:cNvSpPr>
          <p:nvPr/>
        </p:nvSpPr>
        <p:spPr>
          <a:xfrm xmlns:a="http://schemas.openxmlformats.org/drawingml/2006/main">
            <a:off x="609600" y="3667125"/>
            <a:ext cx="40005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47C"/>
                </a:solidFill>
                <a:latin typeface="Helvetica Neue"/>
                <a:ea typeface="Helvetica Neue"/>
                <a:cs typeface="Helvetica Neue"/>
              </a:defRPr>
            </a:defPPr>
          </a:lstStyle>
          <a:p xmlns:a="http://schemas.openxmlformats.org/drawingml/2006/main">
            <a:pPr algn="l">
              <a:defRPr sz="2025" b="0">
                <a:solidFill>
                  <a:srgbClr val="52647C"/>
                </a:solidFill>
                <a:latin typeface="Helvetica Neue"/>
                <a:ea typeface="Helvetica Neue"/>
                <a:cs typeface="Helvetica Neue"/>
              </a:defRPr>
            </a:pPr>
            <a:r>
              <a:rPr sz="2025" b="0">
                <a:solidFill>
                  <a:srgbClr val="52647C"/>
                </a:solidFill>
                <a:latin typeface="Helvetica Neue"/>
                <a:ea typeface="Helvetica Neue"/>
                <a:cs typeface="Helvetica Neue"/>
              </a:rPr>
              <a:t>Inspect failed requests, fragmentation, and compaction. Compare the same workload across four algorithms.</a:t>
            </a:r>
          </a:p>
        </p:txBody>
      </p:sp>
      <p:pic>
        <p:nvPicPr>
          <p:cNvPr id="6" name="">
            <a:extLst xmlns:a="http://schemas.openxmlformats.org/drawingml/2006/main">
              <a:ext uri="{FF2B5EF4-FFF2-40B4-BE49-F238E27FC236}">
                <a16:creationId xmlns:a16="http://schemas.microsoft.com/office/drawing/2014/main" id="{7E42CE65-FD80-4EDF-81BA-114C74F38FB3}"/>
              </a:ext>
            </a:extLst>
          </p:cNvPr>
          <p:cNvPicPr>
            <a:picLocks xmlns:a="http://schemas.openxmlformats.org/drawingml/2006/main" noChangeAspect="1"/>
          </p:cNvPicPr>
          <p:nvPr/>
        </p:nvPicPr>
        <p:blipFill>
          <a:blip xmlns:r="http://schemas.openxmlformats.org/officeDocument/2006/relationships" xmlns:a="http://schemas.openxmlformats.org/drawingml/2006/main" r:embed="R00de015b22a7464a"/>
          <a:stretch xmlns:a="http://schemas.openxmlformats.org/drawingml/2006/main"/>
        </p:blipFill>
        <p:spPr>
          <a:xfrm xmlns:a="http://schemas.openxmlformats.org/drawingml/2006/main">
            <a:off x="5086350" y="1751059"/>
            <a:ext cx="6477000" cy="3641633"/>
          </a:xfrm>
          <a:prstGeom xmlns:a="http://schemas.openxmlformats.org/drawingml/2006/main" prst="rect">
            <a:avLst/>
          </a:prstGeom>
        </p:spPr>
      </p:pic>
      <p:sp>
        <p:nvSpPr>
          <p:cNvPr id="7" name="text-10">
            <a:extLst xmlns:a="http://schemas.openxmlformats.org/drawingml/2006/main">
              <a:ext uri="{FF2B5EF4-FFF2-40B4-BE49-F238E27FC236}">
                <a16:creationId xmlns:a16="http://schemas.microsoft.com/office/drawing/2014/main" id="{4ED9EA72-3798-450E-88A8-C10179137852}"/>
              </a:ext>
            </a:extLst>
          </p:cNvPr>
          <p:cNvSpPr>
            <a:spLocks xmlns:a="http://schemas.openxmlformats.org/drawingml/2006/main" noGrp="1"/>
          </p:cNvSpPr>
          <p:nvPr/>
        </p:nvSpPr>
        <p:spPr>
          <a:xfrm xmlns:a="http://schemas.openxmlformats.org/drawingml/2006/main">
            <a:off x="5086350" y="556260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7C"/>
                </a:solidFill>
                <a:latin typeface="Helvetica Neue"/>
                <a:ea typeface="Helvetica Neue"/>
                <a:cs typeface="Helvetica Neue"/>
              </a:defRPr>
            </a:defPPr>
          </a:lstStyle>
          <a:p xmlns:a="http://schemas.openxmlformats.org/drawingml/2006/main">
            <a:pPr algn="l">
              <a:defRPr sz="1350" b="0">
                <a:solidFill>
                  <a:srgbClr val="52647C"/>
                </a:solidFill>
                <a:latin typeface="Helvetica Neue"/>
                <a:ea typeface="Helvetica Neue"/>
                <a:cs typeface="Helvetica Neue"/>
              </a:defRPr>
            </a:pPr>
            <a:r>
              <a:rPr sz="1350" b="0">
                <a:solidFill>
                  <a:srgbClr val="52647C"/>
                </a:solidFill>
                <a:latin typeface="Helvetica Neue"/>
                <a:ea typeface="Helvetica Neue"/>
                <a:cs typeface="Helvetica Neue"/>
              </a:rPr>
              <a:t>Interface example from an earlier demonstration session</a:t>
            </a:r>
          </a:p>
        </p:txBody>
      </p:sp>
    </p:spTree>
    <p:extLst>
      <p:ext uri="{BB962C8B-B14F-4D97-AF65-F5344CB8AC3E}">
        <p14:creationId xmlns:p14="http://schemas.microsoft.com/office/powerpoint/2010/main" val="16538751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1">
            <a:extLst xmlns:a="http://schemas.openxmlformats.org/drawingml/2006/main">
              <a:ext uri="{FF2B5EF4-FFF2-40B4-BE49-F238E27FC236}">
                <a16:creationId xmlns:a16="http://schemas.microsoft.com/office/drawing/2014/main" id="{3AED578E-EE6A-432C-ABDE-CF48BFF00DB2}"/>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Contiguous memory allocation</a:t>
            </a:r>
          </a:p>
        </p:txBody>
      </p:sp>
      <p:sp>
        <p:nvSpPr>
          <p:cNvPr id="2" name="text-12">
            <a:extLst xmlns:a="http://schemas.openxmlformats.org/drawingml/2006/main">
              <a:ext uri="{FF2B5EF4-FFF2-40B4-BE49-F238E27FC236}">
                <a16:creationId xmlns:a16="http://schemas.microsoft.com/office/drawing/2014/main" id="{EF2BA79C-DAB5-48B7-AA3D-56D852570275}"/>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A process needs one region large enough for its entire request</a:t>
            </a:r>
          </a:p>
        </p:txBody>
      </p:sp>
      <p:sp>
        <p:nvSpPr>
          <p:cNvPr id="3" name="text-13">
            <a:extLst xmlns:a="http://schemas.openxmlformats.org/drawingml/2006/main">
              <a:ext uri="{FF2B5EF4-FFF2-40B4-BE49-F238E27FC236}">
                <a16:creationId xmlns:a16="http://schemas.microsoft.com/office/drawing/2014/main" id="{99DBB2B0-34F7-432C-9426-48809476B7D5}"/>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03</a:t>
            </a:r>
          </a:p>
        </p:txBody>
      </p:sp>
      <p:sp>
        <p:nvSpPr>
          <p:cNvPr id="4" name="text-14">
            <a:extLst xmlns:a="http://schemas.openxmlformats.org/drawingml/2006/main">
              <a:ext uri="{FF2B5EF4-FFF2-40B4-BE49-F238E27FC236}">
                <a16:creationId xmlns:a16="http://schemas.microsoft.com/office/drawing/2014/main" id="{7272158C-CCEB-48E8-837E-5632AA649E04}"/>
              </a:ext>
            </a:extLst>
          </p:cNvPr>
          <p:cNvSpPr>
            <a:spLocks xmlns:a="http://schemas.openxmlformats.org/drawingml/2006/main" noGrp="1"/>
          </p:cNvSpPr>
          <p:nvPr/>
        </p:nvSpPr>
        <p:spPr>
          <a:xfrm xmlns:a="http://schemas.openxmlformats.org/drawingml/2006/main">
            <a:off x="609600" y="20669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172A"/>
                </a:solidFill>
                <a:latin typeface="Helvetica Neue"/>
                <a:ea typeface="Helvetica Neue"/>
                <a:cs typeface="Helvetica Neue"/>
              </a:defRPr>
            </a:defPPr>
          </a:lstStyle>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Before a 200 MB request</a:t>
            </a:r>
          </a:p>
        </p:txBody>
      </p:sp>
      <p:graphicFrame>
        <p:nvGraphicFramePr>
          <p:cNvPr id="5" name="Chart">
            <a:extLst xmlns:a="http://schemas.openxmlformats.org/drawingml/2006/main">
              <a:ext uri="{FF2B5EF4-FFF2-40B4-BE49-F238E27FC236}">
                <a16:creationId xmlns:a16="http://schemas.microsoft.com/office/drawing/2014/main" id="{F32DBC18-774D-4364-9941-E9819DECF0F1}"/>
              </a:ext>
            </a:extLst>
          </p:cNvPr>
          <p:cNvGraphicFramePr/>
          <p:nvPr/>
        </p:nvGraphicFramePr>
        <p:xfrm>
          <a:off xmlns:a="http://schemas.openxmlformats.org/drawingml/2006/main" x="609600" y="2466975"/>
          <a:ext xmlns:a="http://schemas.openxmlformats.org/drawingml/2006/main" cx="10953750" cy="1066800"/>
        </p:xfrm>
        <a:graphic xmlns:a="http://schemas.openxmlformats.org/drawingml/2006/main">
          <a:graphicData uri="http://schemas.openxmlformats.org/drawingml/2006/chart">
            <c:chart xmlns:r="http://schemas.openxmlformats.org/officeDocument/2006/relationships" xmlns:c="http://schemas.openxmlformats.org/drawingml/2006/chart" r:id="R4d01c42fe87142a8"/>
          </a:graphicData>
        </a:graphic>
      </p:graphicFrame>
      <p:sp>
        <p:nvSpPr>
          <p:cNvPr id="6" name="text-15">
            <a:extLst xmlns:a="http://schemas.openxmlformats.org/drawingml/2006/main">
              <a:ext uri="{FF2B5EF4-FFF2-40B4-BE49-F238E27FC236}">
                <a16:creationId xmlns:a16="http://schemas.microsoft.com/office/drawing/2014/main" id="{F75DD91A-4DC8-44D2-982A-B79C2B71DECC}"/>
              </a:ext>
            </a:extLst>
          </p:cNvPr>
          <p:cNvSpPr>
            <a:spLocks xmlns:a="http://schemas.openxmlformats.org/drawingml/2006/main" noGrp="1"/>
          </p:cNvSpPr>
          <p:nvPr/>
        </p:nvSpPr>
        <p:spPr>
          <a:xfrm xmlns:a="http://schemas.openxmlformats.org/drawingml/2006/main">
            <a:off x="609600" y="391477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172A"/>
                </a:solidFill>
                <a:latin typeface="Helvetica Neue"/>
                <a:ea typeface="Helvetica Neue"/>
                <a:cs typeface="Helvetica Neue"/>
              </a:defRPr>
            </a:defPPr>
          </a:lstStyle>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After allocation</a:t>
            </a:r>
          </a:p>
        </p:txBody>
      </p:sp>
      <p:graphicFrame>
        <p:nvGraphicFramePr>
          <p:cNvPr id="7" name="Chart">
            <a:extLst xmlns:a="http://schemas.openxmlformats.org/drawingml/2006/main">
              <a:ext uri="{FF2B5EF4-FFF2-40B4-BE49-F238E27FC236}">
                <a16:creationId xmlns:a16="http://schemas.microsoft.com/office/drawing/2014/main" id="{39958AD5-0156-428D-8149-FC7631EB414E}"/>
              </a:ext>
            </a:extLst>
          </p:cNvPr>
          <p:cNvGraphicFramePr/>
          <p:nvPr/>
        </p:nvGraphicFramePr>
        <p:xfrm>
          <a:off xmlns:a="http://schemas.openxmlformats.org/drawingml/2006/main" x="609600" y="4314825"/>
          <a:ext xmlns:a="http://schemas.openxmlformats.org/drawingml/2006/main" cx="10953750" cy="1066800"/>
        </p:xfrm>
        <a:graphic xmlns:a="http://schemas.openxmlformats.org/drawingml/2006/main">
          <a:graphicData uri="http://schemas.openxmlformats.org/drawingml/2006/chart">
            <c:chart xmlns:r="http://schemas.openxmlformats.org/officeDocument/2006/relationships" xmlns:c="http://schemas.openxmlformats.org/drawingml/2006/chart" r:id="R4aca784fab6442fa"/>
          </a:graphicData>
        </a:graphic>
      </p:graphicFrame>
      <p:sp>
        <p:nvSpPr>
          <p:cNvPr id="8" name="text-16">
            <a:extLst xmlns:a="http://schemas.openxmlformats.org/drawingml/2006/main">
              <a:ext uri="{FF2B5EF4-FFF2-40B4-BE49-F238E27FC236}">
                <a16:creationId xmlns:a16="http://schemas.microsoft.com/office/drawing/2014/main" id="{95B5F8A7-59AE-4632-B5C0-1FE14DA935DD}"/>
              </a:ext>
            </a:extLst>
          </p:cNvPr>
          <p:cNvSpPr>
            <a:spLocks xmlns:a="http://schemas.openxmlformats.org/drawingml/2006/main" noGrp="1"/>
          </p:cNvSpPr>
          <p:nvPr/>
        </p:nvSpPr>
        <p:spPr>
          <a:xfrm xmlns:a="http://schemas.openxmlformats.org/drawingml/2006/main">
            <a:off x="609600" y="57150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The 500 MB hole becomes a 200 MB allocation and 300 MB of free space.</a:t>
            </a:r>
          </a:p>
        </p:txBody>
      </p:sp>
    </p:spTree>
    <p:extLst>
      <p:ext uri="{BB962C8B-B14F-4D97-AF65-F5344CB8AC3E}">
        <p14:creationId xmlns:p14="http://schemas.microsoft.com/office/powerpoint/2010/main" val="518534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7">
            <a:extLst xmlns:a="http://schemas.openxmlformats.org/drawingml/2006/main">
              <a:ext uri="{FF2B5EF4-FFF2-40B4-BE49-F238E27FC236}">
                <a16:creationId xmlns:a16="http://schemas.microsoft.com/office/drawing/2014/main" id="{C05B2E33-3605-417C-8B1A-5FFF1CCFE7C5}"/>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Four placement strategies</a:t>
            </a:r>
          </a:p>
        </p:txBody>
      </p:sp>
      <p:sp>
        <p:nvSpPr>
          <p:cNvPr id="2" name="text-18">
            <a:extLst xmlns:a="http://schemas.openxmlformats.org/drawingml/2006/main">
              <a:ext uri="{FF2B5EF4-FFF2-40B4-BE49-F238E27FC236}">
                <a16:creationId xmlns:a16="http://schemas.microsoft.com/office/drawing/2014/main" id="{01A4C219-0AE5-4654-ABAE-360460FEB087}"/>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Each strategy uses the same request and current free regions</a:t>
            </a:r>
          </a:p>
        </p:txBody>
      </p:sp>
      <p:sp>
        <p:nvSpPr>
          <p:cNvPr id="3" name="text-19">
            <a:extLst xmlns:a="http://schemas.openxmlformats.org/drawingml/2006/main">
              <a:ext uri="{FF2B5EF4-FFF2-40B4-BE49-F238E27FC236}">
                <a16:creationId xmlns:a16="http://schemas.microsoft.com/office/drawing/2014/main" id="{80FFFFBB-8BA1-47B7-A547-5A3CE6FCD065}"/>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04</a:t>
            </a:r>
          </a:p>
        </p:txBody>
      </p:sp>
      <p:graphicFrame>
        <p:nvGraphicFramePr>
          <p:cNvPr id="4" name="">
            <a:extLst xmlns:a="http://schemas.openxmlformats.org/drawingml/2006/main">
              <a:ext uri="{FF2B5EF4-FFF2-40B4-BE49-F238E27FC236}">
                <a16:creationId xmlns:a16="http://schemas.microsoft.com/office/drawing/2014/main" id="{62E5FACC-551F-45A9-8259-6DA890B53614}"/>
              </a:ext>
            </a:extLst>
          </p:cNvPr>
          <p:cNvGraphicFramePr/>
          <p:nvPr/>
        </p:nvGraphicFramePr>
        <p:xfrm>
          <a:off xmlns:a="http://schemas.openxmlformats.org/drawingml/2006/main" x="609600" y="2066925"/>
          <a:ext xmlns:a="http://schemas.openxmlformats.org/drawingml/2006/main" cx="10972800" cy="3476625"/>
        </p:xfrm>
        <a:graphic xmlns:a="http://schemas.openxmlformats.org/drawingml/2006/main">
          <a:graphicData uri="http://schemas.openxmlformats.org/drawingml/2006/table">
            <a:tbl>
              <a:tblPr/>
              <a:tblGrid>
                <a:gridCol w="2381250"/>
                <a:gridCol w="8591550"/>
              </a:tblGrid>
              <a:tr h="695325">
                <a:tc>
                  <a:txBody>
                    <a:bodyPr/>
                    <a:lstStyle/>
                    <a:p>
                      <a:r>
                        <a:rPr sz="2025" b="1">
                          <a:solidFill>
                            <a:srgbClr val="FFFFFF"/>
                          </a:solidFill>
                          <a:latin typeface="Helvetica Neue"/>
                          <a:ea typeface="Helvetica Neue"/>
                          <a:cs typeface="Helvetica Neue"/>
                        </a:rPr>
                        <a:t>Strategy</a:t>
                      </a:r>
                    </a:p>
                  </a:txBody>
                  <a:tcPr marL="152400" marR="152400" marT="114300" marB="114300" anchor="ctr">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2025" b="1">
                          <a:solidFill>
                            <a:srgbClr val="FFFFFF"/>
                          </a:solidFill>
                          <a:latin typeface="Helvetica Neue"/>
                          <a:ea typeface="Helvetica Neue"/>
                          <a:cs typeface="Helvetica Neue"/>
                        </a:rPr>
                        <a:t>Selection rule</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r>
              <a:tr h="695325">
                <a:tc>
                  <a:txBody>
                    <a:bodyPr/>
                    <a:lstStyle/>
                    <a:p>
                      <a:r>
                        <a:rPr sz="2025" b="0">
                          <a:solidFill>
                            <a:srgbClr val="0F172A"/>
                          </a:solidFill>
                          <a:latin typeface="Helvetica Neue"/>
                          <a:ea typeface="Helvetica Neue"/>
                          <a:cs typeface="Helvetica Neue"/>
                        </a:rPr>
                        <a:t>First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0F172A"/>
                          </a:solidFill>
                          <a:latin typeface="Helvetica Neue"/>
                          <a:ea typeface="Helvetica Neue"/>
                          <a:cs typeface="Helvetica Neue"/>
                        </a:rPr>
                        <a:t>The first free region large enough</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95325">
                <a:tc>
                  <a:txBody>
                    <a:bodyPr/>
                    <a:lstStyle/>
                    <a:p>
                      <a:r>
                        <a:rPr sz="2025" b="0">
                          <a:solidFill>
                            <a:srgbClr val="0F172A"/>
                          </a:solidFill>
                          <a:latin typeface="Helvetica Neue"/>
                          <a:ea typeface="Helvetica Neue"/>
                          <a:cs typeface="Helvetica Neue"/>
                        </a:rPr>
                        <a:t>Best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0F172A"/>
                          </a:solidFill>
                          <a:latin typeface="Helvetica Neue"/>
                          <a:ea typeface="Helvetica Neue"/>
                          <a:cs typeface="Helvetica Neue"/>
                        </a:rPr>
                        <a:t>The smallest free region large enough</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95325">
                <a:tc>
                  <a:txBody>
                    <a:bodyPr/>
                    <a:lstStyle/>
                    <a:p>
                      <a:r>
                        <a:rPr sz="2025" b="0">
                          <a:solidFill>
                            <a:srgbClr val="0F172A"/>
                          </a:solidFill>
                          <a:latin typeface="Helvetica Neue"/>
                          <a:ea typeface="Helvetica Neue"/>
                          <a:cs typeface="Helvetica Neue"/>
                        </a:rPr>
                        <a:t>Worst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0F172A"/>
                          </a:solidFill>
                          <a:latin typeface="Helvetica Neue"/>
                          <a:ea typeface="Helvetica Neue"/>
                          <a:cs typeface="Helvetica Neue"/>
                        </a:rPr>
                        <a:t>The largest free region large enough</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95325">
                <a:tc>
                  <a:txBody>
                    <a:bodyPr/>
                    <a:lstStyle/>
                    <a:p>
                      <a:r>
                        <a:rPr sz="2025" b="0">
                          <a:solidFill>
                            <a:srgbClr val="0F172A"/>
                          </a:solidFill>
                          <a:latin typeface="Helvetica Neue"/>
                          <a:ea typeface="Helvetica Neue"/>
                          <a:cs typeface="Helvetica Neue"/>
                        </a:rPr>
                        <a:t>Next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0F172A"/>
                          </a:solidFill>
                          <a:latin typeface="Helvetica Neue"/>
                          <a:ea typeface="Helvetica Neue"/>
                          <a:cs typeface="Helvetica Neue"/>
                        </a:rPr>
                        <a:t>The next suitable region from its saved search position</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bl>
          </a:graphicData>
        </a:graphic>
      </p:graphicFrame>
      <p:sp>
        <p:nvSpPr>
          <p:cNvPr id="5" name="text-20">
            <a:extLst xmlns:a="http://schemas.openxmlformats.org/drawingml/2006/main">
              <a:ext uri="{FF2B5EF4-FFF2-40B4-BE49-F238E27FC236}">
                <a16:creationId xmlns:a16="http://schemas.microsoft.com/office/drawing/2014/main" id="{7F79E86D-3752-4E54-88D6-7BF25069BE28}"/>
              </a:ext>
            </a:extLst>
          </p:cNvPr>
          <p:cNvSpPr>
            <a:spLocks xmlns:a="http://schemas.openxmlformats.org/drawingml/2006/main" noGrp="1"/>
          </p:cNvSpPr>
          <p:nvPr/>
        </p:nvSpPr>
        <p:spPr>
          <a:xfrm xmlns:a="http://schemas.openxmlformats.org/drawingml/2006/main">
            <a:off x="609600" y="5791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63EB"/>
                </a:solidFill>
                <a:latin typeface="Helvetica Neue"/>
                <a:ea typeface="Helvetica Neue"/>
                <a:cs typeface="Helvetica Neue"/>
              </a:defRPr>
            </a:defPPr>
          </a:lstStyle>
          <a:p xmlns:a="http://schemas.openxmlformats.org/drawingml/2006/main">
            <a:pPr algn="l">
              <a:defRPr sz="1875" b="0">
                <a:solidFill>
                  <a:srgbClr val="2563EB"/>
                </a:solidFill>
                <a:latin typeface="Helvetica Neue"/>
                <a:ea typeface="Helvetica Neue"/>
                <a:cs typeface="Helvetica Neue"/>
              </a:defRPr>
            </a:pPr>
            <a:r>
              <a:rPr sz="1875" b="0">
                <a:solidFill>
                  <a:srgbClr val="2563EB"/>
                </a:solidFill>
                <a:latin typeface="Helvetica Neue"/>
                <a:ea typeface="Helvetica Neue"/>
                <a:cs typeface="Helvetica Neue"/>
              </a:rPr>
              <a:t>Next Fit wraps to the beginning when it reaches the end of memory.</a:t>
            </a:r>
          </a:p>
        </p:txBody>
      </p:sp>
    </p:spTree>
    <p:extLst>
      <p:ext uri="{BB962C8B-B14F-4D97-AF65-F5344CB8AC3E}">
        <p14:creationId xmlns:p14="http://schemas.microsoft.com/office/powerpoint/2010/main" val="2866296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21">
            <a:extLst xmlns:a="http://schemas.openxmlformats.org/drawingml/2006/main">
              <a:ext uri="{FF2B5EF4-FFF2-40B4-BE49-F238E27FC236}">
                <a16:creationId xmlns:a16="http://schemas.microsoft.com/office/drawing/2014/main" id="{4CC7D0BD-E135-4C88-BCE6-14A8A354D455}"/>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Next Fit remembers where its search stopped</a:t>
            </a:r>
          </a:p>
        </p:txBody>
      </p:sp>
      <p:sp>
        <p:nvSpPr>
          <p:cNvPr id="2" name="text-22">
            <a:extLst xmlns:a="http://schemas.openxmlformats.org/drawingml/2006/main">
              <a:ext uri="{FF2B5EF4-FFF2-40B4-BE49-F238E27FC236}">
                <a16:creationId xmlns:a16="http://schemas.microsoft.com/office/drawing/2014/main" id="{CC71534E-D9D6-46AF-85C3-448B6919646D}"/>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Fixed partitions: three regions of 300 MB, then a new 200 MB request</a:t>
            </a:r>
          </a:p>
        </p:txBody>
      </p:sp>
      <p:sp>
        <p:nvSpPr>
          <p:cNvPr id="3" name="text-23">
            <a:extLst xmlns:a="http://schemas.openxmlformats.org/drawingml/2006/main">
              <a:ext uri="{FF2B5EF4-FFF2-40B4-BE49-F238E27FC236}">
                <a16:creationId xmlns:a16="http://schemas.microsoft.com/office/drawing/2014/main" id="{481D383A-887A-42F4-9BF9-88071AEC8EE3}"/>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05</a:t>
            </a:r>
          </a:p>
        </p:txBody>
      </p:sp>
      <p:sp>
        <p:nvSpPr>
          <p:cNvPr id="4" name="text-24">
            <a:extLst xmlns:a="http://schemas.openxmlformats.org/drawingml/2006/main">
              <a:ext uri="{FF2B5EF4-FFF2-40B4-BE49-F238E27FC236}">
                <a16:creationId xmlns:a16="http://schemas.microsoft.com/office/drawing/2014/main" id="{D71870AB-384F-4BDF-AEAD-6B0860B8AF09}"/>
              </a:ext>
            </a:extLst>
          </p:cNvPr>
          <p:cNvSpPr>
            <a:spLocks xmlns:a="http://schemas.openxmlformats.org/drawingml/2006/main" noGrp="1"/>
          </p:cNvSpPr>
          <p:nvPr/>
        </p:nvSpPr>
        <p:spPr>
          <a:xfrm xmlns:a="http://schemas.openxmlformats.org/drawingml/2006/main">
            <a:off x="609600" y="200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F172A"/>
                </a:solidFill>
                <a:latin typeface="Helvetica Neue"/>
                <a:ea typeface="Helvetica Neue"/>
                <a:cs typeface="Helvetica Neue"/>
              </a:defRPr>
            </a:defPPr>
          </a:lstStyle>
          <a:p xmlns:a="http://schemas.openxmlformats.org/drawingml/2006/main">
            <a:pPr algn="l">
              <a:defRPr sz="2025" b="0">
                <a:solidFill>
                  <a:srgbClr val="0F172A"/>
                </a:solidFill>
                <a:latin typeface="Helvetica Neue"/>
                <a:ea typeface="Helvetica Neue"/>
                <a:cs typeface="Helvetica Neue"/>
              </a:defRPr>
            </a:pPr>
            <a:r>
              <a:rPr sz="2025" b="0">
                <a:solidFill>
                  <a:srgbClr val="0F172A"/>
                </a:solidFill>
                <a:latin typeface="Helvetica Neue"/>
                <a:ea typeface="Helvetica Neue"/>
                <a:cs typeface="Helvetica Neue"/>
              </a:rPr>
              <a:t>Before: the earlier process has released the first partition</a:t>
            </a:r>
          </a:p>
        </p:txBody>
      </p:sp>
      <p:graphicFrame>
        <p:nvGraphicFramePr>
          <p:cNvPr id="5" name="Chart">
            <a:extLst xmlns:a="http://schemas.openxmlformats.org/drawingml/2006/main">
              <a:ext uri="{FF2B5EF4-FFF2-40B4-BE49-F238E27FC236}">
                <a16:creationId xmlns:a16="http://schemas.microsoft.com/office/drawing/2014/main" id="{507A901E-D6AD-43B9-936B-FD50D92882E5}"/>
              </a:ext>
            </a:extLst>
          </p:cNvPr>
          <p:cNvGraphicFramePr/>
          <p:nvPr/>
        </p:nvGraphicFramePr>
        <p:xfrm>
          <a:off xmlns:a="http://schemas.openxmlformats.org/drawingml/2006/main" x="2619375" y="2409825"/>
          <a:ext xmlns:a="http://schemas.openxmlformats.org/drawingml/2006/main" cx="8858250" cy="952500"/>
        </p:xfrm>
        <a:graphic xmlns:a="http://schemas.openxmlformats.org/drawingml/2006/main">
          <a:graphicData uri="http://schemas.openxmlformats.org/drawingml/2006/chart">
            <c:chart xmlns:r="http://schemas.openxmlformats.org/officeDocument/2006/relationships" xmlns:c="http://schemas.openxmlformats.org/drawingml/2006/chart" r:id="Rcb87b91a690a4045"/>
          </a:graphicData>
        </a:graphic>
      </p:graphicFrame>
      <p:sp>
        <p:nvSpPr>
          <p:cNvPr id="6" name="text-25">
            <a:extLst xmlns:a="http://schemas.openxmlformats.org/drawingml/2006/main">
              <a:ext uri="{FF2B5EF4-FFF2-40B4-BE49-F238E27FC236}">
                <a16:creationId xmlns:a16="http://schemas.microsoft.com/office/drawing/2014/main" id="{89632180-7111-4252-99E6-DD61FB035F85}"/>
              </a:ext>
            </a:extLst>
          </p:cNvPr>
          <p:cNvSpPr>
            <a:spLocks xmlns:a="http://schemas.openxmlformats.org/drawingml/2006/main" noGrp="1"/>
          </p:cNvSpPr>
          <p:nvPr/>
        </p:nvSpPr>
        <p:spPr>
          <a:xfrm xmlns:a="http://schemas.openxmlformats.org/drawingml/2006/main">
            <a:off x="609600" y="34766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63EB"/>
                </a:solidFill>
                <a:latin typeface="Helvetica Neue"/>
                <a:ea typeface="Helvetica Neue"/>
                <a:cs typeface="Helvetica Neue"/>
              </a:defRPr>
            </a:defPPr>
          </a:lstStyle>
          <a:p xmlns:a="http://schemas.openxmlformats.org/drawingml/2006/main">
            <a:pPr algn="l">
              <a:defRPr sz="1875" b="1">
                <a:solidFill>
                  <a:srgbClr val="2563EB"/>
                </a:solidFill>
                <a:latin typeface="Helvetica Neue"/>
                <a:ea typeface="Helvetica Neue"/>
                <a:cs typeface="Helvetica Neue"/>
              </a:defRPr>
            </a:pPr>
            <a:r>
              <a:rPr sz="1875" b="1">
                <a:solidFill>
                  <a:srgbClr val="2563EB"/>
                </a:solidFill>
                <a:latin typeface="Helvetica Neue"/>
                <a:ea typeface="Helvetica Neue"/>
                <a:cs typeface="Helvetica Neue"/>
              </a:rPr>
              <a:t>Saved resume address: 600 MB</a:t>
            </a:r>
          </a:p>
        </p:txBody>
      </p:sp>
      <p:sp>
        <p:nvSpPr>
          <p:cNvPr id="7" name="text-26">
            <a:extLst xmlns:a="http://schemas.openxmlformats.org/drawingml/2006/main">
              <a:ext uri="{FF2B5EF4-FFF2-40B4-BE49-F238E27FC236}">
                <a16:creationId xmlns:a16="http://schemas.microsoft.com/office/drawing/2014/main" id="{47CCC63E-5B41-433C-991B-4705D4257317}"/>
              </a:ext>
            </a:extLst>
          </p:cNvPr>
          <p:cNvSpPr>
            <a:spLocks xmlns:a="http://schemas.openxmlformats.org/drawingml/2006/main" noGrp="1"/>
          </p:cNvSpPr>
          <p:nvPr/>
        </p:nvSpPr>
        <p:spPr>
          <a:xfrm xmlns:a="http://schemas.openxmlformats.org/drawingml/2006/main">
            <a:off x="609600" y="41433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172A"/>
                </a:solidFill>
                <a:latin typeface="Helvetica Neue"/>
                <a:ea typeface="Helvetica Neue"/>
                <a:cs typeface="Helvetica Neue"/>
              </a:defRPr>
            </a:defPPr>
          </a:lstStyle>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First Fit</a:t>
            </a:r>
          </a:p>
        </p:txBody>
      </p:sp>
      <p:graphicFrame>
        <p:nvGraphicFramePr>
          <p:cNvPr id="8" name="Chart">
            <a:extLst xmlns:a="http://schemas.openxmlformats.org/drawingml/2006/main">
              <a:ext uri="{FF2B5EF4-FFF2-40B4-BE49-F238E27FC236}">
                <a16:creationId xmlns:a16="http://schemas.microsoft.com/office/drawing/2014/main" id="{68A5C954-510C-4006-800F-9936CE674BDE}"/>
              </a:ext>
            </a:extLst>
          </p:cNvPr>
          <p:cNvGraphicFramePr/>
          <p:nvPr/>
        </p:nvGraphicFramePr>
        <p:xfrm>
          <a:off xmlns:a="http://schemas.openxmlformats.org/drawingml/2006/main" x="2619375" y="3952875"/>
          <a:ext xmlns:a="http://schemas.openxmlformats.org/drawingml/2006/main" cx="8858250" cy="971550"/>
        </p:xfrm>
        <a:graphic xmlns:a="http://schemas.openxmlformats.org/drawingml/2006/main">
          <a:graphicData uri="http://schemas.openxmlformats.org/drawingml/2006/chart">
            <c:chart xmlns:r="http://schemas.openxmlformats.org/officeDocument/2006/relationships" xmlns:c="http://schemas.openxmlformats.org/drawingml/2006/chart" r:id="Rb9a5663b51cc4cea"/>
          </a:graphicData>
        </a:graphic>
      </p:graphicFrame>
      <p:sp>
        <p:nvSpPr>
          <p:cNvPr id="9" name="text-27">
            <a:extLst xmlns:a="http://schemas.openxmlformats.org/drawingml/2006/main">
              <a:ext uri="{FF2B5EF4-FFF2-40B4-BE49-F238E27FC236}">
                <a16:creationId xmlns:a16="http://schemas.microsoft.com/office/drawing/2014/main" id="{47995076-0AA6-43C6-AB6B-EF5BF3C2B48D}"/>
              </a:ext>
            </a:extLst>
          </p:cNvPr>
          <p:cNvSpPr>
            <a:spLocks xmlns:a="http://schemas.openxmlformats.org/drawingml/2006/main" noGrp="1"/>
          </p:cNvSpPr>
          <p:nvPr/>
        </p:nvSpPr>
        <p:spPr>
          <a:xfrm xmlns:a="http://schemas.openxmlformats.org/drawingml/2006/main">
            <a:off x="609600" y="538162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563EB"/>
                </a:solidFill>
                <a:latin typeface="Helvetica Neue"/>
                <a:ea typeface="Helvetica Neue"/>
                <a:cs typeface="Helvetica Neue"/>
              </a:defRPr>
            </a:defPPr>
          </a:lstStyle>
          <a:p xmlns:a="http://schemas.openxmlformats.org/drawingml/2006/main">
            <a:pPr algn="l">
              <a:defRPr sz="2100" b="1">
                <a:solidFill>
                  <a:srgbClr val="2563EB"/>
                </a:solidFill>
                <a:latin typeface="Helvetica Neue"/>
                <a:ea typeface="Helvetica Neue"/>
                <a:cs typeface="Helvetica Neue"/>
              </a:defRPr>
            </a:pPr>
            <a:r>
              <a:rPr sz="2100" b="1">
                <a:solidFill>
                  <a:srgbClr val="2563EB"/>
                </a:solidFill>
                <a:latin typeface="Helvetica Neue"/>
                <a:ea typeface="Helvetica Neue"/>
                <a:cs typeface="Helvetica Neue"/>
              </a:rPr>
              <a:t>Next Fit</a:t>
            </a:r>
          </a:p>
        </p:txBody>
      </p:sp>
      <p:graphicFrame>
        <p:nvGraphicFramePr>
          <p:cNvPr id="10" name="Chart">
            <a:extLst xmlns:a="http://schemas.openxmlformats.org/drawingml/2006/main">
              <a:ext uri="{FF2B5EF4-FFF2-40B4-BE49-F238E27FC236}">
                <a16:creationId xmlns:a16="http://schemas.microsoft.com/office/drawing/2014/main" id="{BC7C10F7-AAA6-4ADF-899F-3EC6C950A14A}"/>
              </a:ext>
            </a:extLst>
          </p:cNvPr>
          <p:cNvGraphicFramePr/>
          <p:nvPr/>
        </p:nvGraphicFramePr>
        <p:xfrm>
          <a:off xmlns:a="http://schemas.openxmlformats.org/drawingml/2006/main" x="2619375" y="5200650"/>
          <a:ext xmlns:a="http://schemas.openxmlformats.org/drawingml/2006/main" cx="8858250" cy="971550"/>
        </p:xfrm>
        <a:graphic xmlns:a="http://schemas.openxmlformats.org/drawingml/2006/main">
          <a:graphicData uri="http://schemas.openxmlformats.org/drawingml/2006/chart">
            <c:chart xmlns:r="http://schemas.openxmlformats.org/officeDocument/2006/relationships" xmlns:c="http://schemas.openxmlformats.org/drawingml/2006/chart" r:id="R8757697c84d140c0"/>
          </a:graphicData>
        </a:graphic>
      </p:graphicFrame>
    </p:spTree>
    <p:extLst>
      <p:ext uri="{BB962C8B-B14F-4D97-AF65-F5344CB8AC3E}">
        <p14:creationId xmlns:p14="http://schemas.microsoft.com/office/powerpoint/2010/main" val="2122483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8">
            <a:extLst xmlns:a="http://schemas.openxmlformats.org/drawingml/2006/main">
              <a:ext uri="{FF2B5EF4-FFF2-40B4-BE49-F238E27FC236}">
                <a16:creationId xmlns:a16="http://schemas.microsoft.com/office/drawing/2014/main" id="{D17936F1-B2FC-4752-ACD7-3723631EF719}"/>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Fixed and variable partitions</a:t>
            </a:r>
          </a:p>
        </p:txBody>
      </p:sp>
      <p:sp>
        <p:nvSpPr>
          <p:cNvPr id="2" name="text-29">
            <a:extLst xmlns:a="http://schemas.openxmlformats.org/drawingml/2006/main">
              <a:ext uri="{FF2B5EF4-FFF2-40B4-BE49-F238E27FC236}">
                <a16:creationId xmlns:a16="http://schemas.microsoft.com/office/drawing/2014/main" id="{FCB2A6FC-5BC4-4BD6-B7F8-3F65A4284631}"/>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The same 200 MB request uses a 300 MB region differently</a:t>
            </a:r>
          </a:p>
        </p:txBody>
      </p:sp>
      <p:sp>
        <p:nvSpPr>
          <p:cNvPr id="3" name="text-30">
            <a:extLst xmlns:a="http://schemas.openxmlformats.org/drawingml/2006/main">
              <a:ext uri="{FF2B5EF4-FFF2-40B4-BE49-F238E27FC236}">
                <a16:creationId xmlns:a16="http://schemas.microsoft.com/office/drawing/2014/main" id="{04E3DCF9-60FD-4E84-9143-93D09161F0B7}"/>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06</a:t>
            </a:r>
          </a:p>
        </p:txBody>
      </p:sp>
      <p:sp>
        <p:nvSpPr>
          <p:cNvPr id="4" name="text-31">
            <a:extLst xmlns:a="http://schemas.openxmlformats.org/drawingml/2006/main">
              <a:ext uri="{FF2B5EF4-FFF2-40B4-BE49-F238E27FC236}">
                <a16:creationId xmlns:a16="http://schemas.microsoft.com/office/drawing/2014/main" id="{5E94B2B5-5312-434F-A01D-9291EF422A8D}"/>
              </a:ext>
            </a:extLst>
          </p:cNvPr>
          <p:cNvSpPr>
            <a:spLocks xmlns:a="http://schemas.openxmlformats.org/drawingml/2006/main" noGrp="1"/>
          </p:cNvSpPr>
          <p:nvPr/>
        </p:nvSpPr>
        <p:spPr>
          <a:xfrm xmlns:a="http://schemas.openxmlformats.org/drawingml/2006/main">
            <a:off x="609600" y="20669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Fixed partition</a:t>
            </a:r>
          </a:p>
        </p:txBody>
      </p:sp>
      <p:graphicFrame>
        <p:nvGraphicFramePr>
          <p:cNvPr id="5" name="Chart">
            <a:extLst xmlns:a="http://schemas.openxmlformats.org/drawingml/2006/main">
              <a:ext uri="{FF2B5EF4-FFF2-40B4-BE49-F238E27FC236}">
                <a16:creationId xmlns:a16="http://schemas.microsoft.com/office/drawing/2014/main" id="{10DA331B-BBE5-47EF-BCCB-EF1B3347AD8C}"/>
              </a:ext>
            </a:extLst>
          </p:cNvPr>
          <p:cNvGraphicFramePr/>
          <p:nvPr/>
        </p:nvGraphicFramePr>
        <p:xfrm>
          <a:off xmlns:a="http://schemas.openxmlformats.org/drawingml/2006/main" x="609600" y="2657475"/>
          <a:ext xmlns:a="http://schemas.openxmlformats.org/drawingml/2006/main" cx="5143500" cy="1238250"/>
        </p:xfrm>
        <a:graphic xmlns:a="http://schemas.openxmlformats.org/drawingml/2006/main">
          <a:graphicData uri="http://schemas.openxmlformats.org/drawingml/2006/chart">
            <c:chart xmlns:r="http://schemas.openxmlformats.org/officeDocument/2006/relationships" xmlns:c="http://schemas.openxmlformats.org/drawingml/2006/chart" r:id="R817db3dbd4aa4428"/>
          </a:graphicData>
        </a:graphic>
      </p:graphicFrame>
      <p:sp>
        <p:nvSpPr>
          <p:cNvPr id="6" name="text-32">
            <a:extLst xmlns:a="http://schemas.openxmlformats.org/drawingml/2006/main">
              <a:ext uri="{FF2B5EF4-FFF2-40B4-BE49-F238E27FC236}">
                <a16:creationId xmlns:a16="http://schemas.microsoft.com/office/drawing/2014/main" id="{3643B0B7-A269-49F7-BC68-CCEB0EC3C122}"/>
              </a:ext>
            </a:extLst>
          </p:cNvPr>
          <p:cNvSpPr>
            <a:spLocks xmlns:a="http://schemas.openxmlformats.org/drawingml/2006/main" noGrp="1"/>
          </p:cNvSpPr>
          <p:nvPr/>
        </p:nvSpPr>
        <p:spPr>
          <a:xfrm xmlns:a="http://schemas.openxmlformats.org/drawingml/2006/main">
            <a:off x="609600" y="4219575"/>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45309"/>
                </a:solidFill>
                <a:latin typeface="Helvetica Neue"/>
                <a:ea typeface="Helvetica Neue"/>
                <a:cs typeface="Helvetica Neue"/>
              </a:defRPr>
            </a:defPPr>
          </a:lstStyle>
          <a:p xmlns:a="http://schemas.openxmlformats.org/drawingml/2006/main">
            <a:pPr algn="l">
              <a:defRPr sz="2250" b="1">
                <a:solidFill>
                  <a:srgbClr val="B45309"/>
                </a:solidFill>
                <a:latin typeface="Helvetica Neue"/>
                <a:ea typeface="Helvetica Neue"/>
                <a:cs typeface="Helvetica Neue"/>
              </a:defRPr>
            </a:pPr>
            <a:r>
              <a:rPr sz="2250" b="1">
                <a:solidFill>
                  <a:srgbClr val="B45309"/>
                </a:solidFill>
                <a:latin typeface="Helvetica Neue"/>
                <a:ea typeface="Helvetica Neue"/>
                <a:cs typeface="Helvetica Neue"/>
              </a:rPr>
              <a:t>300 MB reserved</a:t>
            </a:r>
          </a:p>
          <a:p xmlns:a="http://schemas.openxmlformats.org/drawingml/2006/main">
            <a:pPr algn="l">
              <a:defRPr sz="2250" b="1">
                <a:solidFill>
                  <a:srgbClr val="B45309"/>
                </a:solidFill>
                <a:latin typeface="Helvetica Neue"/>
                <a:ea typeface="Helvetica Neue"/>
                <a:cs typeface="Helvetica Neue"/>
              </a:defRPr>
            </a:pPr>
            <a:r>
              <a:rPr sz="2250" b="1">
                <a:solidFill>
                  <a:srgbClr val="B45309"/>
                </a:solidFill>
                <a:latin typeface="Helvetica Neue"/>
                <a:ea typeface="Helvetica Neue"/>
                <a:cs typeface="Helvetica Neue"/>
              </a:rPr>
              <a:t>100 MB internal waste</a:t>
            </a:r>
          </a:p>
        </p:txBody>
      </p:sp>
      <p:sp>
        <p:nvSpPr>
          <p:cNvPr id="7" name="text-33">
            <a:extLst xmlns:a="http://schemas.openxmlformats.org/drawingml/2006/main">
              <a:ext uri="{FF2B5EF4-FFF2-40B4-BE49-F238E27FC236}">
                <a16:creationId xmlns:a16="http://schemas.microsoft.com/office/drawing/2014/main" id="{A89EB973-1E5F-465A-900B-FACDA2F3FFC3}"/>
              </a:ext>
            </a:extLst>
          </p:cNvPr>
          <p:cNvSpPr>
            <a:spLocks xmlns:a="http://schemas.openxmlformats.org/drawingml/2006/main" noGrp="1"/>
          </p:cNvSpPr>
          <p:nvPr/>
        </p:nvSpPr>
        <p:spPr>
          <a:xfrm xmlns:a="http://schemas.openxmlformats.org/drawingml/2006/main">
            <a:off x="609600" y="53625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Unused space stays inside the process’s partition.</a:t>
            </a:r>
          </a:p>
        </p:txBody>
      </p:sp>
      <p:sp>
        <p:nvSpPr>
          <p:cNvPr id="8" name="text-34">
            <a:extLst xmlns:a="http://schemas.openxmlformats.org/drawingml/2006/main">
              <a:ext uri="{FF2B5EF4-FFF2-40B4-BE49-F238E27FC236}">
                <a16:creationId xmlns:a16="http://schemas.microsoft.com/office/drawing/2014/main" id="{F5CD0217-CCB9-48D5-9726-E0CEB3702778}"/>
              </a:ext>
            </a:extLst>
          </p:cNvPr>
          <p:cNvSpPr>
            <a:spLocks xmlns:a="http://schemas.openxmlformats.org/drawingml/2006/main" noGrp="1"/>
          </p:cNvSpPr>
          <p:nvPr/>
        </p:nvSpPr>
        <p:spPr>
          <a:xfrm xmlns:a="http://schemas.openxmlformats.org/drawingml/2006/main">
            <a:off x="6381750" y="20669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Variable partition</a:t>
            </a:r>
          </a:p>
        </p:txBody>
      </p:sp>
      <p:graphicFrame>
        <p:nvGraphicFramePr>
          <p:cNvPr id="9" name="Chart">
            <a:extLst xmlns:a="http://schemas.openxmlformats.org/drawingml/2006/main">
              <a:ext uri="{FF2B5EF4-FFF2-40B4-BE49-F238E27FC236}">
                <a16:creationId xmlns:a16="http://schemas.microsoft.com/office/drawing/2014/main" id="{EFAC418E-C5B5-470F-939C-B39A7C236B41}"/>
              </a:ext>
            </a:extLst>
          </p:cNvPr>
          <p:cNvGraphicFramePr/>
          <p:nvPr/>
        </p:nvGraphicFramePr>
        <p:xfrm>
          <a:off xmlns:a="http://schemas.openxmlformats.org/drawingml/2006/main" x="6381750" y="2657475"/>
          <a:ext xmlns:a="http://schemas.openxmlformats.org/drawingml/2006/main" cx="5143500" cy="1238250"/>
        </p:xfrm>
        <a:graphic xmlns:a="http://schemas.openxmlformats.org/drawingml/2006/main">
          <a:graphicData uri="http://schemas.openxmlformats.org/drawingml/2006/chart">
            <c:chart xmlns:r="http://schemas.openxmlformats.org/officeDocument/2006/relationships" xmlns:c="http://schemas.openxmlformats.org/drawingml/2006/chart" r:id="R8ae31b83e65e4a7b"/>
          </a:graphicData>
        </a:graphic>
      </p:graphicFrame>
      <p:sp>
        <p:nvSpPr>
          <p:cNvPr id="10" name="text-35">
            <a:extLst xmlns:a="http://schemas.openxmlformats.org/drawingml/2006/main">
              <a:ext uri="{FF2B5EF4-FFF2-40B4-BE49-F238E27FC236}">
                <a16:creationId xmlns:a16="http://schemas.microsoft.com/office/drawing/2014/main" id="{9A078637-9A14-470A-A4F8-3FF2A2CE36D8}"/>
              </a:ext>
            </a:extLst>
          </p:cNvPr>
          <p:cNvSpPr>
            <a:spLocks xmlns:a="http://schemas.openxmlformats.org/drawingml/2006/main" noGrp="1"/>
          </p:cNvSpPr>
          <p:nvPr/>
        </p:nvSpPr>
        <p:spPr>
          <a:xfrm xmlns:a="http://schemas.openxmlformats.org/drawingml/2006/main">
            <a:off x="6381750" y="4219575"/>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563EB"/>
                </a:solidFill>
                <a:latin typeface="Helvetica Neue"/>
                <a:ea typeface="Helvetica Neue"/>
                <a:cs typeface="Helvetica Neue"/>
              </a:defRPr>
            </a:defPPr>
          </a:lstStyle>
          <a:p xmlns:a="http://schemas.openxmlformats.org/drawingml/2006/main">
            <a:pPr algn="l">
              <a:defRPr sz="2250" b="1">
                <a:solidFill>
                  <a:srgbClr val="2563EB"/>
                </a:solidFill>
                <a:latin typeface="Helvetica Neue"/>
                <a:ea typeface="Helvetica Neue"/>
                <a:cs typeface="Helvetica Neue"/>
              </a:defRPr>
            </a:pPr>
            <a:r>
              <a:rPr sz="2250" b="1">
                <a:solidFill>
                  <a:srgbClr val="2563EB"/>
                </a:solidFill>
                <a:latin typeface="Helvetica Neue"/>
                <a:ea typeface="Helvetica Neue"/>
                <a:cs typeface="Helvetica Neue"/>
              </a:rPr>
              <a:t>200 MB reserved</a:t>
            </a:r>
          </a:p>
          <a:p xmlns:a="http://schemas.openxmlformats.org/drawingml/2006/main">
            <a:pPr algn="l">
              <a:defRPr sz="2250" b="1">
                <a:solidFill>
                  <a:srgbClr val="2563EB"/>
                </a:solidFill>
                <a:latin typeface="Helvetica Neue"/>
                <a:ea typeface="Helvetica Neue"/>
                <a:cs typeface="Helvetica Neue"/>
              </a:defRPr>
            </a:pPr>
            <a:r>
              <a:rPr sz="2250" b="1">
                <a:solidFill>
                  <a:srgbClr val="2563EB"/>
                </a:solidFill>
                <a:latin typeface="Helvetica Neue"/>
                <a:ea typeface="Helvetica Neue"/>
                <a:cs typeface="Helvetica Neue"/>
              </a:rPr>
              <a:t>100 MB remains free</a:t>
            </a:r>
          </a:p>
        </p:txBody>
      </p:sp>
      <p:sp>
        <p:nvSpPr>
          <p:cNvPr id="11" name="text-36">
            <a:extLst xmlns:a="http://schemas.openxmlformats.org/drawingml/2006/main">
              <a:ext uri="{FF2B5EF4-FFF2-40B4-BE49-F238E27FC236}">
                <a16:creationId xmlns:a16="http://schemas.microsoft.com/office/drawing/2014/main" id="{66677682-E5ED-41D4-B859-AEB19E7C412D}"/>
              </a:ext>
            </a:extLst>
          </p:cNvPr>
          <p:cNvSpPr>
            <a:spLocks xmlns:a="http://schemas.openxmlformats.org/drawingml/2006/main" noGrp="1"/>
          </p:cNvSpPr>
          <p:nvPr/>
        </p:nvSpPr>
        <p:spPr>
          <a:xfrm xmlns:a="http://schemas.openxmlformats.org/drawingml/2006/main">
            <a:off x="6381750" y="53625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The engine splits the region to match the request.</a:t>
            </a:r>
          </a:p>
        </p:txBody>
      </p:sp>
    </p:spTree>
    <p:extLst>
      <p:ext uri="{BB962C8B-B14F-4D97-AF65-F5344CB8AC3E}">
        <p14:creationId xmlns:p14="http://schemas.microsoft.com/office/powerpoint/2010/main" val="301603580"/>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2" name="text-37">
            <a:extLst xmlns:a="http://schemas.openxmlformats.org/drawingml/2006/main">
              <a:ext uri="{FF2B5EF4-FFF2-40B4-BE49-F238E27FC236}">
                <a16:creationId xmlns:a16="http://schemas.microsoft.com/office/drawing/2014/main" id="{9783737B-0403-4068-B29F-0594E1B94A58}"/>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Helvetica Neue"/>
                <a:ea typeface="Helvetica Neue"/>
                <a:cs typeface="Helvetica Neue"/>
              </a:defRPr>
            </a:defPPr>
          </a:lstStyle>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550 MB free can still reject a 400 MB request</a:t>
            </a:r>
          </a:p>
        </p:txBody>
      </p:sp>
      <p:sp>
        <p:nvSpPr>
          <p:cNvPr id="2" name="text-38">
            <a:extLst xmlns:a="http://schemas.openxmlformats.org/drawingml/2006/main">
              <a:ext uri="{FF2B5EF4-FFF2-40B4-BE49-F238E27FC236}">
                <a16:creationId xmlns:a16="http://schemas.microsoft.com/office/drawing/2014/main" id="{0166B545-24E4-42D7-A641-F5760777F62A}"/>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8C6DF"/>
                </a:solidFill>
                <a:latin typeface="Helvetica Neue"/>
                <a:ea typeface="Helvetica Neue"/>
                <a:cs typeface="Helvetica Neue"/>
              </a:defRPr>
            </a:defPPr>
          </a:lstStyle>
          <a:p xmlns:a="http://schemas.openxmlformats.org/drawingml/2006/main">
            <a:pPr algn="l">
              <a:defRPr sz="1950" b="0">
                <a:solidFill>
                  <a:srgbClr val="B8C6DF"/>
                </a:solidFill>
                <a:latin typeface="Helvetica Neue"/>
                <a:ea typeface="Helvetica Neue"/>
                <a:cs typeface="Helvetica Neue"/>
              </a:defRPr>
            </a:pPr>
            <a:r>
              <a:rPr sz="1950" b="0">
                <a:solidFill>
                  <a:srgbClr val="B8C6DF"/>
                </a:solidFill>
                <a:latin typeface="Helvetica Neue"/>
                <a:ea typeface="Helvetica Neue"/>
                <a:cs typeface="Helvetica Neue"/>
              </a:rPr>
              <a:t>The request needs a single contiguous hole</a:t>
            </a:r>
          </a:p>
        </p:txBody>
      </p:sp>
      <p:sp>
        <p:nvSpPr>
          <p:cNvPr id="3" name="text-39">
            <a:extLst xmlns:a="http://schemas.openxmlformats.org/drawingml/2006/main">
              <a:ext uri="{FF2B5EF4-FFF2-40B4-BE49-F238E27FC236}">
                <a16:creationId xmlns:a16="http://schemas.microsoft.com/office/drawing/2014/main" id="{C14AD08D-543E-443C-9571-CB47044E0E7F}"/>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8CA1C5"/>
                </a:solidFill>
                <a:latin typeface="Helvetica Neue"/>
                <a:ea typeface="Helvetica Neue"/>
                <a:cs typeface="Helvetica Neue"/>
              </a:defRPr>
            </a:defPPr>
          </a:lstStyle>
          <a:p xmlns:a="http://schemas.openxmlformats.org/drawingml/2006/main">
            <a:pPr algn="r">
              <a:defRPr sz="1275" b="0">
                <a:solidFill>
                  <a:srgbClr val="8CA1C5"/>
                </a:solidFill>
                <a:latin typeface="Helvetica Neue"/>
                <a:ea typeface="Helvetica Neue"/>
                <a:cs typeface="Helvetica Neue"/>
              </a:defRPr>
            </a:pPr>
            <a:r>
              <a:rPr sz="1275" b="0">
                <a:solidFill>
                  <a:srgbClr val="8CA1C5"/>
                </a:solidFill>
                <a:latin typeface="Helvetica Neue"/>
                <a:ea typeface="Helvetica Neue"/>
                <a:cs typeface="Helvetica Neue"/>
              </a:rPr>
              <a:t>07</a:t>
            </a:r>
          </a:p>
        </p:txBody>
      </p:sp>
      <p:sp>
        <p:nvSpPr>
          <p:cNvPr id="4" name="text-40">
            <a:extLst xmlns:a="http://schemas.openxmlformats.org/drawingml/2006/main">
              <a:ext uri="{FF2B5EF4-FFF2-40B4-BE49-F238E27FC236}">
                <a16:creationId xmlns:a16="http://schemas.microsoft.com/office/drawing/2014/main" id="{5F105609-7DE0-477C-8275-5DC07A319C73}"/>
              </a:ext>
            </a:extLst>
          </p:cNvPr>
          <p:cNvSpPr>
            <a:spLocks xmlns:a="http://schemas.openxmlformats.org/drawingml/2006/main" noGrp="1"/>
          </p:cNvSpPr>
          <p:nvPr/>
        </p:nvSpPr>
        <p:spPr>
          <a:xfrm xmlns:a="http://schemas.openxmlformats.org/drawingml/2006/main">
            <a:off x="609600" y="22288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Helvetica Neue"/>
                <a:ea typeface="Helvetica Neue"/>
                <a:cs typeface="Helvetica Neue"/>
              </a:defRPr>
            </a:defPPr>
          </a:lstStyle>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550 MB</a:t>
            </a:r>
          </a:p>
        </p:txBody>
      </p:sp>
      <p:sp>
        <p:nvSpPr>
          <p:cNvPr id="5" name="text-41">
            <a:extLst xmlns:a="http://schemas.openxmlformats.org/drawingml/2006/main">
              <a:ext uri="{FF2B5EF4-FFF2-40B4-BE49-F238E27FC236}">
                <a16:creationId xmlns:a16="http://schemas.microsoft.com/office/drawing/2014/main" id="{D5EC260E-C581-4836-B5D4-2A6AC1A9B245}"/>
              </a:ext>
            </a:extLst>
          </p:cNvPr>
          <p:cNvSpPr>
            <a:spLocks xmlns:a="http://schemas.openxmlformats.org/drawingml/2006/main" noGrp="1"/>
          </p:cNvSpPr>
          <p:nvPr/>
        </p:nvSpPr>
        <p:spPr>
          <a:xfrm xmlns:a="http://schemas.openxmlformats.org/drawingml/2006/main">
            <a:off x="609600" y="3095625"/>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8C6DF"/>
                </a:solidFill>
                <a:latin typeface="Helvetica Neue"/>
                <a:ea typeface="Helvetica Neue"/>
                <a:cs typeface="Helvetica Neue"/>
              </a:defRPr>
            </a:defPPr>
          </a:lstStyle>
          <a:p xmlns:a="http://schemas.openxmlformats.org/drawingml/2006/main">
            <a:pPr algn="l">
              <a:defRPr sz="1800" b="0">
                <a:solidFill>
                  <a:srgbClr val="B8C6DF"/>
                </a:solidFill>
                <a:latin typeface="Helvetica Neue"/>
                <a:ea typeface="Helvetica Neue"/>
                <a:cs typeface="Helvetica Neue"/>
              </a:defRPr>
            </a:pPr>
            <a:r>
              <a:rPr sz="1800" b="0">
                <a:solidFill>
                  <a:srgbClr val="B8C6DF"/>
                </a:solidFill>
                <a:latin typeface="Helvetica Neue"/>
                <a:ea typeface="Helvetica Neue"/>
                <a:cs typeface="Helvetica Neue"/>
              </a:rPr>
              <a:t>Total free</a:t>
            </a:r>
          </a:p>
        </p:txBody>
      </p:sp>
      <p:sp>
        <p:nvSpPr>
          <p:cNvPr id="6" name="text-42">
            <a:extLst xmlns:a="http://schemas.openxmlformats.org/drawingml/2006/main">
              <a:ext uri="{FF2B5EF4-FFF2-40B4-BE49-F238E27FC236}">
                <a16:creationId xmlns:a16="http://schemas.microsoft.com/office/drawing/2014/main" id="{9C9E1BE4-738D-4F4A-96AE-8F8CE59567F0}"/>
              </a:ext>
            </a:extLst>
          </p:cNvPr>
          <p:cNvSpPr>
            <a:spLocks xmlns:a="http://schemas.openxmlformats.org/drawingml/2006/main" noGrp="1"/>
          </p:cNvSpPr>
          <p:nvPr/>
        </p:nvSpPr>
        <p:spPr>
          <a:xfrm xmlns:a="http://schemas.openxmlformats.org/drawingml/2006/main">
            <a:off x="4324350" y="22288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Helvetica Neue"/>
                <a:ea typeface="Helvetica Neue"/>
                <a:cs typeface="Helvetica Neue"/>
              </a:defRPr>
            </a:defPPr>
          </a:lstStyle>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250 MB</a:t>
            </a:r>
          </a:p>
        </p:txBody>
      </p:sp>
      <p:sp>
        <p:nvSpPr>
          <p:cNvPr id="7" name="text-43">
            <a:extLst xmlns:a="http://schemas.openxmlformats.org/drawingml/2006/main">
              <a:ext uri="{FF2B5EF4-FFF2-40B4-BE49-F238E27FC236}">
                <a16:creationId xmlns:a16="http://schemas.microsoft.com/office/drawing/2014/main" id="{214220C6-7B57-461A-AAD5-7BA6D660BE09}"/>
              </a:ext>
            </a:extLst>
          </p:cNvPr>
          <p:cNvSpPr>
            <a:spLocks xmlns:a="http://schemas.openxmlformats.org/drawingml/2006/main" noGrp="1"/>
          </p:cNvSpPr>
          <p:nvPr/>
        </p:nvSpPr>
        <p:spPr>
          <a:xfrm xmlns:a="http://schemas.openxmlformats.org/drawingml/2006/main">
            <a:off x="4324350" y="3095625"/>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8C6DF"/>
                </a:solidFill>
                <a:latin typeface="Helvetica Neue"/>
                <a:ea typeface="Helvetica Neue"/>
                <a:cs typeface="Helvetica Neue"/>
              </a:defRPr>
            </a:defPPr>
          </a:lstStyle>
          <a:p xmlns:a="http://schemas.openxmlformats.org/drawingml/2006/main">
            <a:pPr algn="l">
              <a:defRPr sz="1800" b="0">
                <a:solidFill>
                  <a:srgbClr val="B8C6DF"/>
                </a:solidFill>
                <a:latin typeface="Helvetica Neue"/>
                <a:ea typeface="Helvetica Neue"/>
                <a:cs typeface="Helvetica Neue"/>
              </a:defRPr>
            </a:pPr>
            <a:r>
              <a:rPr sz="1800" b="0">
                <a:solidFill>
                  <a:srgbClr val="B8C6DF"/>
                </a:solidFill>
                <a:latin typeface="Helvetica Neue"/>
                <a:ea typeface="Helvetica Neue"/>
                <a:cs typeface="Helvetica Neue"/>
              </a:rPr>
              <a:t>Largest hole</a:t>
            </a:r>
          </a:p>
        </p:txBody>
      </p:sp>
      <p:sp>
        <p:nvSpPr>
          <p:cNvPr id="8" name="text-44">
            <a:extLst xmlns:a="http://schemas.openxmlformats.org/drawingml/2006/main">
              <a:ext uri="{FF2B5EF4-FFF2-40B4-BE49-F238E27FC236}">
                <a16:creationId xmlns:a16="http://schemas.microsoft.com/office/drawing/2014/main" id="{7320A399-991D-42EE-9509-47C4CB2A8803}"/>
              </a:ext>
            </a:extLst>
          </p:cNvPr>
          <p:cNvSpPr>
            <a:spLocks xmlns:a="http://schemas.openxmlformats.org/drawingml/2006/main" noGrp="1"/>
          </p:cNvSpPr>
          <p:nvPr/>
        </p:nvSpPr>
        <p:spPr>
          <a:xfrm xmlns:a="http://schemas.openxmlformats.org/drawingml/2006/main">
            <a:off x="8039100" y="22288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BBF24"/>
                </a:solidFill>
                <a:latin typeface="Helvetica Neue"/>
                <a:ea typeface="Helvetica Neue"/>
                <a:cs typeface="Helvetica Neue"/>
              </a:defRPr>
            </a:defPPr>
          </a:lstStyle>
          <a:p xmlns:a="http://schemas.openxmlformats.org/drawingml/2006/main">
            <a:pPr algn="l">
              <a:defRPr sz="4350" b="1">
                <a:solidFill>
                  <a:srgbClr val="FBBF24"/>
                </a:solidFill>
                <a:latin typeface="Helvetica Neue"/>
                <a:ea typeface="Helvetica Neue"/>
                <a:cs typeface="Helvetica Neue"/>
              </a:defRPr>
            </a:pPr>
            <a:r>
              <a:rPr sz="4350" b="1">
                <a:solidFill>
                  <a:srgbClr val="FBBF24"/>
                </a:solidFill>
                <a:latin typeface="Helvetica Neue"/>
                <a:ea typeface="Helvetica Neue"/>
                <a:cs typeface="Helvetica Neue"/>
              </a:rPr>
              <a:t>400 MB</a:t>
            </a:r>
          </a:p>
        </p:txBody>
      </p:sp>
      <p:sp>
        <p:nvSpPr>
          <p:cNvPr id="9" name="text-45">
            <a:extLst xmlns:a="http://schemas.openxmlformats.org/drawingml/2006/main">
              <a:ext uri="{FF2B5EF4-FFF2-40B4-BE49-F238E27FC236}">
                <a16:creationId xmlns:a16="http://schemas.microsoft.com/office/drawing/2014/main" id="{B9AF7618-0477-4425-91E8-CE5EEA227793}"/>
              </a:ext>
            </a:extLst>
          </p:cNvPr>
          <p:cNvSpPr>
            <a:spLocks xmlns:a="http://schemas.openxmlformats.org/drawingml/2006/main" noGrp="1"/>
          </p:cNvSpPr>
          <p:nvPr/>
        </p:nvSpPr>
        <p:spPr>
          <a:xfrm xmlns:a="http://schemas.openxmlformats.org/drawingml/2006/main">
            <a:off x="8039100" y="3095625"/>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8C6DF"/>
                </a:solidFill>
                <a:latin typeface="Helvetica Neue"/>
                <a:ea typeface="Helvetica Neue"/>
                <a:cs typeface="Helvetica Neue"/>
              </a:defRPr>
            </a:defPPr>
          </a:lstStyle>
          <a:p xmlns:a="http://schemas.openxmlformats.org/drawingml/2006/main">
            <a:pPr algn="l">
              <a:defRPr sz="1800" b="0">
                <a:solidFill>
                  <a:srgbClr val="B8C6DF"/>
                </a:solidFill>
                <a:latin typeface="Helvetica Neue"/>
                <a:ea typeface="Helvetica Neue"/>
                <a:cs typeface="Helvetica Neue"/>
              </a:defRPr>
            </a:pPr>
            <a:r>
              <a:rPr sz="1800" b="0">
                <a:solidFill>
                  <a:srgbClr val="B8C6DF"/>
                </a:solidFill>
                <a:latin typeface="Helvetica Neue"/>
                <a:ea typeface="Helvetica Neue"/>
                <a:cs typeface="Helvetica Neue"/>
              </a:rPr>
              <a:t>New request</a:t>
            </a:r>
          </a:p>
        </p:txBody>
      </p:sp>
      <p:graphicFrame>
        <p:nvGraphicFramePr>
          <p:cNvPr id="10" name="Chart">
            <a:extLst xmlns:a="http://schemas.openxmlformats.org/drawingml/2006/main">
              <a:ext uri="{FF2B5EF4-FFF2-40B4-BE49-F238E27FC236}">
                <a16:creationId xmlns:a16="http://schemas.microsoft.com/office/drawing/2014/main" id="{71A936A2-37D9-44CE-BF0C-3162CD8283D7}"/>
              </a:ext>
            </a:extLst>
          </p:cNvPr>
          <p:cNvGraphicFramePr/>
          <p:nvPr/>
        </p:nvGraphicFramePr>
        <p:xfrm>
          <a:off xmlns:a="http://schemas.openxmlformats.org/drawingml/2006/main" x="609600" y="4038600"/>
          <a:ext xmlns:a="http://schemas.openxmlformats.org/drawingml/2006/main" cx="10953750" cy="1123950"/>
        </p:xfrm>
        <a:graphic xmlns:a="http://schemas.openxmlformats.org/drawingml/2006/main">
          <a:graphicData uri="http://schemas.openxmlformats.org/drawingml/2006/chart">
            <c:chart xmlns:r="http://schemas.openxmlformats.org/officeDocument/2006/relationships" xmlns:c="http://schemas.openxmlformats.org/drawingml/2006/chart" r:id="R859af0bb00e74aa6"/>
          </a:graphicData>
        </a:graphic>
      </p:graphicFrame>
      <p:sp>
        <p:nvSpPr>
          <p:cNvPr id="11" name="text-46">
            <a:extLst xmlns:a="http://schemas.openxmlformats.org/drawingml/2006/main">
              <a:ext uri="{FF2B5EF4-FFF2-40B4-BE49-F238E27FC236}">
                <a16:creationId xmlns:a16="http://schemas.microsoft.com/office/drawing/2014/main" id="{8C45BB99-B2D1-41C1-99A6-C71B26159B9A}"/>
              </a:ext>
            </a:extLst>
          </p:cNvPr>
          <p:cNvSpPr>
            <a:spLocks xmlns:a="http://schemas.openxmlformats.org/drawingml/2006/main" noGrp="1"/>
          </p:cNvSpPr>
          <p:nvPr/>
        </p:nvSpPr>
        <p:spPr>
          <a:xfrm xmlns:a="http://schemas.openxmlformats.org/drawingml/2006/main">
            <a:off x="609600" y="5562600"/>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E2E8F0"/>
                </a:solidFill>
                <a:latin typeface="Helvetica Neue"/>
                <a:ea typeface="Helvetica Neue"/>
                <a:cs typeface="Helvetica Neue"/>
              </a:defRPr>
            </a:defPPr>
          </a:lstStyle>
          <a:p xmlns:a="http://schemas.openxmlformats.org/drawingml/2006/main">
            <a:pPr algn="l">
              <a:defRPr sz="2175" b="0">
                <a:solidFill>
                  <a:srgbClr val="E2E8F0"/>
                </a:solidFill>
                <a:latin typeface="Helvetica Neue"/>
                <a:ea typeface="Helvetica Neue"/>
                <a:cs typeface="Helvetica Neue"/>
              </a:defRPr>
            </a:pPr>
            <a:r>
              <a:rPr sz="2175" b="0">
                <a:solidFill>
                  <a:srgbClr val="E2E8F0"/>
                </a:solidFill>
                <a:latin typeface="Helvetica Neue"/>
                <a:ea typeface="Helvetica Neue"/>
                <a:cs typeface="Helvetica Neue"/>
              </a:rPr>
              <a:t>250 + 250 + 50 MB of free space cannot hold this request in one region.</a:t>
            </a:r>
          </a:p>
        </p:txBody>
      </p:sp>
    </p:spTree>
    <p:extLst>
      <p:ext uri="{BB962C8B-B14F-4D97-AF65-F5344CB8AC3E}">
        <p14:creationId xmlns:p14="http://schemas.microsoft.com/office/powerpoint/2010/main" val="20917663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47">
            <a:extLst xmlns:a="http://schemas.openxmlformats.org/drawingml/2006/main">
              <a:ext uri="{FF2B5EF4-FFF2-40B4-BE49-F238E27FC236}">
                <a16:creationId xmlns:a16="http://schemas.microsoft.com/office/drawing/2014/main" id="{D7C66AA9-07CF-4395-9E26-36C5A18D5720}"/>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Compaction creates one usable free region</a:t>
            </a:r>
          </a:p>
        </p:txBody>
      </p:sp>
      <p:sp>
        <p:nvSpPr>
          <p:cNvPr id="2" name="text-48">
            <a:extLst xmlns:a="http://schemas.openxmlformats.org/drawingml/2006/main">
              <a:ext uri="{FF2B5EF4-FFF2-40B4-BE49-F238E27FC236}">
                <a16:creationId xmlns:a16="http://schemas.microsoft.com/office/drawing/2014/main" id="{9C20AB28-27AD-4848-904B-D752F9DF2655}"/>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The operation changes addresses and preserves total free memory</a:t>
            </a:r>
          </a:p>
        </p:txBody>
      </p:sp>
      <p:sp>
        <p:nvSpPr>
          <p:cNvPr id="3" name="text-49">
            <a:extLst xmlns:a="http://schemas.openxmlformats.org/drawingml/2006/main">
              <a:ext uri="{FF2B5EF4-FFF2-40B4-BE49-F238E27FC236}">
                <a16:creationId xmlns:a16="http://schemas.microsoft.com/office/drawing/2014/main" id="{39D68E2B-A375-46DD-952B-EB39E415F36E}"/>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08</a:t>
            </a:r>
          </a:p>
        </p:txBody>
      </p:sp>
      <p:sp>
        <p:nvSpPr>
          <p:cNvPr id="4" name="text-50">
            <a:extLst xmlns:a="http://schemas.openxmlformats.org/drawingml/2006/main">
              <a:ext uri="{FF2B5EF4-FFF2-40B4-BE49-F238E27FC236}">
                <a16:creationId xmlns:a16="http://schemas.microsoft.com/office/drawing/2014/main" id="{D0B09F50-0765-42B6-B216-D21442C993A5}"/>
              </a:ext>
            </a:extLst>
          </p:cNvPr>
          <p:cNvSpPr>
            <a:spLocks xmlns:a="http://schemas.openxmlformats.org/drawingml/2006/main" noGrp="1"/>
          </p:cNvSpPr>
          <p:nvPr/>
        </p:nvSpPr>
        <p:spPr>
          <a:xfrm xmlns:a="http://schemas.openxmlformats.org/drawingml/2006/main">
            <a:off x="609600" y="20002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172A"/>
                </a:solidFill>
                <a:latin typeface="Helvetica Neue"/>
                <a:ea typeface="Helvetica Neue"/>
                <a:cs typeface="Helvetica Neue"/>
              </a:defRPr>
            </a:defPPr>
          </a:lstStyle>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Before compaction</a:t>
            </a:r>
          </a:p>
        </p:txBody>
      </p:sp>
      <p:graphicFrame>
        <p:nvGraphicFramePr>
          <p:cNvPr id="5" name="Chart">
            <a:extLst xmlns:a="http://schemas.openxmlformats.org/drawingml/2006/main">
              <a:ext uri="{FF2B5EF4-FFF2-40B4-BE49-F238E27FC236}">
                <a16:creationId xmlns:a16="http://schemas.microsoft.com/office/drawing/2014/main" id="{416D2E1A-229C-4C27-A114-4B6066EDA058}"/>
              </a:ext>
            </a:extLst>
          </p:cNvPr>
          <p:cNvGraphicFramePr/>
          <p:nvPr/>
        </p:nvGraphicFramePr>
        <p:xfrm>
          <a:off xmlns:a="http://schemas.openxmlformats.org/drawingml/2006/main" x="609600" y="2400300"/>
          <a:ext xmlns:a="http://schemas.openxmlformats.org/drawingml/2006/main" cx="10953750" cy="1047750"/>
        </p:xfrm>
        <a:graphic xmlns:a="http://schemas.openxmlformats.org/drawingml/2006/main">
          <a:graphicData uri="http://schemas.openxmlformats.org/drawingml/2006/chart">
            <c:chart xmlns:r="http://schemas.openxmlformats.org/officeDocument/2006/relationships" xmlns:c="http://schemas.openxmlformats.org/drawingml/2006/chart" r:id="R9ef15d5dfaed4380"/>
          </a:graphicData>
        </a:graphic>
      </p:graphicFrame>
      <p:sp>
        <p:nvSpPr>
          <p:cNvPr id="6" name="text-51">
            <a:extLst xmlns:a="http://schemas.openxmlformats.org/drawingml/2006/main">
              <a:ext uri="{FF2B5EF4-FFF2-40B4-BE49-F238E27FC236}">
                <a16:creationId xmlns:a16="http://schemas.microsoft.com/office/drawing/2014/main" id="{DA00F201-48D8-489D-9610-0C1C5225467F}"/>
              </a:ext>
            </a:extLst>
          </p:cNvPr>
          <p:cNvSpPr>
            <a:spLocks xmlns:a="http://schemas.openxmlformats.org/drawingml/2006/main" noGrp="1"/>
          </p:cNvSpPr>
          <p:nvPr/>
        </p:nvSpPr>
        <p:spPr>
          <a:xfrm xmlns:a="http://schemas.openxmlformats.org/drawingml/2006/main">
            <a:off x="609600" y="391477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172A"/>
                </a:solidFill>
                <a:latin typeface="Helvetica Neue"/>
                <a:ea typeface="Helvetica Neue"/>
                <a:cs typeface="Helvetica Neue"/>
              </a:defRPr>
            </a:defPPr>
          </a:lstStyle>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After compaction</a:t>
            </a:r>
          </a:p>
        </p:txBody>
      </p:sp>
      <p:graphicFrame>
        <p:nvGraphicFramePr>
          <p:cNvPr id="7" name="Chart">
            <a:extLst xmlns:a="http://schemas.openxmlformats.org/drawingml/2006/main">
              <a:ext uri="{FF2B5EF4-FFF2-40B4-BE49-F238E27FC236}">
                <a16:creationId xmlns:a16="http://schemas.microsoft.com/office/drawing/2014/main" id="{3C10FF3D-6FCC-4E23-A3FE-2F1F4709A537}"/>
              </a:ext>
            </a:extLst>
          </p:cNvPr>
          <p:cNvGraphicFramePr/>
          <p:nvPr/>
        </p:nvGraphicFramePr>
        <p:xfrm>
          <a:off xmlns:a="http://schemas.openxmlformats.org/drawingml/2006/main" x="609600" y="4314825"/>
          <a:ext xmlns:a="http://schemas.openxmlformats.org/drawingml/2006/main" cx="10953750" cy="1047750"/>
        </p:xfrm>
        <a:graphic xmlns:a="http://schemas.openxmlformats.org/drawingml/2006/main">
          <a:graphicData uri="http://schemas.openxmlformats.org/drawingml/2006/chart">
            <c:chart xmlns:r="http://schemas.openxmlformats.org/officeDocument/2006/relationships" xmlns:c="http://schemas.openxmlformats.org/drawingml/2006/chart" r:id="R6c3b1cd34c0d4827"/>
          </a:graphicData>
        </a:graphic>
      </p:graphicFrame>
      <p:sp>
        <p:nvSpPr>
          <p:cNvPr id="8" name="text-52">
            <a:extLst xmlns:a="http://schemas.openxmlformats.org/drawingml/2006/main">
              <a:ext uri="{FF2B5EF4-FFF2-40B4-BE49-F238E27FC236}">
                <a16:creationId xmlns:a16="http://schemas.microsoft.com/office/drawing/2014/main" id="{D3EFE6A3-D757-4F0C-88EE-2D6C6AF3F6D1}"/>
              </a:ext>
            </a:extLst>
          </p:cNvPr>
          <p:cNvSpPr>
            <a:spLocks xmlns:a="http://schemas.openxmlformats.org/drawingml/2006/main" noGrp="1"/>
          </p:cNvSpPr>
          <p:nvPr/>
        </p:nvSpPr>
        <p:spPr>
          <a:xfrm xmlns:a="http://schemas.openxmlformats.org/drawingml/2006/main">
            <a:off x="609600" y="56102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563EB"/>
                </a:solidFill>
                <a:latin typeface="Helvetica Neue"/>
                <a:ea typeface="Helvetica Neue"/>
                <a:cs typeface="Helvetica Neue"/>
              </a:defRPr>
            </a:defPPr>
          </a:lstStyle>
          <a:p xmlns:a="http://schemas.openxmlformats.org/drawingml/2006/main">
            <a:pPr algn="l">
              <a:defRPr sz="2175" b="1">
                <a:solidFill>
                  <a:srgbClr val="2563EB"/>
                </a:solidFill>
                <a:latin typeface="Helvetica Neue"/>
                <a:ea typeface="Helvetica Neue"/>
                <a:cs typeface="Helvetica Neue"/>
              </a:defRPr>
            </a:pPr>
            <a:r>
              <a:rPr sz="2175" b="1">
                <a:solidFill>
                  <a:srgbClr val="2563EB"/>
                </a:solidFill>
                <a:latin typeface="Helvetica Neue"/>
                <a:ea typeface="Helvetica Neue"/>
                <a:cs typeface="Helvetica Neue"/>
              </a:rPr>
              <a:t>550 MB free before and after</a:t>
            </a:r>
          </a:p>
        </p:txBody>
      </p:sp>
      <p:sp>
        <p:nvSpPr>
          <p:cNvPr id="9" name="text-53">
            <a:extLst xmlns:a="http://schemas.openxmlformats.org/drawingml/2006/main">
              <a:ext uri="{FF2B5EF4-FFF2-40B4-BE49-F238E27FC236}">
                <a16:creationId xmlns:a16="http://schemas.microsoft.com/office/drawing/2014/main" id="{82EC78E5-0C01-461A-8835-BB570A0FECEB}"/>
              </a:ext>
            </a:extLst>
          </p:cNvPr>
          <p:cNvSpPr>
            <a:spLocks xmlns:a="http://schemas.openxmlformats.org/drawingml/2006/main" noGrp="1"/>
          </p:cNvSpPr>
          <p:nvPr/>
        </p:nvSpPr>
        <p:spPr>
          <a:xfrm xmlns:a="http://schemas.openxmlformats.org/drawingml/2006/main">
            <a:off x="6191250" y="56102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F172A"/>
                </a:solidFill>
                <a:latin typeface="Helvetica Neue"/>
                <a:ea typeface="Helvetica Neue"/>
                <a:cs typeface="Helvetica Neue"/>
              </a:defRPr>
            </a:defPPr>
          </a:lstStyle>
          <a:p xmlns:a="http://schemas.openxmlformats.org/drawingml/2006/main">
            <a:pPr algn="l">
              <a:defRPr sz="2175" b="1">
                <a:solidFill>
                  <a:srgbClr val="0F172A"/>
                </a:solidFill>
                <a:latin typeface="Helvetica Neue"/>
                <a:ea typeface="Helvetica Neue"/>
                <a:cs typeface="Helvetica Neue"/>
              </a:defRPr>
            </a:pPr>
            <a:r>
              <a:rPr sz="2175" b="1">
                <a:solidFill>
                  <a:srgbClr val="0F172A"/>
                </a:solidFill>
                <a:latin typeface="Helvetica Neue"/>
                <a:ea typeface="Helvetica Neue"/>
                <a:cs typeface="Helvetica Neue"/>
              </a:rPr>
              <a:t>The 400 MB retry now succeeds</a:t>
            </a:r>
          </a:p>
        </p:txBody>
      </p:sp>
    </p:spTree>
    <p:extLst>
      <p:ext uri="{BB962C8B-B14F-4D97-AF65-F5344CB8AC3E}">
        <p14:creationId xmlns:p14="http://schemas.microsoft.com/office/powerpoint/2010/main" val="14959051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54">
            <a:extLst xmlns:a="http://schemas.openxmlformats.org/drawingml/2006/main">
              <a:ext uri="{FF2B5EF4-FFF2-40B4-BE49-F238E27FC236}">
                <a16:creationId xmlns:a16="http://schemas.microsoft.com/office/drawing/2014/main" id="{6E225A56-268B-4821-8C83-8FF39E5A130D}"/>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The same workload produces different layouts</a:t>
            </a:r>
          </a:p>
        </p:txBody>
      </p:sp>
      <p:sp>
        <p:nvSpPr>
          <p:cNvPr id="2" name="text-55">
            <a:extLst xmlns:a="http://schemas.openxmlformats.org/drawingml/2006/main">
              <a:ext uri="{FF2B5EF4-FFF2-40B4-BE49-F238E27FC236}">
                <a16:creationId xmlns:a16="http://schemas.microsoft.com/office/drawing/2014/main" id="{F82839E1-BEEA-49B4-BC0A-EF4E7FF6E1B4}"/>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Initial regions: 100, 500, 200, 300, 600 MB. Requests: 212, 417, 112, 426 MB.</a:t>
            </a:r>
          </a:p>
        </p:txBody>
      </p:sp>
      <p:sp>
        <p:nvSpPr>
          <p:cNvPr id="3" name="text-56">
            <a:extLst xmlns:a="http://schemas.openxmlformats.org/drawingml/2006/main">
              <a:ext uri="{FF2B5EF4-FFF2-40B4-BE49-F238E27FC236}">
                <a16:creationId xmlns:a16="http://schemas.microsoft.com/office/drawing/2014/main" id="{24B2BEEF-DF91-47FB-AE6C-5EA8A347C7A0}"/>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09</a:t>
            </a:r>
          </a:p>
        </p:txBody>
      </p:sp>
      <p:sp>
        <p:nvSpPr>
          <p:cNvPr id="4" name="text-57">
            <a:extLst xmlns:a="http://schemas.openxmlformats.org/drawingml/2006/main">
              <a:ext uri="{FF2B5EF4-FFF2-40B4-BE49-F238E27FC236}">
                <a16:creationId xmlns:a16="http://schemas.microsoft.com/office/drawing/2014/main" id="{1FCCA2AD-2954-48E9-83AF-DBE4586C0D42}"/>
              </a:ext>
            </a:extLst>
          </p:cNvPr>
          <p:cNvSpPr>
            <a:spLocks xmlns:a="http://schemas.openxmlformats.org/drawingml/2006/main" noGrp="1"/>
          </p:cNvSpPr>
          <p:nvPr/>
        </p:nvSpPr>
        <p:spPr>
          <a:xfrm xmlns:a="http://schemas.openxmlformats.org/drawingml/2006/main">
            <a:off x="609600" y="21145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First Fit</a:t>
            </a:r>
          </a:p>
        </p:txBody>
      </p:sp>
      <p:graphicFrame>
        <p:nvGraphicFramePr>
          <p:cNvPr id="5" name="Chart">
            <a:extLst xmlns:a="http://schemas.openxmlformats.org/drawingml/2006/main">
              <a:ext uri="{FF2B5EF4-FFF2-40B4-BE49-F238E27FC236}">
                <a16:creationId xmlns:a16="http://schemas.microsoft.com/office/drawing/2014/main" id="{0E668CF2-A278-48FA-817D-3A9800A063BE}"/>
              </a:ext>
            </a:extLst>
          </p:cNvPr>
          <p:cNvGraphicFramePr/>
          <p:nvPr/>
        </p:nvGraphicFramePr>
        <p:xfrm>
          <a:off xmlns:a="http://schemas.openxmlformats.org/drawingml/2006/main" x="609600" y="2647950"/>
          <a:ext xmlns:a="http://schemas.openxmlformats.org/drawingml/2006/main" cx="5238750" cy="990600"/>
        </p:xfrm>
        <a:graphic xmlns:a="http://schemas.openxmlformats.org/drawingml/2006/main">
          <a:graphicData uri="http://schemas.openxmlformats.org/drawingml/2006/chart">
            <c:chart xmlns:r="http://schemas.openxmlformats.org/officeDocument/2006/relationships" xmlns:c="http://schemas.openxmlformats.org/drawingml/2006/chart" r:id="R3c4a5eb042c946fe"/>
          </a:graphicData>
        </a:graphic>
      </p:graphicFrame>
      <p:sp>
        <p:nvSpPr>
          <p:cNvPr id="6" name="text-58">
            <a:extLst xmlns:a="http://schemas.openxmlformats.org/drawingml/2006/main">
              <a:ext uri="{FF2B5EF4-FFF2-40B4-BE49-F238E27FC236}">
                <a16:creationId xmlns:a16="http://schemas.microsoft.com/office/drawing/2014/main" id="{FBC2B0AE-CECE-4D56-9876-14E46C281F25}"/>
              </a:ext>
            </a:extLst>
          </p:cNvPr>
          <p:cNvSpPr>
            <a:spLocks xmlns:a="http://schemas.openxmlformats.org/drawingml/2006/main" noGrp="1"/>
          </p:cNvSpPr>
          <p:nvPr/>
        </p:nvSpPr>
        <p:spPr>
          <a:xfrm xmlns:a="http://schemas.openxmlformats.org/drawingml/2006/main">
            <a:off x="609600" y="36766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3 allocated, 1 failed</a:t>
            </a:r>
          </a:p>
        </p:txBody>
      </p:sp>
      <p:sp>
        <p:nvSpPr>
          <p:cNvPr id="7" name="text-59">
            <a:extLst xmlns:a="http://schemas.openxmlformats.org/drawingml/2006/main">
              <a:ext uri="{FF2B5EF4-FFF2-40B4-BE49-F238E27FC236}">
                <a16:creationId xmlns:a16="http://schemas.microsoft.com/office/drawing/2014/main" id="{7D558AE6-EFDD-4F39-AF09-FAA2F7D1057C}"/>
              </a:ext>
            </a:extLst>
          </p:cNvPr>
          <p:cNvSpPr>
            <a:spLocks xmlns:a="http://schemas.openxmlformats.org/drawingml/2006/main" noGrp="1"/>
          </p:cNvSpPr>
          <p:nvPr/>
        </p:nvSpPr>
        <p:spPr>
          <a:xfrm xmlns:a="http://schemas.openxmlformats.org/drawingml/2006/main">
            <a:off x="6305550" y="21145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Best Fit</a:t>
            </a:r>
          </a:p>
        </p:txBody>
      </p:sp>
      <p:graphicFrame>
        <p:nvGraphicFramePr>
          <p:cNvPr id="8" name="Chart">
            <a:extLst xmlns:a="http://schemas.openxmlformats.org/drawingml/2006/main">
              <a:ext uri="{FF2B5EF4-FFF2-40B4-BE49-F238E27FC236}">
                <a16:creationId xmlns:a16="http://schemas.microsoft.com/office/drawing/2014/main" id="{C0966449-8338-4023-8B35-79447C0D6E0B}"/>
              </a:ext>
            </a:extLst>
          </p:cNvPr>
          <p:cNvGraphicFramePr/>
          <p:nvPr/>
        </p:nvGraphicFramePr>
        <p:xfrm>
          <a:off xmlns:a="http://schemas.openxmlformats.org/drawingml/2006/main" x="6305550" y="2647950"/>
          <a:ext xmlns:a="http://schemas.openxmlformats.org/drawingml/2006/main" cx="5238750" cy="990600"/>
        </p:xfrm>
        <a:graphic xmlns:a="http://schemas.openxmlformats.org/drawingml/2006/main">
          <a:graphicData uri="http://schemas.openxmlformats.org/drawingml/2006/chart">
            <c:chart xmlns:r="http://schemas.openxmlformats.org/officeDocument/2006/relationships" xmlns:c="http://schemas.openxmlformats.org/drawingml/2006/chart" r:id="R6468c2d2950b4042"/>
          </a:graphicData>
        </a:graphic>
      </p:graphicFrame>
      <p:sp>
        <p:nvSpPr>
          <p:cNvPr id="9" name="text-60">
            <a:extLst xmlns:a="http://schemas.openxmlformats.org/drawingml/2006/main">
              <a:ext uri="{FF2B5EF4-FFF2-40B4-BE49-F238E27FC236}">
                <a16:creationId xmlns:a16="http://schemas.microsoft.com/office/drawing/2014/main" id="{C6E74AAA-5EDE-4788-ADE9-1F0EE773C732}"/>
              </a:ext>
            </a:extLst>
          </p:cNvPr>
          <p:cNvSpPr>
            <a:spLocks xmlns:a="http://schemas.openxmlformats.org/drawingml/2006/main" noGrp="1"/>
          </p:cNvSpPr>
          <p:nvPr/>
        </p:nvSpPr>
        <p:spPr>
          <a:xfrm xmlns:a="http://schemas.openxmlformats.org/drawingml/2006/main">
            <a:off x="6305550" y="36766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63EB"/>
                </a:solidFill>
                <a:latin typeface="Helvetica Neue"/>
                <a:ea typeface="Helvetica Neue"/>
                <a:cs typeface="Helvetica Neue"/>
              </a:defRPr>
            </a:defPPr>
          </a:lstStyle>
          <a:p xmlns:a="http://schemas.openxmlformats.org/drawingml/2006/main">
            <a:pPr algn="l">
              <a:defRPr sz="1875" b="0">
                <a:solidFill>
                  <a:srgbClr val="2563EB"/>
                </a:solidFill>
                <a:latin typeface="Helvetica Neue"/>
                <a:ea typeface="Helvetica Neue"/>
                <a:cs typeface="Helvetica Neue"/>
              </a:defRPr>
            </a:pPr>
            <a:r>
              <a:rPr sz="1875" b="0">
                <a:solidFill>
                  <a:srgbClr val="2563EB"/>
                </a:solidFill>
                <a:latin typeface="Helvetica Neue"/>
                <a:ea typeface="Helvetica Neue"/>
                <a:cs typeface="Helvetica Neue"/>
              </a:rPr>
              <a:t>4 allocated, 0 failed</a:t>
            </a:r>
          </a:p>
        </p:txBody>
      </p:sp>
      <p:sp>
        <p:nvSpPr>
          <p:cNvPr id="10" name="text-61">
            <a:extLst xmlns:a="http://schemas.openxmlformats.org/drawingml/2006/main">
              <a:ext uri="{FF2B5EF4-FFF2-40B4-BE49-F238E27FC236}">
                <a16:creationId xmlns:a16="http://schemas.microsoft.com/office/drawing/2014/main" id="{3D824124-F002-4D58-A7CB-F4E6D02EACB5}"/>
              </a:ext>
            </a:extLst>
          </p:cNvPr>
          <p:cNvSpPr>
            <a:spLocks xmlns:a="http://schemas.openxmlformats.org/drawingml/2006/main" noGrp="1"/>
          </p:cNvSpPr>
          <p:nvPr/>
        </p:nvSpPr>
        <p:spPr>
          <a:xfrm xmlns:a="http://schemas.openxmlformats.org/drawingml/2006/main">
            <a:off x="609600" y="4181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Worst Fit</a:t>
            </a:r>
          </a:p>
        </p:txBody>
      </p:sp>
      <p:graphicFrame>
        <p:nvGraphicFramePr>
          <p:cNvPr id="11" name="Chart">
            <a:extLst xmlns:a="http://schemas.openxmlformats.org/drawingml/2006/main">
              <a:ext uri="{FF2B5EF4-FFF2-40B4-BE49-F238E27FC236}">
                <a16:creationId xmlns:a16="http://schemas.microsoft.com/office/drawing/2014/main" id="{FE07ECB1-0EE1-49AB-BCD4-1A20AF650893}"/>
              </a:ext>
            </a:extLst>
          </p:cNvPr>
          <p:cNvGraphicFramePr/>
          <p:nvPr/>
        </p:nvGraphicFramePr>
        <p:xfrm>
          <a:off xmlns:a="http://schemas.openxmlformats.org/drawingml/2006/main" x="609600" y="4714875"/>
          <a:ext xmlns:a="http://schemas.openxmlformats.org/drawingml/2006/main" cx="5238750" cy="990600"/>
        </p:xfrm>
        <a:graphic xmlns:a="http://schemas.openxmlformats.org/drawingml/2006/main">
          <a:graphicData uri="http://schemas.openxmlformats.org/drawingml/2006/chart">
            <c:chart xmlns:r="http://schemas.openxmlformats.org/officeDocument/2006/relationships" xmlns:c="http://schemas.openxmlformats.org/drawingml/2006/chart" r:id="Rf61b1679fa24416b"/>
          </a:graphicData>
        </a:graphic>
      </p:graphicFrame>
      <p:sp>
        <p:nvSpPr>
          <p:cNvPr id="12" name="text-62">
            <a:extLst xmlns:a="http://schemas.openxmlformats.org/drawingml/2006/main">
              <a:ext uri="{FF2B5EF4-FFF2-40B4-BE49-F238E27FC236}">
                <a16:creationId xmlns:a16="http://schemas.microsoft.com/office/drawing/2014/main" id="{DFC1BAED-1876-4807-B232-9FB6DF2608ED}"/>
              </a:ext>
            </a:extLst>
          </p:cNvPr>
          <p:cNvSpPr>
            <a:spLocks xmlns:a="http://schemas.openxmlformats.org/drawingml/2006/main" noGrp="1"/>
          </p:cNvSpPr>
          <p:nvPr/>
        </p:nvSpPr>
        <p:spPr>
          <a:xfrm xmlns:a="http://schemas.openxmlformats.org/drawingml/2006/main">
            <a:off x="609600" y="57435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3 allocated, 1 failed</a:t>
            </a:r>
          </a:p>
        </p:txBody>
      </p:sp>
      <p:sp>
        <p:nvSpPr>
          <p:cNvPr id="13" name="text-63">
            <a:extLst xmlns:a="http://schemas.openxmlformats.org/drawingml/2006/main">
              <a:ext uri="{FF2B5EF4-FFF2-40B4-BE49-F238E27FC236}">
                <a16:creationId xmlns:a16="http://schemas.microsoft.com/office/drawing/2014/main" id="{F5034EAA-55B3-4D68-8CB4-2508890AE45D}"/>
              </a:ext>
            </a:extLst>
          </p:cNvPr>
          <p:cNvSpPr>
            <a:spLocks xmlns:a="http://schemas.openxmlformats.org/drawingml/2006/main" noGrp="1"/>
          </p:cNvSpPr>
          <p:nvPr/>
        </p:nvSpPr>
        <p:spPr>
          <a:xfrm xmlns:a="http://schemas.openxmlformats.org/drawingml/2006/main">
            <a:off x="6305550" y="4181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Next Fit</a:t>
            </a:r>
          </a:p>
        </p:txBody>
      </p:sp>
      <p:graphicFrame>
        <p:nvGraphicFramePr>
          <p:cNvPr id="14" name="Chart">
            <a:extLst xmlns:a="http://schemas.openxmlformats.org/drawingml/2006/main">
              <a:ext uri="{FF2B5EF4-FFF2-40B4-BE49-F238E27FC236}">
                <a16:creationId xmlns:a16="http://schemas.microsoft.com/office/drawing/2014/main" id="{55BB9636-E1A3-4DE7-857D-B9872CD7CAE9}"/>
              </a:ext>
            </a:extLst>
          </p:cNvPr>
          <p:cNvGraphicFramePr/>
          <p:nvPr/>
        </p:nvGraphicFramePr>
        <p:xfrm>
          <a:off xmlns:a="http://schemas.openxmlformats.org/drawingml/2006/main" x="6305550" y="4714875"/>
          <a:ext xmlns:a="http://schemas.openxmlformats.org/drawingml/2006/main" cx="5238750" cy="990600"/>
        </p:xfrm>
        <a:graphic xmlns:a="http://schemas.openxmlformats.org/drawingml/2006/main">
          <a:graphicData uri="http://schemas.openxmlformats.org/drawingml/2006/chart">
            <c:chart xmlns:r="http://schemas.openxmlformats.org/officeDocument/2006/relationships" xmlns:c="http://schemas.openxmlformats.org/drawingml/2006/chart" r:id="Rf5ec2df700334a86"/>
          </a:graphicData>
        </a:graphic>
      </p:graphicFrame>
      <p:sp>
        <p:nvSpPr>
          <p:cNvPr id="15" name="text-64">
            <a:extLst xmlns:a="http://schemas.openxmlformats.org/drawingml/2006/main">
              <a:ext uri="{FF2B5EF4-FFF2-40B4-BE49-F238E27FC236}">
                <a16:creationId xmlns:a16="http://schemas.microsoft.com/office/drawing/2014/main" id="{9E8BFDDF-E402-4599-A617-0607FE3C21E9}"/>
              </a:ext>
            </a:extLst>
          </p:cNvPr>
          <p:cNvSpPr>
            <a:spLocks xmlns:a="http://schemas.openxmlformats.org/drawingml/2006/main" noGrp="1"/>
          </p:cNvSpPr>
          <p:nvPr/>
        </p:nvSpPr>
        <p:spPr>
          <a:xfrm xmlns:a="http://schemas.openxmlformats.org/drawingml/2006/main">
            <a:off x="6305550" y="57435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3 allocated, 1 failed</a:t>
            </a:r>
          </a:p>
        </p:txBody>
      </p:sp>
    </p:spTree>
    <p:extLst>
      <p:ext uri="{BB962C8B-B14F-4D97-AF65-F5344CB8AC3E}">
        <p14:creationId xmlns:p14="http://schemas.microsoft.com/office/powerpoint/2010/main" val="16883196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5">
            <a:extLst xmlns:a="http://schemas.openxmlformats.org/drawingml/2006/main">
              <a:ext uri="{FF2B5EF4-FFF2-40B4-BE49-F238E27FC236}">
                <a16:creationId xmlns:a16="http://schemas.microsoft.com/office/drawing/2014/main" id="{0EB32393-FEA7-49DA-8014-D5A034EDEB20}"/>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Best Fit succeeds on this example</a:t>
            </a:r>
          </a:p>
        </p:txBody>
      </p:sp>
      <p:sp>
        <p:nvSpPr>
          <p:cNvPr id="2" name="text-66">
            <a:extLst xmlns:a="http://schemas.openxmlformats.org/drawingml/2006/main">
              <a:ext uri="{FF2B5EF4-FFF2-40B4-BE49-F238E27FC236}">
                <a16:creationId xmlns:a16="http://schemas.microsoft.com/office/drawing/2014/main" id="{79FCB6B5-7CE6-4F86-A1D4-4476A3EF7971}"/>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Measured results from independent engine runs</a:t>
            </a:r>
          </a:p>
        </p:txBody>
      </p:sp>
      <p:sp>
        <p:nvSpPr>
          <p:cNvPr id="3" name="text-67">
            <a:extLst xmlns:a="http://schemas.openxmlformats.org/drawingml/2006/main">
              <a:ext uri="{FF2B5EF4-FFF2-40B4-BE49-F238E27FC236}">
                <a16:creationId xmlns:a16="http://schemas.microsoft.com/office/drawing/2014/main" id="{975279B6-D51A-4F3D-9B47-D9B5379968C1}"/>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10</a:t>
            </a:r>
          </a:p>
        </p:txBody>
      </p:sp>
      <p:graphicFrame>
        <p:nvGraphicFramePr>
          <p:cNvPr id="4" name="">
            <a:extLst xmlns:a="http://schemas.openxmlformats.org/drawingml/2006/main">
              <a:ext uri="{FF2B5EF4-FFF2-40B4-BE49-F238E27FC236}">
                <a16:creationId xmlns:a16="http://schemas.microsoft.com/office/drawing/2014/main" id="{F9F1154E-DF4D-4D2D-90C7-F63759C2D309}"/>
              </a:ext>
            </a:extLst>
          </p:cNvPr>
          <p:cNvGraphicFramePr/>
          <p:nvPr/>
        </p:nvGraphicFramePr>
        <p:xfrm>
          <a:off xmlns:a="http://schemas.openxmlformats.org/drawingml/2006/main" x="609600" y="2076450"/>
          <a:ext xmlns:a="http://schemas.openxmlformats.org/drawingml/2006/main" cx="10972800" cy="3305175"/>
        </p:xfrm>
        <a:graphic xmlns:a="http://schemas.openxmlformats.org/drawingml/2006/main">
          <a:graphicData uri="http://schemas.openxmlformats.org/drawingml/2006/table">
            <a:tbl>
              <a:tblPr/>
              <a:tblGrid>
                <a:gridCol w="2476500"/>
                <a:gridCol w="1762125"/>
                <a:gridCol w="1762125"/>
                <a:gridCol w="2095500"/>
                <a:gridCol w="2876550"/>
              </a:tblGrid>
              <a:tr h="661035">
                <a:tc>
                  <a:txBody>
                    <a:bodyPr/>
                    <a:lstStyle/>
                    <a:p>
                      <a:r>
                        <a:rPr sz="1875" b="1">
                          <a:solidFill>
                            <a:srgbClr val="FFFFFF"/>
                          </a:solidFill>
                          <a:latin typeface="Helvetica Neue"/>
                          <a:ea typeface="Helvetica Neue"/>
                          <a:cs typeface="Helvetica Neue"/>
                        </a:rPr>
                        <a:t>Algorithm</a:t>
                      </a:r>
                    </a:p>
                  </a:txBody>
                  <a:tcPr marL="152400" marR="152400" marT="114300" marB="114300" anchor="ctr">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875" b="1">
                          <a:solidFill>
                            <a:srgbClr val="FFFFFF"/>
                          </a:solidFill>
                          <a:latin typeface="Helvetica Neue"/>
                          <a:ea typeface="Helvetica Neue"/>
                          <a:cs typeface="Helvetica Neue"/>
                        </a:rPr>
                        <a:t>Allocated</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875" b="1">
                          <a:solidFill>
                            <a:srgbClr val="FFFFFF"/>
                          </a:solidFill>
                          <a:latin typeface="Helvetica Neue"/>
                          <a:ea typeface="Helvetica Neue"/>
                          <a:cs typeface="Helvetica Neue"/>
                        </a:rPr>
                        <a:t>Searches</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875" b="1">
                          <a:solidFill>
                            <a:srgbClr val="FFFFFF"/>
                          </a:solidFill>
                          <a:latin typeface="Helvetica Neue"/>
                          <a:ea typeface="Helvetica Neue"/>
                          <a:cs typeface="Helvetica Neue"/>
                        </a:rPr>
                        <a:t>Useful use</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875" b="1">
                          <a:solidFill>
                            <a:srgbClr val="FFFFFF"/>
                          </a:solidFill>
                          <a:latin typeface="Helvetica Neue"/>
                          <a:ea typeface="Helvetica Neue"/>
                          <a:cs typeface="Helvetica Neue"/>
                        </a:rPr>
                        <a:t>External frag.</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r>
              <a:tr h="661035">
                <a:tc>
                  <a:txBody>
                    <a:bodyPr/>
                    <a:lstStyle/>
                    <a:p>
                      <a:r>
                        <a:rPr sz="1875" b="0">
                          <a:solidFill>
                            <a:srgbClr val="0F172A"/>
                          </a:solidFill>
                          <a:latin typeface="Helvetica Neue"/>
                          <a:ea typeface="Helvetica Neue"/>
                          <a:cs typeface="Helvetica Neue"/>
                        </a:rPr>
                        <a:t>First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3 / 4</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14</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43.6%</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659 MB</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61035">
                <a:tc>
                  <a:txBody>
                    <a:bodyPr/>
                    <a:lstStyle/>
                    <a:p>
                      <a:r>
                        <a:rPr sz="1875" b="0">
                          <a:solidFill>
                            <a:srgbClr val="0F172A"/>
                          </a:solidFill>
                          <a:latin typeface="Helvetica Neue"/>
                          <a:ea typeface="Helvetica Neue"/>
                          <a:cs typeface="Helvetica Neue"/>
                        </a:rPr>
                        <a:t>Best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4 / 4</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20</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68.6%</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359 MB</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61035">
                <a:tc>
                  <a:txBody>
                    <a:bodyPr/>
                    <a:lstStyle/>
                    <a:p>
                      <a:r>
                        <a:rPr sz="1875" b="0">
                          <a:solidFill>
                            <a:srgbClr val="0F172A"/>
                          </a:solidFill>
                          <a:latin typeface="Helvetica Neue"/>
                          <a:ea typeface="Helvetica Neue"/>
                          <a:cs typeface="Helvetica Neue"/>
                        </a:rPr>
                        <a:t>Worst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3 / 4</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20</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43.6%</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659 MB</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61035">
                <a:tc>
                  <a:txBody>
                    <a:bodyPr/>
                    <a:lstStyle/>
                    <a:p>
                      <a:r>
                        <a:rPr sz="1875" b="0">
                          <a:solidFill>
                            <a:srgbClr val="0F172A"/>
                          </a:solidFill>
                          <a:latin typeface="Helvetica Neue"/>
                          <a:ea typeface="Helvetica Neue"/>
                          <a:cs typeface="Helvetica Neue"/>
                        </a:rPr>
                        <a:t>Next Fit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3 / 4</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12</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43.6%</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659 MB</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bl>
          </a:graphicData>
        </a:graphic>
      </p:graphicFrame>
      <p:sp>
        <p:nvSpPr>
          <p:cNvPr id="5" name="text-68">
            <a:extLst xmlns:a="http://schemas.openxmlformats.org/drawingml/2006/main">
              <a:ext uri="{FF2B5EF4-FFF2-40B4-BE49-F238E27FC236}">
                <a16:creationId xmlns:a16="http://schemas.microsoft.com/office/drawing/2014/main" id="{528F8425-D77D-4D71-8048-F56FAE3EB28C}"/>
              </a:ext>
            </a:extLst>
          </p:cNvPr>
          <p:cNvSpPr>
            <a:spLocks xmlns:a="http://schemas.openxmlformats.org/drawingml/2006/main" noGrp="1"/>
          </p:cNvSpPr>
          <p:nvPr/>
        </p:nvSpPr>
        <p:spPr>
          <a:xfrm xmlns:a="http://schemas.openxmlformats.org/drawingml/2006/main">
            <a:off x="609600" y="5695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563EB"/>
                </a:solidFill>
                <a:latin typeface="Helvetica Neue"/>
                <a:ea typeface="Helvetica Neue"/>
                <a:cs typeface="Helvetica Neue"/>
              </a:defRPr>
            </a:defPPr>
          </a:lstStyle>
          <a:p xmlns:a="http://schemas.openxmlformats.org/drawingml/2006/main">
            <a:pPr algn="l">
              <a:defRPr sz="2175" b="1">
                <a:solidFill>
                  <a:srgbClr val="2563EB"/>
                </a:solidFill>
                <a:latin typeface="Helvetica Neue"/>
                <a:ea typeface="Helvetica Neue"/>
                <a:cs typeface="Helvetica Neue"/>
              </a:defRPr>
            </a:pPr>
            <a:r>
              <a:rPr sz="2175" b="1">
                <a:solidFill>
                  <a:srgbClr val="2563EB"/>
                </a:solidFill>
                <a:latin typeface="Helvetica Neue"/>
                <a:ea typeface="Helvetica Neue"/>
                <a:cs typeface="Helvetica Neue"/>
              </a:rPr>
              <a:t>Next Fit examines fewer free regions here. Best Fit serves one more request.</a:t>
            </a:r>
          </a:p>
        </p:txBody>
      </p:sp>
    </p:spTree>
    <p:extLst>
      <p:ext uri="{BB962C8B-B14F-4D97-AF65-F5344CB8AC3E}">
        <p14:creationId xmlns:p14="http://schemas.microsoft.com/office/powerpoint/2010/main" val="8578683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69">
            <a:extLst xmlns:a="http://schemas.openxmlformats.org/drawingml/2006/main">
              <a:ext uri="{FF2B5EF4-FFF2-40B4-BE49-F238E27FC236}">
                <a16:creationId xmlns:a16="http://schemas.microsoft.com/office/drawing/2014/main" id="{AC7C1FBF-42D8-434D-9C0E-EF37F0907F5E}"/>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Frontend architecture</a:t>
            </a:r>
          </a:p>
        </p:txBody>
      </p:sp>
      <p:sp>
        <p:nvSpPr>
          <p:cNvPr id="2" name="text-70">
            <a:extLst xmlns:a="http://schemas.openxmlformats.org/drawingml/2006/main">
              <a:ext uri="{FF2B5EF4-FFF2-40B4-BE49-F238E27FC236}">
                <a16:creationId xmlns:a16="http://schemas.microsoft.com/office/drawing/2014/main" id="{2A6539C2-4551-4715-B780-9895B12A42C5}"/>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All simulation calculations run in JavaScript in the browser</a:t>
            </a:r>
          </a:p>
        </p:txBody>
      </p:sp>
      <p:sp>
        <p:nvSpPr>
          <p:cNvPr id="3" name="text-71">
            <a:extLst xmlns:a="http://schemas.openxmlformats.org/drawingml/2006/main">
              <a:ext uri="{FF2B5EF4-FFF2-40B4-BE49-F238E27FC236}">
                <a16:creationId xmlns:a16="http://schemas.microsoft.com/office/drawing/2014/main" id="{90D0FB59-C059-4526-A58C-99F3933C9A5C}"/>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11</a:t>
            </a:r>
          </a:p>
        </p:txBody>
      </p:sp>
      <p:sp>
        <p:nvSpPr>
          <p:cNvPr id="4" name="text-72">
            <a:extLst xmlns:a="http://schemas.openxmlformats.org/drawingml/2006/main">
              <a:ext uri="{FF2B5EF4-FFF2-40B4-BE49-F238E27FC236}">
                <a16:creationId xmlns:a16="http://schemas.microsoft.com/office/drawing/2014/main" id="{0A7CD997-4151-49AA-AB8C-403C42CD3F9E}"/>
              </a:ext>
            </a:extLst>
          </p:cNvPr>
          <p:cNvSpPr>
            <a:spLocks xmlns:a="http://schemas.openxmlformats.org/drawingml/2006/main" noGrp="1"/>
          </p:cNvSpPr>
          <p:nvPr/>
        </p:nvSpPr>
        <p:spPr>
          <a:xfrm xmlns:a="http://schemas.openxmlformats.org/drawingml/2006/main">
            <a:off x="609600" y="2066925"/>
            <a:ext cx="80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563EB"/>
                </a:solidFill>
                <a:latin typeface="Helvetica Neue"/>
                <a:ea typeface="Helvetica Neue"/>
                <a:cs typeface="Helvetica Neue"/>
              </a:defRPr>
            </a:defPPr>
          </a:lstStyle>
          <a:p xmlns:a="http://schemas.openxmlformats.org/drawingml/2006/main">
            <a:pPr algn="l">
              <a:defRPr sz="3150" b="1">
                <a:solidFill>
                  <a:srgbClr val="2563EB"/>
                </a:solidFill>
                <a:latin typeface="Helvetica Neue"/>
                <a:ea typeface="Helvetica Neue"/>
                <a:cs typeface="Helvetica Neue"/>
              </a:defRPr>
            </a:pPr>
            <a:r>
              <a:rPr sz="3150" b="1">
                <a:solidFill>
                  <a:srgbClr val="2563EB"/>
                </a:solidFill>
                <a:latin typeface="Helvetica Neue"/>
                <a:ea typeface="Helvetica Neue"/>
                <a:cs typeface="Helvetica Neue"/>
              </a:rPr>
              <a:t>01</a:t>
            </a:r>
          </a:p>
        </p:txBody>
      </p:sp>
      <p:sp>
        <p:nvSpPr>
          <p:cNvPr id="5" name="text-73">
            <a:extLst xmlns:a="http://schemas.openxmlformats.org/drawingml/2006/main">
              <a:ext uri="{FF2B5EF4-FFF2-40B4-BE49-F238E27FC236}">
                <a16:creationId xmlns:a16="http://schemas.microsoft.com/office/drawing/2014/main" id="{E7DD0079-A8A3-4ED9-8BA6-DC39AB88B21A}"/>
              </a:ext>
            </a:extLst>
          </p:cNvPr>
          <p:cNvSpPr>
            <a:spLocks xmlns:a="http://schemas.openxmlformats.org/drawingml/2006/main" noGrp="1"/>
          </p:cNvSpPr>
          <p:nvPr/>
        </p:nvSpPr>
        <p:spPr>
          <a:xfrm xmlns:a="http://schemas.openxmlformats.org/drawingml/2006/main">
            <a:off x="1638300" y="20669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Core</a:t>
            </a:r>
          </a:p>
        </p:txBody>
      </p:sp>
      <p:sp>
        <p:nvSpPr>
          <p:cNvPr id="6" name="text-74">
            <a:extLst xmlns:a="http://schemas.openxmlformats.org/drawingml/2006/main">
              <a:ext uri="{FF2B5EF4-FFF2-40B4-BE49-F238E27FC236}">
                <a16:creationId xmlns:a16="http://schemas.microsoft.com/office/drawing/2014/main" id="{C0BCE627-041C-4818-9300-BBA6F8DF3B5B}"/>
              </a:ext>
            </a:extLst>
          </p:cNvPr>
          <p:cNvSpPr>
            <a:spLocks xmlns:a="http://schemas.openxmlformats.org/drawingml/2006/main" noGrp="1"/>
          </p:cNvSpPr>
          <p:nvPr/>
        </p:nvSpPr>
        <p:spPr>
          <a:xfrm xmlns:a="http://schemas.openxmlformats.org/drawingml/2006/main">
            <a:off x="4095750" y="2066925"/>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F172A"/>
                </a:solidFill>
                <a:latin typeface="Helvetica Neue"/>
                <a:ea typeface="Helvetica Neue"/>
                <a:cs typeface="Helvetica Neue"/>
              </a:defRPr>
            </a:defPPr>
          </a:lstStyle>
          <a:p xmlns:a="http://schemas.openxmlformats.org/drawingml/2006/main">
            <a:pPr algn="l">
              <a:defRPr sz="2025" b="0">
                <a:solidFill>
                  <a:srgbClr val="0F172A"/>
                </a:solidFill>
                <a:latin typeface="Helvetica Neue"/>
                <a:ea typeface="Helvetica Neue"/>
                <a:cs typeface="Helvetica Neue"/>
              </a:defRPr>
            </a:pPr>
            <a:r>
              <a:rPr sz="2025" b="0">
                <a:solidFill>
                  <a:srgbClr val="0F172A"/>
                </a:solidFill>
                <a:latin typeface="Helvetica Neue"/>
                <a:ea typeface="Helvetica Neue"/>
                <a:cs typeface="Helvetica Neue"/>
              </a:rPr>
              <a:t>Placement rules and state transitions</a:t>
            </a:r>
          </a:p>
        </p:txBody>
      </p:sp>
      <p:sp>
        <p:nvSpPr>
          <p:cNvPr id="7" name="text-75">
            <a:extLst xmlns:a="http://schemas.openxmlformats.org/drawingml/2006/main">
              <a:ext uri="{FF2B5EF4-FFF2-40B4-BE49-F238E27FC236}">
                <a16:creationId xmlns:a16="http://schemas.microsoft.com/office/drawing/2014/main" id="{96263DA7-0162-4B9C-AEAC-030B41A56482}"/>
              </a:ext>
            </a:extLst>
          </p:cNvPr>
          <p:cNvSpPr>
            <a:spLocks xmlns:a="http://schemas.openxmlformats.org/drawingml/2006/main" noGrp="1"/>
          </p:cNvSpPr>
          <p:nvPr/>
        </p:nvSpPr>
        <p:spPr>
          <a:xfrm xmlns:a="http://schemas.openxmlformats.org/drawingml/2006/main">
            <a:off x="4095750" y="2581275"/>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47C"/>
                </a:solidFill>
                <a:latin typeface="Helvetica Neue"/>
                <a:ea typeface="Helvetica Neue"/>
                <a:cs typeface="Helvetica Neue"/>
              </a:defRPr>
            </a:defPPr>
          </a:lstStyle>
          <a:p xmlns:a="http://schemas.openxmlformats.org/drawingml/2006/main">
            <a:pPr algn="l">
              <a:defRPr sz="1800" b="0">
                <a:solidFill>
                  <a:srgbClr val="52647C"/>
                </a:solidFill>
                <a:latin typeface="Helvetica Neue"/>
                <a:ea typeface="Helvetica Neue"/>
                <a:cs typeface="Helvetica Neue"/>
              </a:defRPr>
            </a:pPr>
            <a:r>
              <a:rPr sz="1800" b="0">
                <a:solidFill>
                  <a:srgbClr val="52647C"/>
                </a:solidFill>
                <a:latin typeface="Helvetica Neue"/>
                <a:ea typeface="Helvetica Neue"/>
                <a:cs typeface="Helvetica Neue"/>
              </a:rPr>
              <a:t>js/core/</a:t>
            </a:r>
          </a:p>
        </p:txBody>
      </p:sp>
      <p:sp>
        <p:nvSpPr>
          <p:cNvPr id="8" name="text-76">
            <a:extLst xmlns:a="http://schemas.openxmlformats.org/drawingml/2006/main">
              <a:ext uri="{FF2B5EF4-FFF2-40B4-BE49-F238E27FC236}">
                <a16:creationId xmlns:a16="http://schemas.microsoft.com/office/drawing/2014/main" id="{28FA1E1D-8AA3-439B-877C-335F084C466E}"/>
              </a:ext>
            </a:extLst>
          </p:cNvPr>
          <p:cNvSpPr>
            <a:spLocks xmlns:a="http://schemas.openxmlformats.org/drawingml/2006/main" noGrp="1"/>
          </p:cNvSpPr>
          <p:nvPr/>
        </p:nvSpPr>
        <p:spPr>
          <a:xfrm xmlns:a="http://schemas.openxmlformats.org/drawingml/2006/main">
            <a:off x="609600" y="3286125"/>
            <a:ext cx="80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563EB"/>
                </a:solidFill>
                <a:latin typeface="Helvetica Neue"/>
                <a:ea typeface="Helvetica Neue"/>
                <a:cs typeface="Helvetica Neue"/>
              </a:defRPr>
            </a:defPPr>
          </a:lstStyle>
          <a:p xmlns:a="http://schemas.openxmlformats.org/drawingml/2006/main">
            <a:pPr algn="l">
              <a:defRPr sz="3150" b="1">
                <a:solidFill>
                  <a:srgbClr val="2563EB"/>
                </a:solidFill>
                <a:latin typeface="Helvetica Neue"/>
                <a:ea typeface="Helvetica Neue"/>
                <a:cs typeface="Helvetica Neue"/>
              </a:defRPr>
            </a:pPr>
            <a:r>
              <a:rPr sz="3150" b="1">
                <a:solidFill>
                  <a:srgbClr val="2563EB"/>
                </a:solidFill>
                <a:latin typeface="Helvetica Neue"/>
                <a:ea typeface="Helvetica Neue"/>
                <a:cs typeface="Helvetica Neue"/>
              </a:rPr>
              <a:t>02</a:t>
            </a:r>
          </a:p>
        </p:txBody>
      </p:sp>
      <p:sp>
        <p:nvSpPr>
          <p:cNvPr id="9" name="text-77">
            <a:extLst xmlns:a="http://schemas.openxmlformats.org/drawingml/2006/main">
              <a:ext uri="{FF2B5EF4-FFF2-40B4-BE49-F238E27FC236}">
                <a16:creationId xmlns:a16="http://schemas.microsoft.com/office/drawing/2014/main" id="{94E8C4E5-ADE7-400D-B9ED-5145299D0859}"/>
              </a:ext>
            </a:extLst>
          </p:cNvPr>
          <p:cNvSpPr>
            <a:spLocks xmlns:a="http://schemas.openxmlformats.org/drawingml/2006/main" noGrp="1"/>
          </p:cNvSpPr>
          <p:nvPr/>
        </p:nvSpPr>
        <p:spPr>
          <a:xfrm xmlns:a="http://schemas.openxmlformats.org/drawingml/2006/main">
            <a:off x="1638300" y="32861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Controller</a:t>
            </a:r>
          </a:p>
        </p:txBody>
      </p:sp>
      <p:sp>
        <p:nvSpPr>
          <p:cNvPr id="10" name="text-78">
            <a:extLst xmlns:a="http://schemas.openxmlformats.org/drawingml/2006/main">
              <a:ext uri="{FF2B5EF4-FFF2-40B4-BE49-F238E27FC236}">
                <a16:creationId xmlns:a16="http://schemas.microsoft.com/office/drawing/2014/main" id="{F6702093-4899-4A81-A0C7-5319C0885961}"/>
              </a:ext>
            </a:extLst>
          </p:cNvPr>
          <p:cNvSpPr>
            <a:spLocks xmlns:a="http://schemas.openxmlformats.org/drawingml/2006/main" noGrp="1"/>
          </p:cNvSpPr>
          <p:nvPr/>
        </p:nvSpPr>
        <p:spPr>
          <a:xfrm xmlns:a="http://schemas.openxmlformats.org/drawingml/2006/main">
            <a:off x="4095750" y="3286125"/>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F172A"/>
                </a:solidFill>
                <a:latin typeface="Helvetica Neue"/>
                <a:ea typeface="Helvetica Neue"/>
                <a:cs typeface="Helvetica Neue"/>
              </a:defRPr>
            </a:defPPr>
          </a:lstStyle>
          <a:p xmlns:a="http://schemas.openxmlformats.org/drawingml/2006/main">
            <a:pPr algn="l">
              <a:defRPr sz="2025" b="0">
                <a:solidFill>
                  <a:srgbClr val="0F172A"/>
                </a:solidFill>
                <a:latin typeface="Helvetica Neue"/>
                <a:ea typeface="Helvetica Neue"/>
                <a:cs typeface="Helvetica Neue"/>
              </a:defRPr>
            </a:pPr>
            <a:r>
              <a:rPr sz="2025" b="0">
                <a:solidFill>
                  <a:srgbClr val="0F172A"/>
                </a:solidFill>
                <a:latin typeface="Helvetica Neue"/>
                <a:ea typeface="Helvetica Neue"/>
                <a:cs typeface="Helvetica Neue"/>
              </a:rPr>
              <a:t>User actions, step mode, and comparison</a:t>
            </a:r>
          </a:p>
        </p:txBody>
      </p:sp>
      <p:sp>
        <p:nvSpPr>
          <p:cNvPr id="11" name="text-79">
            <a:extLst xmlns:a="http://schemas.openxmlformats.org/drawingml/2006/main">
              <a:ext uri="{FF2B5EF4-FFF2-40B4-BE49-F238E27FC236}">
                <a16:creationId xmlns:a16="http://schemas.microsoft.com/office/drawing/2014/main" id="{2FD52A2D-0F2C-42E8-A010-BD7BEFDC4AA0}"/>
              </a:ext>
            </a:extLst>
          </p:cNvPr>
          <p:cNvSpPr>
            <a:spLocks xmlns:a="http://schemas.openxmlformats.org/drawingml/2006/main" noGrp="1"/>
          </p:cNvSpPr>
          <p:nvPr/>
        </p:nvSpPr>
        <p:spPr>
          <a:xfrm xmlns:a="http://schemas.openxmlformats.org/drawingml/2006/main">
            <a:off x="4095750" y="3800475"/>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47C"/>
                </a:solidFill>
                <a:latin typeface="Helvetica Neue"/>
                <a:ea typeface="Helvetica Neue"/>
                <a:cs typeface="Helvetica Neue"/>
              </a:defRPr>
            </a:defPPr>
          </a:lstStyle>
          <a:p xmlns:a="http://schemas.openxmlformats.org/drawingml/2006/main">
            <a:pPr algn="l">
              <a:defRPr sz="1800" b="0">
                <a:solidFill>
                  <a:srgbClr val="52647C"/>
                </a:solidFill>
                <a:latin typeface="Helvetica Neue"/>
                <a:ea typeface="Helvetica Neue"/>
                <a:cs typeface="Helvetica Neue"/>
              </a:defRPr>
            </a:pPr>
            <a:r>
              <a:rPr sz="1800" b="0">
                <a:solidFill>
                  <a:srgbClr val="52647C"/>
                </a:solidFill>
                <a:latin typeface="Helvetica Neue"/>
                <a:ea typeface="Helvetica Neue"/>
                <a:cs typeface="Helvetica Neue"/>
              </a:rPr>
              <a:t>js/app.js</a:t>
            </a:r>
          </a:p>
        </p:txBody>
      </p:sp>
      <p:sp>
        <p:nvSpPr>
          <p:cNvPr id="12" name="text-80">
            <a:extLst xmlns:a="http://schemas.openxmlformats.org/drawingml/2006/main">
              <a:ext uri="{FF2B5EF4-FFF2-40B4-BE49-F238E27FC236}">
                <a16:creationId xmlns:a16="http://schemas.microsoft.com/office/drawing/2014/main" id="{FBFC6749-2AFB-43D3-85A7-B2FD8E8BF33A}"/>
              </a:ext>
            </a:extLst>
          </p:cNvPr>
          <p:cNvSpPr>
            <a:spLocks xmlns:a="http://schemas.openxmlformats.org/drawingml/2006/main" noGrp="1"/>
          </p:cNvSpPr>
          <p:nvPr/>
        </p:nvSpPr>
        <p:spPr>
          <a:xfrm xmlns:a="http://schemas.openxmlformats.org/drawingml/2006/main">
            <a:off x="609600" y="4505325"/>
            <a:ext cx="80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563EB"/>
                </a:solidFill>
                <a:latin typeface="Helvetica Neue"/>
                <a:ea typeface="Helvetica Neue"/>
                <a:cs typeface="Helvetica Neue"/>
              </a:defRPr>
            </a:defPPr>
          </a:lstStyle>
          <a:p xmlns:a="http://schemas.openxmlformats.org/drawingml/2006/main">
            <a:pPr algn="l">
              <a:defRPr sz="3150" b="1">
                <a:solidFill>
                  <a:srgbClr val="2563EB"/>
                </a:solidFill>
                <a:latin typeface="Helvetica Neue"/>
                <a:ea typeface="Helvetica Neue"/>
                <a:cs typeface="Helvetica Neue"/>
              </a:defRPr>
            </a:pPr>
            <a:r>
              <a:rPr sz="3150" b="1">
                <a:solidFill>
                  <a:srgbClr val="2563EB"/>
                </a:solidFill>
                <a:latin typeface="Helvetica Neue"/>
                <a:ea typeface="Helvetica Neue"/>
                <a:cs typeface="Helvetica Neue"/>
              </a:rPr>
              <a:t>03</a:t>
            </a:r>
          </a:p>
        </p:txBody>
      </p:sp>
      <p:sp>
        <p:nvSpPr>
          <p:cNvPr id="13" name="text-81">
            <a:extLst xmlns:a="http://schemas.openxmlformats.org/drawingml/2006/main">
              <a:ext uri="{FF2B5EF4-FFF2-40B4-BE49-F238E27FC236}">
                <a16:creationId xmlns:a16="http://schemas.microsoft.com/office/drawing/2014/main" id="{C1F116B5-20D7-497A-B2B8-E66EE6C197B3}"/>
              </a:ext>
            </a:extLst>
          </p:cNvPr>
          <p:cNvSpPr>
            <a:spLocks xmlns:a="http://schemas.openxmlformats.org/drawingml/2006/main" noGrp="1"/>
          </p:cNvSpPr>
          <p:nvPr/>
        </p:nvSpPr>
        <p:spPr>
          <a:xfrm xmlns:a="http://schemas.openxmlformats.org/drawingml/2006/main">
            <a:off x="1638300" y="45053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Interface</a:t>
            </a:r>
          </a:p>
        </p:txBody>
      </p:sp>
      <p:sp>
        <p:nvSpPr>
          <p:cNvPr id="14" name="text-82">
            <a:extLst xmlns:a="http://schemas.openxmlformats.org/drawingml/2006/main">
              <a:ext uri="{FF2B5EF4-FFF2-40B4-BE49-F238E27FC236}">
                <a16:creationId xmlns:a16="http://schemas.microsoft.com/office/drawing/2014/main" id="{43EB6BBA-50AB-4917-93F2-EDD977CD1E0D}"/>
              </a:ext>
            </a:extLst>
          </p:cNvPr>
          <p:cNvSpPr>
            <a:spLocks xmlns:a="http://schemas.openxmlformats.org/drawingml/2006/main" noGrp="1"/>
          </p:cNvSpPr>
          <p:nvPr/>
        </p:nvSpPr>
        <p:spPr>
          <a:xfrm xmlns:a="http://schemas.openxmlformats.org/drawingml/2006/main">
            <a:off x="4095750" y="4505325"/>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F172A"/>
                </a:solidFill>
                <a:latin typeface="Helvetica Neue"/>
                <a:ea typeface="Helvetica Neue"/>
                <a:cs typeface="Helvetica Neue"/>
              </a:defRPr>
            </a:defPPr>
          </a:lstStyle>
          <a:p xmlns:a="http://schemas.openxmlformats.org/drawingml/2006/main">
            <a:pPr algn="l">
              <a:defRPr sz="2025" b="0">
                <a:solidFill>
                  <a:srgbClr val="0F172A"/>
                </a:solidFill>
                <a:latin typeface="Helvetica Neue"/>
                <a:ea typeface="Helvetica Neue"/>
                <a:cs typeface="Helvetica Neue"/>
              </a:defRPr>
            </a:pPr>
            <a:r>
              <a:rPr sz="2025" b="0">
                <a:solidFill>
                  <a:srgbClr val="0F172A"/>
                </a:solidFill>
                <a:latin typeface="Helvetica Neue"/>
                <a:ea typeface="Helvetica Neue"/>
                <a:cs typeface="Helvetica Neue"/>
              </a:rPr>
              <a:t>Maps, charts, demonstrations, and saves</a:t>
            </a:r>
          </a:p>
        </p:txBody>
      </p:sp>
      <p:sp>
        <p:nvSpPr>
          <p:cNvPr id="15" name="text-83">
            <a:extLst xmlns:a="http://schemas.openxmlformats.org/drawingml/2006/main">
              <a:ext uri="{FF2B5EF4-FFF2-40B4-BE49-F238E27FC236}">
                <a16:creationId xmlns:a16="http://schemas.microsoft.com/office/drawing/2014/main" id="{8FF5F840-B4D8-43CB-AB86-020FE6235C78}"/>
              </a:ext>
            </a:extLst>
          </p:cNvPr>
          <p:cNvSpPr>
            <a:spLocks xmlns:a="http://schemas.openxmlformats.org/drawingml/2006/main" noGrp="1"/>
          </p:cNvSpPr>
          <p:nvPr/>
        </p:nvSpPr>
        <p:spPr>
          <a:xfrm xmlns:a="http://schemas.openxmlformats.org/drawingml/2006/main">
            <a:off x="4095750" y="5019675"/>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47C"/>
                </a:solidFill>
                <a:latin typeface="Helvetica Neue"/>
                <a:ea typeface="Helvetica Neue"/>
                <a:cs typeface="Helvetica Neue"/>
              </a:defRPr>
            </a:defPPr>
          </a:lstStyle>
          <a:p xmlns:a="http://schemas.openxmlformats.org/drawingml/2006/main">
            <a:pPr algn="l">
              <a:defRPr sz="1800" b="0">
                <a:solidFill>
                  <a:srgbClr val="52647C"/>
                </a:solidFill>
                <a:latin typeface="Helvetica Neue"/>
                <a:ea typeface="Helvetica Neue"/>
                <a:cs typeface="Helvetica Neue"/>
              </a:defRPr>
            </a:pPr>
            <a:r>
              <a:rPr sz="1800" b="0">
                <a:solidFill>
                  <a:srgbClr val="52647C"/>
                </a:solidFill>
                <a:latin typeface="Helvetica Neue"/>
                <a:ea typeface="Helvetica Neue"/>
                <a:cs typeface="Helvetica Neue"/>
              </a:rPr>
              <a:t>js/interface/</a:t>
            </a:r>
          </a:p>
        </p:txBody>
      </p:sp>
      <p:sp>
        <p:nvSpPr>
          <p:cNvPr id="16" name="text-84">
            <a:extLst xmlns:a="http://schemas.openxmlformats.org/drawingml/2006/main">
              <a:ext uri="{FF2B5EF4-FFF2-40B4-BE49-F238E27FC236}">
                <a16:creationId xmlns:a16="http://schemas.microsoft.com/office/drawing/2014/main" id="{E680F1F1-0431-450B-ABC8-F5ACF88C222F}"/>
              </a:ext>
            </a:extLst>
          </p:cNvPr>
          <p:cNvSpPr>
            <a:spLocks xmlns:a="http://schemas.openxmlformats.org/drawingml/2006/main" noGrp="1"/>
          </p:cNvSpPr>
          <p:nvPr/>
        </p:nvSpPr>
        <p:spPr>
          <a:xfrm xmlns:a="http://schemas.openxmlformats.org/drawingml/2006/main">
            <a:off x="609600" y="58959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HTML defines the pages. CSS styles them. Python only serves the static files.</a:t>
            </a:r>
          </a:p>
        </p:txBody>
      </p:sp>
    </p:spTree>
    <p:extLst>
      <p:ext uri="{BB962C8B-B14F-4D97-AF65-F5344CB8AC3E}">
        <p14:creationId xmlns:p14="http://schemas.microsoft.com/office/powerpoint/2010/main" val="6247359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85">
            <a:extLst xmlns:a="http://schemas.openxmlformats.org/drawingml/2006/main">
              <a:ext uri="{FF2B5EF4-FFF2-40B4-BE49-F238E27FC236}">
                <a16:creationId xmlns:a16="http://schemas.microsoft.com/office/drawing/2014/main" id="{F6F87717-232F-4A19-8855-9595DDE04FF7}"/>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Live demonstration</a:t>
            </a:r>
          </a:p>
        </p:txBody>
      </p:sp>
      <p:sp>
        <p:nvSpPr>
          <p:cNvPr id="2" name="text-86">
            <a:extLst xmlns:a="http://schemas.openxmlformats.org/drawingml/2006/main">
              <a:ext uri="{FF2B5EF4-FFF2-40B4-BE49-F238E27FC236}">
                <a16:creationId xmlns:a16="http://schemas.microsoft.com/office/drawing/2014/main" id="{1CBD55FF-1440-4C3F-A33B-ECDB0353A874}"/>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A repeatable sequence that explains both failure and recovery</a:t>
            </a:r>
          </a:p>
        </p:txBody>
      </p:sp>
      <p:sp>
        <p:nvSpPr>
          <p:cNvPr id="3" name="text-87">
            <a:extLst xmlns:a="http://schemas.openxmlformats.org/drawingml/2006/main">
              <a:ext uri="{FF2B5EF4-FFF2-40B4-BE49-F238E27FC236}">
                <a16:creationId xmlns:a16="http://schemas.microsoft.com/office/drawing/2014/main" id="{E2D6EECC-D4A6-4810-AFCF-0A42C084C00D}"/>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12</a:t>
            </a:r>
          </a:p>
        </p:txBody>
      </p:sp>
      <p:sp>
        <p:nvSpPr>
          <p:cNvPr id="4" name="text-88">
            <a:extLst xmlns:a="http://schemas.openxmlformats.org/drawingml/2006/main">
              <a:ext uri="{FF2B5EF4-FFF2-40B4-BE49-F238E27FC236}">
                <a16:creationId xmlns:a16="http://schemas.microsoft.com/office/drawing/2014/main" id="{D02F2048-F67A-4ED1-AEC8-28CEEA2755F0}"/>
              </a:ext>
            </a:extLst>
          </p:cNvPr>
          <p:cNvSpPr>
            <a:spLocks xmlns:a="http://schemas.openxmlformats.org/drawingml/2006/main" noGrp="1"/>
          </p:cNvSpPr>
          <p:nvPr/>
        </p:nvSpPr>
        <p:spPr>
          <a:xfrm xmlns:a="http://schemas.openxmlformats.org/drawingml/2006/main">
            <a:off x="609600" y="20288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563EB"/>
                </a:solidFill>
                <a:latin typeface="Helvetica Neue"/>
                <a:ea typeface="Helvetica Neue"/>
                <a:cs typeface="Helvetica Neue"/>
              </a:defRPr>
            </a:defPPr>
          </a:lstStyle>
          <a:p xmlns:a="http://schemas.openxmlformats.org/drawingml/2006/main">
            <a:pPr algn="l">
              <a:defRPr sz="2700" b="1">
                <a:solidFill>
                  <a:srgbClr val="2563EB"/>
                </a:solidFill>
                <a:latin typeface="Helvetica Neue"/>
                <a:ea typeface="Helvetica Neue"/>
                <a:cs typeface="Helvetica Neue"/>
              </a:defRPr>
            </a:pPr>
            <a:r>
              <a:rPr sz="2700" b="1">
                <a:solidFill>
                  <a:srgbClr val="2563EB"/>
                </a:solidFill>
                <a:latin typeface="Helvetica Neue"/>
                <a:ea typeface="Helvetica Neue"/>
                <a:cs typeface="Helvetica Neue"/>
              </a:rPr>
              <a:t>1</a:t>
            </a:r>
          </a:p>
        </p:txBody>
      </p:sp>
      <p:sp>
        <p:nvSpPr>
          <p:cNvPr id="5" name="text-89">
            <a:extLst xmlns:a="http://schemas.openxmlformats.org/drawingml/2006/main">
              <a:ext uri="{FF2B5EF4-FFF2-40B4-BE49-F238E27FC236}">
                <a16:creationId xmlns:a16="http://schemas.microsoft.com/office/drawing/2014/main" id="{BBC49E07-9857-42DB-B376-8C48CB29F09E}"/>
              </a:ext>
            </a:extLst>
          </p:cNvPr>
          <p:cNvSpPr>
            <a:spLocks xmlns:a="http://schemas.openxmlformats.org/drawingml/2006/main" noGrp="1"/>
          </p:cNvSpPr>
          <p:nvPr/>
        </p:nvSpPr>
        <p:spPr>
          <a:xfrm xmlns:a="http://schemas.openxmlformats.org/drawingml/2006/main">
            <a:off x="1371600" y="2028825"/>
            <a:ext cx="923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F172A"/>
                </a:solidFill>
                <a:latin typeface="Helvetica Neue"/>
                <a:ea typeface="Helvetica Neue"/>
                <a:cs typeface="Helvetica Neue"/>
              </a:defRPr>
            </a:defPPr>
          </a:lstStyle>
          <a:p xmlns:a="http://schemas.openxmlformats.org/drawingml/2006/main">
            <a:pPr algn="l">
              <a:defRPr sz="2175" b="1">
                <a:solidFill>
                  <a:srgbClr val="0F172A"/>
                </a:solidFill>
                <a:latin typeface="Helvetica Neue"/>
                <a:ea typeface="Helvetica Neue"/>
                <a:cs typeface="Helvetica Neue"/>
              </a:defRPr>
            </a:pPr>
            <a:r>
              <a:rPr sz="2175" b="1">
                <a:solidFill>
                  <a:srgbClr val="0F172A"/>
                </a:solidFill>
                <a:latin typeface="Helvetica Neue"/>
                <a:ea typeface="Helvetica Neue"/>
                <a:cs typeface="Helvetica Neue"/>
              </a:rPr>
              <a:t>Start guided demo</a:t>
            </a:r>
          </a:p>
        </p:txBody>
      </p:sp>
      <p:sp>
        <p:nvSpPr>
          <p:cNvPr id="6" name="text-90">
            <a:extLst xmlns:a="http://schemas.openxmlformats.org/drawingml/2006/main">
              <a:ext uri="{FF2B5EF4-FFF2-40B4-BE49-F238E27FC236}">
                <a16:creationId xmlns:a16="http://schemas.microsoft.com/office/drawing/2014/main" id="{C41B971F-6176-4E76-B9C6-D6FFC25FAF2C}"/>
              </a:ext>
            </a:extLst>
          </p:cNvPr>
          <p:cNvSpPr>
            <a:spLocks xmlns:a="http://schemas.openxmlformats.org/drawingml/2006/main" noGrp="1"/>
          </p:cNvSpPr>
          <p:nvPr/>
        </p:nvSpPr>
        <p:spPr>
          <a:xfrm xmlns:a="http://schemas.openxmlformats.org/drawingml/2006/main">
            <a:off x="1371600" y="24574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Fill the 1,000 MB memory space.</a:t>
            </a:r>
          </a:p>
        </p:txBody>
      </p:sp>
      <p:sp>
        <p:nvSpPr>
          <p:cNvPr id="7" name="text-91">
            <a:extLst xmlns:a="http://schemas.openxmlformats.org/drawingml/2006/main">
              <a:ext uri="{FF2B5EF4-FFF2-40B4-BE49-F238E27FC236}">
                <a16:creationId xmlns:a16="http://schemas.microsoft.com/office/drawing/2014/main" id="{DC307546-D6F6-458F-9CA5-ECAFD85C3B02}"/>
              </a:ext>
            </a:extLst>
          </p:cNvPr>
          <p:cNvSpPr>
            <a:spLocks xmlns:a="http://schemas.openxmlformats.org/drawingml/2006/main" noGrp="1"/>
          </p:cNvSpPr>
          <p:nvPr/>
        </p:nvSpPr>
        <p:spPr>
          <a:xfrm xmlns:a="http://schemas.openxmlformats.org/drawingml/2006/main">
            <a:off x="609600" y="300037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563EB"/>
                </a:solidFill>
                <a:latin typeface="Helvetica Neue"/>
                <a:ea typeface="Helvetica Neue"/>
                <a:cs typeface="Helvetica Neue"/>
              </a:defRPr>
            </a:defPPr>
          </a:lstStyle>
          <a:p xmlns:a="http://schemas.openxmlformats.org/drawingml/2006/main">
            <a:pPr algn="l">
              <a:defRPr sz="2700" b="1">
                <a:solidFill>
                  <a:srgbClr val="2563EB"/>
                </a:solidFill>
                <a:latin typeface="Helvetica Neue"/>
                <a:ea typeface="Helvetica Neue"/>
                <a:cs typeface="Helvetica Neue"/>
              </a:defRPr>
            </a:pPr>
            <a:r>
              <a:rPr sz="2700" b="1">
                <a:solidFill>
                  <a:srgbClr val="2563EB"/>
                </a:solidFill>
                <a:latin typeface="Helvetica Neue"/>
                <a:ea typeface="Helvetica Neue"/>
                <a:cs typeface="Helvetica Neue"/>
              </a:rPr>
              <a:t>2</a:t>
            </a:r>
          </a:p>
        </p:txBody>
      </p:sp>
      <p:sp>
        <p:nvSpPr>
          <p:cNvPr id="8" name="text-92">
            <a:extLst xmlns:a="http://schemas.openxmlformats.org/drawingml/2006/main">
              <a:ext uri="{FF2B5EF4-FFF2-40B4-BE49-F238E27FC236}">
                <a16:creationId xmlns:a16="http://schemas.microsoft.com/office/drawing/2014/main" id="{614EC954-C857-4F25-940C-934EACF7BA5C}"/>
              </a:ext>
            </a:extLst>
          </p:cNvPr>
          <p:cNvSpPr>
            <a:spLocks xmlns:a="http://schemas.openxmlformats.org/drawingml/2006/main" noGrp="1"/>
          </p:cNvSpPr>
          <p:nvPr/>
        </p:nvSpPr>
        <p:spPr>
          <a:xfrm xmlns:a="http://schemas.openxmlformats.org/drawingml/2006/main">
            <a:off x="1371600" y="3000375"/>
            <a:ext cx="923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F172A"/>
                </a:solidFill>
                <a:latin typeface="Helvetica Neue"/>
                <a:ea typeface="Helvetica Neue"/>
                <a:cs typeface="Helvetica Neue"/>
              </a:defRPr>
            </a:defPPr>
          </a:lstStyle>
          <a:p xmlns:a="http://schemas.openxmlformats.org/drawingml/2006/main">
            <a:pPr algn="l">
              <a:defRPr sz="2175" b="1">
                <a:solidFill>
                  <a:srgbClr val="0F172A"/>
                </a:solidFill>
                <a:latin typeface="Helvetica Neue"/>
                <a:ea typeface="Helvetica Neue"/>
                <a:cs typeface="Helvetica Neue"/>
              </a:defRPr>
            </a:pPr>
            <a:r>
              <a:rPr sz="2175" b="1">
                <a:solidFill>
                  <a:srgbClr val="0F172A"/>
                </a:solidFill>
                <a:latin typeface="Helvetica Neue"/>
                <a:ea typeface="Helvetica Neue"/>
                <a:cs typeface="Helvetica Neue"/>
              </a:rPr>
              <a:t>Advance the releases</a:t>
            </a:r>
          </a:p>
        </p:txBody>
      </p:sp>
      <p:sp>
        <p:nvSpPr>
          <p:cNvPr id="9" name="text-93">
            <a:extLst xmlns:a="http://schemas.openxmlformats.org/drawingml/2006/main">
              <a:ext uri="{FF2B5EF4-FFF2-40B4-BE49-F238E27FC236}">
                <a16:creationId xmlns:a16="http://schemas.microsoft.com/office/drawing/2014/main" id="{2073F3D6-6BB6-496E-BEDA-A21A230F0427}"/>
              </a:ext>
            </a:extLst>
          </p:cNvPr>
          <p:cNvSpPr>
            <a:spLocks xmlns:a="http://schemas.openxmlformats.org/drawingml/2006/main" noGrp="1"/>
          </p:cNvSpPr>
          <p:nvPr/>
        </p:nvSpPr>
        <p:spPr>
          <a:xfrm xmlns:a="http://schemas.openxmlformats.org/drawingml/2006/main">
            <a:off x="1371600" y="34290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Show 550 MB free and a 250 MB largest hole.</a:t>
            </a:r>
          </a:p>
        </p:txBody>
      </p:sp>
      <p:sp>
        <p:nvSpPr>
          <p:cNvPr id="10" name="text-94">
            <a:extLst xmlns:a="http://schemas.openxmlformats.org/drawingml/2006/main">
              <a:ext uri="{FF2B5EF4-FFF2-40B4-BE49-F238E27FC236}">
                <a16:creationId xmlns:a16="http://schemas.microsoft.com/office/drawing/2014/main" id="{FD39313A-579A-4426-8632-5CF8E6F5944D}"/>
              </a:ext>
            </a:extLst>
          </p:cNvPr>
          <p:cNvSpPr>
            <a:spLocks xmlns:a="http://schemas.openxmlformats.org/drawingml/2006/main" noGrp="1"/>
          </p:cNvSpPr>
          <p:nvPr/>
        </p:nvSpPr>
        <p:spPr>
          <a:xfrm xmlns:a="http://schemas.openxmlformats.org/drawingml/2006/main">
            <a:off x="609600" y="39719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563EB"/>
                </a:solidFill>
                <a:latin typeface="Helvetica Neue"/>
                <a:ea typeface="Helvetica Neue"/>
                <a:cs typeface="Helvetica Neue"/>
              </a:defRPr>
            </a:defPPr>
          </a:lstStyle>
          <a:p xmlns:a="http://schemas.openxmlformats.org/drawingml/2006/main">
            <a:pPr algn="l">
              <a:defRPr sz="2700" b="1">
                <a:solidFill>
                  <a:srgbClr val="2563EB"/>
                </a:solidFill>
                <a:latin typeface="Helvetica Neue"/>
                <a:ea typeface="Helvetica Neue"/>
                <a:cs typeface="Helvetica Neue"/>
              </a:defRPr>
            </a:pPr>
            <a:r>
              <a:rPr sz="2700" b="1">
                <a:solidFill>
                  <a:srgbClr val="2563EB"/>
                </a:solidFill>
                <a:latin typeface="Helvetica Neue"/>
                <a:ea typeface="Helvetica Neue"/>
                <a:cs typeface="Helvetica Neue"/>
              </a:rPr>
              <a:t>3</a:t>
            </a:r>
          </a:p>
        </p:txBody>
      </p:sp>
      <p:sp>
        <p:nvSpPr>
          <p:cNvPr id="11" name="text-95">
            <a:extLst xmlns:a="http://schemas.openxmlformats.org/drawingml/2006/main">
              <a:ext uri="{FF2B5EF4-FFF2-40B4-BE49-F238E27FC236}">
                <a16:creationId xmlns:a16="http://schemas.microsoft.com/office/drawing/2014/main" id="{49BED0D1-C5C0-4B3C-8F89-B6B254263A15}"/>
              </a:ext>
            </a:extLst>
          </p:cNvPr>
          <p:cNvSpPr>
            <a:spLocks xmlns:a="http://schemas.openxmlformats.org/drawingml/2006/main" noGrp="1"/>
          </p:cNvSpPr>
          <p:nvPr/>
        </p:nvSpPr>
        <p:spPr>
          <a:xfrm xmlns:a="http://schemas.openxmlformats.org/drawingml/2006/main">
            <a:off x="1371600" y="3971925"/>
            <a:ext cx="923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F172A"/>
                </a:solidFill>
                <a:latin typeface="Helvetica Neue"/>
                <a:ea typeface="Helvetica Neue"/>
                <a:cs typeface="Helvetica Neue"/>
              </a:defRPr>
            </a:defPPr>
          </a:lstStyle>
          <a:p xmlns:a="http://schemas.openxmlformats.org/drawingml/2006/main">
            <a:pPr algn="l">
              <a:defRPr sz="2175" b="1">
                <a:solidFill>
                  <a:srgbClr val="0F172A"/>
                </a:solidFill>
                <a:latin typeface="Helvetica Neue"/>
                <a:ea typeface="Helvetica Neue"/>
                <a:cs typeface="Helvetica Neue"/>
              </a:defRPr>
            </a:pPr>
            <a:r>
              <a:rPr sz="2175" b="1">
                <a:solidFill>
                  <a:srgbClr val="0F172A"/>
                </a:solidFill>
                <a:latin typeface="Helvetica Neue"/>
                <a:ea typeface="Helvetica Neue"/>
                <a:cs typeface="Helvetica Neue"/>
              </a:rPr>
              <a:t>Inspect the failure</a:t>
            </a:r>
          </a:p>
        </p:txBody>
      </p:sp>
      <p:sp>
        <p:nvSpPr>
          <p:cNvPr id="12" name="text-96">
            <a:extLst xmlns:a="http://schemas.openxmlformats.org/drawingml/2006/main">
              <a:ext uri="{FF2B5EF4-FFF2-40B4-BE49-F238E27FC236}">
                <a16:creationId xmlns:a16="http://schemas.microsoft.com/office/drawing/2014/main" id="{F6DD64D2-BA4F-4852-9E37-121663058996}"/>
              </a:ext>
            </a:extLst>
          </p:cNvPr>
          <p:cNvSpPr>
            <a:spLocks xmlns:a="http://schemas.openxmlformats.org/drawingml/2006/main" noGrp="1"/>
          </p:cNvSpPr>
          <p:nvPr/>
        </p:nvSpPr>
        <p:spPr>
          <a:xfrm xmlns:a="http://schemas.openxmlformats.org/drawingml/2006/main">
            <a:off x="1371600" y="44005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The 400 MB request remains waiting.</a:t>
            </a:r>
          </a:p>
        </p:txBody>
      </p:sp>
      <p:sp>
        <p:nvSpPr>
          <p:cNvPr id="13" name="text-97">
            <a:extLst xmlns:a="http://schemas.openxmlformats.org/drawingml/2006/main">
              <a:ext uri="{FF2B5EF4-FFF2-40B4-BE49-F238E27FC236}">
                <a16:creationId xmlns:a16="http://schemas.microsoft.com/office/drawing/2014/main" id="{0B8BC294-F632-4B2D-BA48-BD84863E0B26}"/>
              </a:ext>
            </a:extLst>
          </p:cNvPr>
          <p:cNvSpPr>
            <a:spLocks xmlns:a="http://schemas.openxmlformats.org/drawingml/2006/main" noGrp="1"/>
          </p:cNvSpPr>
          <p:nvPr/>
        </p:nvSpPr>
        <p:spPr>
          <a:xfrm xmlns:a="http://schemas.openxmlformats.org/drawingml/2006/main">
            <a:off x="609600" y="494347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563EB"/>
                </a:solidFill>
                <a:latin typeface="Helvetica Neue"/>
                <a:ea typeface="Helvetica Neue"/>
                <a:cs typeface="Helvetica Neue"/>
              </a:defRPr>
            </a:defPPr>
          </a:lstStyle>
          <a:p xmlns:a="http://schemas.openxmlformats.org/drawingml/2006/main">
            <a:pPr algn="l">
              <a:defRPr sz="2700" b="1">
                <a:solidFill>
                  <a:srgbClr val="2563EB"/>
                </a:solidFill>
                <a:latin typeface="Helvetica Neue"/>
                <a:ea typeface="Helvetica Neue"/>
                <a:cs typeface="Helvetica Neue"/>
              </a:defRPr>
            </a:pPr>
            <a:r>
              <a:rPr sz="2700" b="1">
                <a:solidFill>
                  <a:srgbClr val="2563EB"/>
                </a:solidFill>
                <a:latin typeface="Helvetica Neue"/>
                <a:ea typeface="Helvetica Neue"/>
                <a:cs typeface="Helvetica Neue"/>
              </a:rPr>
              <a:t>4</a:t>
            </a:r>
          </a:p>
        </p:txBody>
      </p:sp>
      <p:sp>
        <p:nvSpPr>
          <p:cNvPr id="14" name="text-98">
            <a:extLst xmlns:a="http://schemas.openxmlformats.org/drawingml/2006/main">
              <a:ext uri="{FF2B5EF4-FFF2-40B4-BE49-F238E27FC236}">
                <a16:creationId xmlns:a16="http://schemas.microsoft.com/office/drawing/2014/main" id="{6714915A-3070-4028-9D79-6E8D703D03C3}"/>
              </a:ext>
            </a:extLst>
          </p:cNvPr>
          <p:cNvSpPr>
            <a:spLocks xmlns:a="http://schemas.openxmlformats.org/drawingml/2006/main" noGrp="1"/>
          </p:cNvSpPr>
          <p:nvPr/>
        </p:nvSpPr>
        <p:spPr>
          <a:xfrm xmlns:a="http://schemas.openxmlformats.org/drawingml/2006/main">
            <a:off x="1371600" y="4943475"/>
            <a:ext cx="923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F172A"/>
                </a:solidFill>
                <a:latin typeface="Helvetica Neue"/>
                <a:ea typeface="Helvetica Neue"/>
                <a:cs typeface="Helvetica Neue"/>
              </a:defRPr>
            </a:defPPr>
          </a:lstStyle>
          <a:p xmlns:a="http://schemas.openxmlformats.org/drawingml/2006/main">
            <a:pPr algn="l">
              <a:defRPr sz="2175" b="1">
                <a:solidFill>
                  <a:srgbClr val="0F172A"/>
                </a:solidFill>
                <a:latin typeface="Helvetica Neue"/>
                <a:ea typeface="Helvetica Neue"/>
                <a:cs typeface="Helvetica Neue"/>
              </a:defRPr>
            </a:pPr>
            <a:r>
              <a:rPr sz="2175" b="1">
                <a:solidFill>
                  <a:srgbClr val="0F172A"/>
                </a:solidFill>
                <a:latin typeface="Helvetica Neue"/>
                <a:ea typeface="Helvetica Neue"/>
                <a:cs typeface="Helvetica Neue"/>
              </a:rPr>
              <a:t>Compact and retry</a:t>
            </a:r>
          </a:p>
        </p:txBody>
      </p:sp>
      <p:sp>
        <p:nvSpPr>
          <p:cNvPr id="15" name="text-99">
            <a:extLst xmlns:a="http://schemas.openxmlformats.org/drawingml/2006/main">
              <a:ext uri="{FF2B5EF4-FFF2-40B4-BE49-F238E27FC236}">
                <a16:creationId xmlns:a16="http://schemas.microsoft.com/office/drawing/2014/main" id="{05206ACA-151E-4021-9415-7D273793C29F}"/>
              </a:ext>
            </a:extLst>
          </p:cNvPr>
          <p:cNvSpPr>
            <a:spLocks xmlns:a="http://schemas.openxmlformats.org/drawingml/2006/main" noGrp="1"/>
          </p:cNvSpPr>
          <p:nvPr/>
        </p:nvSpPr>
        <p:spPr>
          <a:xfrm xmlns:a="http://schemas.openxmlformats.org/drawingml/2006/main">
            <a:off x="1371600" y="53721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Show the successful allocation and new addresses.</a:t>
            </a:r>
          </a:p>
        </p:txBody>
      </p:sp>
    </p:spTree>
    <p:extLst>
      <p:ext uri="{BB962C8B-B14F-4D97-AF65-F5344CB8AC3E}">
        <p14:creationId xmlns:p14="http://schemas.microsoft.com/office/powerpoint/2010/main" val="2423798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00">
            <a:extLst xmlns:a="http://schemas.openxmlformats.org/drawingml/2006/main">
              <a:ext uri="{FF2B5EF4-FFF2-40B4-BE49-F238E27FC236}">
                <a16:creationId xmlns:a16="http://schemas.microsoft.com/office/drawing/2014/main" id="{D2CB40EA-62B2-472C-A91A-52539883AD9A}"/>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Verification covers the memory lifecycle</a:t>
            </a:r>
          </a:p>
        </p:txBody>
      </p:sp>
      <p:sp>
        <p:nvSpPr>
          <p:cNvPr id="2" name="text-101">
            <a:extLst xmlns:a="http://schemas.openxmlformats.org/drawingml/2006/main">
              <a:ext uri="{FF2B5EF4-FFF2-40B4-BE49-F238E27FC236}">
                <a16:creationId xmlns:a16="http://schemas.microsoft.com/office/drawing/2014/main" id="{89E5D9D6-15F6-43E5-A86C-C8296F3592F3}"/>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Automated regression checks and deterministic mixed operation tests</a:t>
            </a:r>
          </a:p>
        </p:txBody>
      </p:sp>
      <p:sp>
        <p:nvSpPr>
          <p:cNvPr id="3" name="text-102">
            <a:extLst xmlns:a="http://schemas.openxmlformats.org/drawingml/2006/main">
              <a:ext uri="{FF2B5EF4-FFF2-40B4-BE49-F238E27FC236}">
                <a16:creationId xmlns:a16="http://schemas.microsoft.com/office/drawing/2014/main" id="{5C02201B-C21F-4508-AC3E-C5B532A277C3}"/>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13</a:t>
            </a:r>
          </a:p>
        </p:txBody>
      </p:sp>
      <p:sp>
        <p:nvSpPr>
          <p:cNvPr id="4" name="text-103">
            <a:extLst xmlns:a="http://schemas.openxmlformats.org/drawingml/2006/main">
              <a:ext uri="{FF2B5EF4-FFF2-40B4-BE49-F238E27FC236}">
                <a16:creationId xmlns:a16="http://schemas.microsoft.com/office/drawing/2014/main" id="{379B5190-1030-475E-A19E-447EB18D267C}"/>
              </a:ext>
            </a:extLst>
          </p:cNvPr>
          <p:cNvSpPr>
            <a:spLocks xmlns:a="http://schemas.openxmlformats.org/drawingml/2006/main" noGrp="1"/>
          </p:cNvSpPr>
          <p:nvPr/>
        </p:nvSpPr>
        <p:spPr>
          <a:xfrm xmlns:a="http://schemas.openxmlformats.org/drawingml/2006/main">
            <a:off x="609600" y="2114550"/>
            <a:ext cx="4476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400" b="1">
                <a:solidFill>
                  <a:srgbClr val="2563EB"/>
                </a:solidFill>
                <a:latin typeface="Helvetica Neue"/>
                <a:ea typeface="Helvetica Neue"/>
                <a:cs typeface="Helvetica Neue"/>
              </a:defRPr>
            </a:defPPr>
          </a:lstStyle>
          <a:p xmlns:a="http://schemas.openxmlformats.org/drawingml/2006/main">
            <a:pPr algn="l">
              <a:defRPr sz="8400" b="1">
                <a:solidFill>
                  <a:srgbClr val="2563EB"/>
                </a:solidFill>
                <a:latin typeface="Helvetica Neue"/>
                <a:ea typeface="Helvetica Neue"/>
                <a:cs typeface="Helvetica Neue"/>
              </a:defRPr>
            </a:pPr>
            <a:r>
              <a:rPr sz="8400" b="1">
                <a:solidFill>
                  <a:srgbClr val="2563EB"/>
                </a:solidFill>
                <a:latin typeface="Helvetica Neue"/>
                <a:ea typeface="Helvetica Neue"/>
                <a:cs typeface="Helvetica Neue"/>
              </a:rPr>
              <a:t>48</a:t>
            </a:r>
          </a:p>
        </p:txBody>
      </p:sp>
      <p:sp>
        <p:nvSpPr>
          <p:cNvPr id="5" name="text-104">
            <a:extLst xmlns:a="http://schemas.openxmlformats.org/drawingml/2006/main">
              <a:ext uri="{FF2B5EF4-FFF2-40B4-BE49-F238E27FC236}">
                <a16:creationId xmlns:a16="http://schemas.microsoft.com/office/drawing/2014/main" id="{46E27728-6D1B-4CEF-8692-15DA0FC5A656}"/>
              </a:ext>
            </a:extLst>
          </p:cNvPr>
          <p:cNvSpPr>
            <a:spLocks xmlns:a="http://schemas.openxmlformats.org/drawingml/2006/main" noGrp="1"/>
          </p:cNvSpPr>
          <p:nvPr/>
        </p:nvSpPr>
        <p:spPr>
          <a:xfrm xmlns:a="http://schemas.openxmlformats.org/drawingml/2006/main">
            <a:off x="609600" y="3552825"/>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regression checks</a:t>
            </a:r>
          </a:p>
        </p:txBody>
      </p:sp>
      <p:sp>
        <p:nvSpPr>
          <p:cNvPr id="6" name="text-105">
            <a:extLst xmlns:a="http://schemas.openxmlformats.org/drawingml/2006/main">
              <a:ext uri="{FF2B5EF4-FFF2-40B4-BE49-F238E27FC236}">
                <a16:creationId xmlns:a16="http://schemas.microsoft.com/office/drawing/2014/main" id="{4F4EDEC9-BF8E-4217-8D94-D3A63BE16BB3}"/>
              </a:ext>
            </a:extLst>
          </p:cNvPr>
          <p:cNvSpPr>
            <a:spLocks xmlns:a="http://schemas.openxmlformats.org/drawingml/2006/main" noGrp="1"/>
          </p:cNvSpPr>
          <p:nvPr/>
        </p:nvSpPr>
        <p:spPr>
          <a:xfrm xmlns:a="http://schemas.openxmlformats.org/drawingml/2006/main">
            <a:off x="6391275" y="21145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400" b="1">
                <a:solidFill>
                  <a:srgbClr val="0F172A"/>
                </a:solidFill>
                <a:latin typeface="Helvetica Neue"/>
                <a:ea typeface="Helvetica Neue"/>
                <a:cs typeface="Helvetica Neue"/>
              </a:defRPr>
            </a:defPPr>
          </a:lstStyle>
          <a:p xmlns:a="http://schemas.openxmlformats.org/drawingml/2006/main">
            <a:pPr algn="l">
              <a:defRPr sz="8400" b="1">
                <a:solidFill>
                  <a:srgbClr val="0F172A"/>
                </a:solidFill>
                <a:latin typeface="Helvetica Neue"/>
                <a:ea typeface="Helvetica Neue"/>
                <a:cs typeface="Helvetica Neue"/>
              </a:defRPr>
            </a:pPr>
            <a:r>
              <a:rPr sz="8400" b="1">
                <a:solidFill>
                  <a:srgbClr val="0F172A"/>
                </a:solidFill>
                <a:latin typeface="Helvetica Neue"/>
                <a:ea typeface="Helvetica Neue"/>
                <a:cs typeface="Helvetica Neue"/>
              </a:rPr>
              <a:t>4,000</a:t>
            </a:r>
          </a:p>
        </p:txBody>
      </p:sp>
      <p:sp>
        <p:nvSpPr>
          <p:cNvPr id="7" name="text-106">
            <a:extLst xmlns:a="http://schemas.openxmlformats.org/drawingml/2006/main">
              <a:ext uri="{FF2B5EF4-FFF2-40B4-BE49-F238E27FC236}">
                <a16:creationId xmlns:a16="http://schemas.microsoft.com/office/drawing/2014/main" id="{643E9043-6182-41B2-91A2-C9AE4A614249}"/>
              </a:ext>
            </a:extLst>
          </p:cNvPr>
          <p:cNvSpPr>
            <a:spLocks xmlns:a="http://schemas.openxmlformats.org/drawingml/2006/main" noGrp="1"/>
          </p:cNvSpPr>
          <p:nvPr/>
        </p:nvSpPr>
        <p:spPr>
          <a:xfrm xmlns:a="http://schemas.openxmlformats.org/drawingml/2006/main">
            <a:off x="6391275" y="3552825"/>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F172A"/>
                </a:solidFill>
                <a:latin typeface="Helvetica Neue"/>
                <a:ea typeface="Helvetica Neue"/>
                <a:cs typeface="Helvetica Neue"/>
              </a:defRPr>
            </a:defPPr>
          </a:lstStyle>
          <a:p xmlns:a="http://schemas.openxmlformats.org/drawingml/2006/main">
            <a:pPr algn="l">
              <a:defRPr sz="2325" b="1">
                <a:solidFill>
                  <a:srgbClr val="0F172A"/>
                </a:solidFill>
                <a:latin typeface="Helvetica Neue"/>
                <a:ea typeface="Helvetica Neue"/>
                <a:cs typeface="Helvetica Neue"/>
              </a:defRPr>
            </a:pPr>
            <a:r>
              <a:rPr sz="2325" b="1">
                <a:solidFill>
                  <a:srgbClr val="0F172A"/>
                </a:solidFill>
                <a:latin typeface="Helvetica Neue"/>
                <a:ea typeface="Helvetica Neue"/>
                <a:cs typeface="Helvetica Neue"/>
              </a:rPr>
              <a:t>mixed operations</a:t>
            </a:r>
          </a:p>
        </p:txBody>
      </p:sp>
      <p:sp>
        <p:nvSpPr>
          <p:cNvPr id="8" name="text-107">
            <a:extLst xmlns:a="http://schemas.openxmlformats.org/drawingml/2006/main">
              <a:ext uri="{FF2B5EF4-FFF2-40B4-BE49-F238E27FC236}">
                <a16:creationId xmlns:a16="http://schemas.microsoft.com/office/drawing/2014/main" id="{B5284318-0EBF-4BB4-9A1E-4D59B944FE4A}"/>
              </a:ext>
            </a:extLst>
          </p:cNvPr>
          <p:cNvSpPr>
            <a:spLocks xmlns:a="http://schemas.openxmlformats.org/drawingml/2006/main" noGrp="1"/>
          </p:cNvSpPr>
          <p:nvPr/>
        </p:nvSpPr>
        <p:spPr>
          <a:xfrm xmlns:a="http://schemas.openxmlformats.org/drawingml/2006/main">
            <a:off x="609600" y="47625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47C"/>
                </a:solidFill>
                <a:latin typeface="Helvetica Neue"/>
                <a:ea typeface="Helvetica Neue"/>
                <a:cs typeface="Helvetica Neue"/>
              </a:defRPr>
            </a:defPPr>
          </a:lstStyle>
          <a:p xmlns:a="http://schemas.openxmlformats.org/drawingml/2006/main">
            <a:pPr algn="l">
              <a:defRPr sz="2175" b="0">
                <a:solidFill>
                  <a:srgbClr val="52647C"/>
                </a:solidFill>
                <a:latin typeface="Helvetica Neue"/>
                <a:ea typeface="Helvetica Neue"/>
                <a:cs typeface="Helvetica Neue"/>
              </a:defRPr>
            </a:pPr>
            <a:r>
              <a:rPr sz="2175" b="0">
                <a:solidFill>
                  <a:srgbClr val="52647C"/>
                </a:solidFill>
                <a:latin typeface="Helvetica Neue"/>
                <a:ea typeface="Helvetica Neue"/>
                <a:cs typeface="Helvetica Neue"/>
              </a:rPr>
              <a:t>Checks include circular search, merge and split, fixed waste, replay,</a:t>
            </a:r>
          </a:p>
          <a:p xmlns:a="http://schemas.openxmlformats.org/drawingml/2006/main">
            <a:pPr algn="l">
              <a:defRPr sz="2175" b="0">
                <a:solidFill>
                  <a:srgbClr val="52647C"/>
                </a:solidFill>
                <a:latin typeface="Helvetica Neue"/>
                <a:ea typeface="Helvetica Neue"/>
                <a:cs typeface="Helvetica Neue"/>
              </a:defRPr>
            </a:pPr>
            <a:r>
              <a:rPr sz="2175" b="0">
                <a:solidFill>
                  <a:srgbClr val="52647C"/>
                </a:solidFill>
                <a:latin typeface="Helvetica Neue"/>
                <a:ea typeface="Helvetica Neue"/>
                <a:cs typeface="Helvetica Neue"/>
              </a:rPr>
              <a:t>comparison isolation, and exactly one commit during playback.</a:t>
            </a:r>
          </a:p>
        </p:txBody>
      </p:sp>
      <p:sp>
        <p:nvSpPr>
          <p:cNvPr id="9" name="text-108">
            <a:extLst xmlns:a="http://schemas.openxmlformats.org/drawingml/2006/main">
              <a:ext uri="{FF2B5EF4-FFF2-40B4-BE49-F238E27FC236}">
                <a16:creationId xmlns:a16="http://schemas.microsoft.com/office/drawing/2014/main" id="{996BE54C-E7B8-43E2-9083-A44C4B7EF521}"/>
              </a:ext>
            </a:extLst>
          </p:cNvPr>
          <p:cNvSpPr>
            <a:spLocks xmlns:a="http://schemas.openxmlformats.org/drawingml/2006/main" noGrp="1"/>
          </p:cNvSpPr>
          <p:nvPr/>
        </p:nvSpPr>
        <p:spPr>
          <a:xfrm xmlns:a="http://schemas.openxmlformats.org/drawingml/2006/main">
            <a:off x="609600" y="59245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63EB"/>
                </a:solidFill>
                <a:latin typeface="Helvetica Neue"/>
                <a:ea typeface="Helvetica Neue"/>
                <a:cs typeface="Helvetica Neue"/>
              </a:defRPr>
            </a:defPPr>
          </a:lstStyle>
          <a:p xmlns:a="http://schemas.openxmlformats.org/drawingml/2006/main">
            <a:pPr algn="l">
              <a:defRPr sz="1800" b="0">
                <a:solidFill>
                  <a:srgbClr val="2563EB"/>
                </a:solidFill>
                <a:latin typeface="Helvetica Neue"/>
                <a:ea typeface="Helvetica Neue"/>
                <a:cs typeface="Helvetica Neue"/>
              </a:defRPr>
            </a:pPr>
            <a:r>
              <a:rPr sz="1800" b="0">
                <a:solidFill>
                  <a:srgbClr val="2563EB"/>
                </a:solidFill>
                <a:latin typeface="Helvetica Neue"/>
                <a:ea typeface="Helvetica Neue"/>
                <a:cs typeface="Helvetica Neue"/>
              </a:rPr>
              <a:t>node tests/simulator.test.js</a:t>
            </a:r>
          </a:p>
        </p:txBody>
      </p:sp>
    </p:spTree>
    <p:extLst>
      <p:ext uri="{BB962C8B-B14F-4D97-AF65-F5344CB8AC3E}">
        <p14:creationId xmlns:p14="http://schemas.microsoft.com/office/powerpoint/2010/main" val="1203053785"/>
      </p:ext>
    </p:extLst>
  </p:cSld>
</p:sld>
</file>

<file path=ppt/slides/slide1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0" name="text-109">
            <a:extLst xmlns:a="http://schemas.openxmlformats.org/drawingml/2006/main">
              <a:ext uri="{FF2B5EF4-FFF2-40B4-BE49-F238E27FC236}">
                <a16:creationId xmlns:a16="http://schemas.microsoft.com/office/drawing/2014/main" id="{B1CB2FFA-7AC3-4D87-A48B-EBA048A29F4A}"/>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Helvetica Neue"/>
                <a:ea typeface="Helvetica Neue"/>
                <a:cs typeface="Helvetica Neue"/>
              </a:defRPr>
            </a:defPPr>
          </a:lstStyle>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What the project demonstrates</a:t>
            </a:r>
          </a:p>
        </p:txBody>
      </p:sp>
      <p:sp>
        <p:nvSpPr>
          <p:cNvPr id="2" name="text-110">
            <a:extLst xmlns:a="http://schemas.openxmlformats.org/drawingml/2006/main">
              <a:ext uri="{FF2B5EF4-FFF2-40B4-BE49-F238E27FC236}">
                <a16:creationId xmlns:a16="http://schemas.microsoft.com/office/drawing/2014/main" id="{262829DE-911E-43D9-A618-C5210527D4C4}"/>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8C6DF"/>
                </a:solidFill>
                <a:latin typeface="Helvetica Neue"/>
                <a:ea typeface="Helvetica Neue"/>
                <a:cs typeface="Helvetica Neue"/>
              </a:defRPr>
            </a:defPPr>
          </a:lstStyle>
          <a:p xmlns:a="http://schemas.openxmlformats.org/drawingml/2006/main">
            <a:pPr algn="l">
              <a:defRPr sz="1950" b="0">
                <a:solidFill>
                  <a:srgbClr val="B8C6DF"/>
                </a:solidFill>
                <a:latin typeface="Helvetica Neue"/>
                <a:ea typeface="Helvetica Neue"/>
                <a:cs typeface="Helvetica Neue"/>
              </a:defRPr>
            </a:pPr>
            <a:r>
              <a:rPr sz="1950" b="0">
                <a:solidFill>
                  <a:srgbClr val="B8C6DF"/>
                </a:solidFill>
                <a:latin typeface="Helvetica Neue"/>
                <a:ea typeface="Helvetica Neue"/>
                <a:cs typeface="Helvetica Neue"/>
              </a:rPr>
              <a:t>Allocation choices change which requests memory can serve</a:t>
            </a:r>
          </a:p>
        </p:txBody>
      </p:sp>
      <p:sp>
        <p:nvSpPr>
          <p:cNvPr id="3" name="text-111">
            <a:extLst xmlns:a="http://schemas.openxmlformats.org/drawingml/2006/main">
              <a:ext uri="{FF2B5EF4-FFF2-40B4-BE49-F238E27FC236}">
                <a16:creationId xmlns:a16="http://schemas.microsoft.com/office/drawing/2014/main" id="{A5DD6C7F-2266-4526-BE67-9EBA620DD0AB}"/>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8CA1C5"/>
                </a:solidFill>
                <a:latin typeface="Helvetica Neue"/>
                <a:ea typeface="Helvetica Neue"/>
                <a:cs typeface="Helvetica Neue"/>
              </a:defRPr>
            </a:defPPr>
          </a:lstStyle>
          <a:p xmlns:a="http://schemas.openxmlformats.org/drawingml/2006/main">
            <a:pPr algn="r">
              <a:defRPr sz="1275" b="0">
                <a:solidFill>
                  <a:srgbClr val="8CA1C5"/>
                </a:solidFill>
                <a:latin typeface="Helvetica Neue"/>
                <a:ea typeface="Helvetica Neue"/>
                <a:cs typeface="Helvetica Neue"/>
              </a:defRPr>
            </a:pPr>
            <a:r>
              <a:rPr sz="1275" b="0">
                <a:solidFill>
                  <a:srgbClr val="8CA1C5"/>
                </a:solidFill>
                <a:latin typeface="Helvetica Neue"/>
                <a:ea typeface="Helvetica Neue"/>
                <a:cs typeface="Helvetica Neue"/>
              </a:rPr>
              <a:t>14</a:t>
            </a:r>
          </a:p>
        </p:txBody>
      </p:sp>
      <p:sp>
        <p:nvSpPr>
          <p:cNvPr id="4" name="text-112">
            <a:extLst xmlns:a="http://schemas.openxmlformats.org/drawingml/2006/main">
              <a:ext uri="{FF2B5EF4-FFF2-40B4-BE49-F238E27FC236}">
                <a16:creationId xmlns:a16="http://schemas.microsoft.com/office/drawing/2014/main" id="{CB13259C-1704-4A79-85E6-7F0AAE77C589}"/>
              </a:ext>
            </a:extLst>
          </p:cNvPr>
          <p:cNvSpPr>
            <a:spLocks xmlns:a="http://schemas.openxmlformats.org/drawingml/2006/main" noGrp="1"/>
          </p:cNvSpPr>
          <p:nvPr/>
        </p:nvSpPr>
        <p:spPr>
          <a:xfrm xmlns:a="http://schemas.openxmlformats.org/drawingml/2006/main">
            <a:off x="609600" y="2286000"/>
            <a:ext cx="2809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93C5FD"/>
                </a:solidFill>
                <a:latin typeface="Helvetica Neue"/>
                <a:ea typeface="Helvetica Neue"/>
                <a:cs typeface="Helvetica Neue"/>
              </a:defRPr>
            </a:defPPr>
          </a:lstStyle>
          <a:p xmlns:a="http://schemas.openxmlformats.org/drawingml/2006/main">
            <a:pPr algn="l">
              <a:defRPr sz="2625" b="1">
                <a:solidFill>
                  <a:srgbClr val="93C5FD"/>
                </a:solidFill>
                <a:latin typeface="Helvetica Neue"/>
                <a:ea typeface="Helvetica Neue"/>
                <a:cs typeface="Helvetica Neue"/>
              </a:defRPr>
            </a:pPr>
            <a:r>
              <a:rPr sz="2625" b="1">
                <a:solidFill>
                  <a:srgbClr val="93C5FD"/>
                </a:solidFill>
                <a:latin typeface="Helvetica Neue"/>
                <a:ea typeface="Helvetica Neue"/>
                <a:cs typeface="Helvetica Neue"/>
              </a:rPr>
              <a:t>Placement</a:t>
            </a:r>
          </a:p>
        </p:txBody>
      </p:sp>
      <p:sp>
        <p:nvSpPr>
          <p:cNvPr id="5" name="text-113">
            <a:extLst xmlns:a="http://schemas.openxmlformats.org/drawingml/2006/main">
              <a:ext uri="{FF2B5EF4-FFF2-40B4-BE49-F238E27FC236}">
                <a16:creationId xmlns:a16="http://schemas.microsoft.com/office/drawing/2014/main" id="{1FBC49E2-8218-4DBB-8989-793A6775CF89}"/>
              </a:ext>
            </a:extLst>
          </p:cNvPr>
          <p:cNvSpPr>
            <a:spLocks xmlns:a="http://schemas.openxmlformats.org/drawingml/2006/main" noGrp="1"/>
          </p:cNvSpPr>
          <p:nvPr/>
        </p:nvSpPr>
        <p:spPr>
          <a:xfrm xmlns:a="http://schemas.openxmlformats.org/drawingml/2006/main">
            <a:off x="3752850" y="2286000"/>
            <a:ext cx="7524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FFFFF"/>
                </a:solidFill>
                <a:latin typeface="Helvetica Neue"/>
                <a:ea typeface="Helvetica Neue"/>
                <a:cs typeface="Helvetica Neue"/>
              </a:defRPr>
            </a:defPPr>
          </a:lstStyle>
          <a:p xmlns:a="http://schemas.openxmlformats.org/drawingml/2006/main">
            <a:pPr algn="l">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The same workload can produce different layouts and search costs.</a:t>
            </a:r>
          </a:p>
        </p:txBody>
      </p:sp>
      <p:sp>
        <p:nvSpPr>
          <p:cNvPr id="6" name="text-114">
            <a:extLst xmlns:a="http://schemas.openxmlformats.org/drawingml/2006/main">
              <a:ext uri="{FF2B5EF4-FFF2-40B4-BE49-F238E27FC236}">
                <a16:creationId xmlns:a16="http://schemas.microsoft.com/office/drawing/2014/main" id="{57F5001B-0814-4753-B0F6-391381C78556}"/>
              </a:ext>
            </a:extLst>
          </p:cNvPr>
          <p:cNvSpPr>
            <a:spLocks xmlns:a="http://schemas.openxmlformats.org/drawingml/2006/main" noGrp="1"/>
          </p:cNvSpPr>
          <p:nvPr/>
        </p:nvSpPr>
        <p:spPr>
          <a:xfrm xmlns:a="http://schemas.openxmlformats.org/drawingml/2006/main">
            <a:off x="609600" y="37528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93C5FD"/>
                </a:solidFill>
                <a:latin typeface="Helvetica Neue"/>
                <a:ea typeface="Helvetica Neue"/>
                <a:cs typeface="Helvetica Neue"/>
              </a:defRPr>
            </a:defPPr>
          </a:lstStyle>
          <a:p xmlns:a="http://schemas.openxmlformats.org/drawingml/2006/main">
            <a:pPr algn="l">
              <a:defRPr sz="2625" b="1">
                <a:solidFill>
                  <a:srgbClr val="93C5FD"/>
                </a:solidFill>
                <a:latin typeface="Helvetica Neue"/>
                <a:ea typeface="Helvetica Neue"/>
                <a:cs typeface="Helvetica Neue"/>
              </a:defRPr>
            </a:pPr>
            <a:r>
              <a:rPr sz="2625" b="1">
                <a:solidFill>
                  <a:srgbClr val="93C5FD"/>
                </a:solidFill>
                <a:latin typeface="Helvetica Neue"/>
                <a:ea typeface="Helvetica Neue"/>
                <a:cs typeface="Helvetica Neue"/>
              </a:rPr>
              <a:t>Fragmentation</a:t>
            </a:r>
          </a:p>
        </p:txBody>
      </p:sp>
      <p:sp>
        <p:nvSpPr>
          <p:cNvPr id="7" name="text-115">
            <a:extLst xmlns:a="http://schemas.openxmlformats.org/drawingml/2006/main">
              <a:ext uri="{FF2B5EF4-FFF2-40B4-BE49-F238E27FC236}">
                <a16:creationId xmlns:a16="http://schemas.microsoft.com/office/drawing/2014/main" id="{F0CEE32D-911C-43CD-9107-E97F094C8E19}"/>
              </a:ext>
            </a:extLst>
          </p:cNvPr>
          <p:cNvSpPr>
            <a:spLocks xmlns:a="http://schemas.openxmlformats.org/drawingml/2006/main" noGrp="1"/>
          </p:cNvSpPr>
          <p:nvPr/>
        </p:nvSpPr>
        <p:spPr>
          <a:xfrm xmlns:a="http://schemas.openxmlformats.org/drawingml/2006/main">
            <a:off x="3752850" y="375285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FFFFF"/>
                </a:solidFill>
                <a:latin typeface="Helvetica Neue"/>
                <a:ea typeface="Helvetica Neue"/>
                <a:cs typeface="Helvetica Neue"/>
              </a:defRPr>
            </a:defPPr>
          </a:lstStyle>
          <a:p xmlns:a="http://schemas.openxmlformats.org/drawingml/2006/main">
            <a:pPr algn="l">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Enough total free memory can still be insufficient for one contiguous request.</a:t>
            </a:r>
          </a:p>
        </p:txBody>
      </p:sp>
      <p:sp>
        <p:nvSpPr>
          <p:cNvPr id="8" name="text-116">
            <a:extLst xmlns:a="http://schemas.openxmlformats.org/drawingml/2006/main">
              <a:ext uri="{FF2B5EF4-FFF2-40B4-BE49-F238E27FC236}">
                <a16:creationId xmlns:a16="http://schemas.microsoft.com/office/drawing/2014/main" id="{CD261EC3-963F-4C9D-A15F-AD21308AB21E}"/>
              </a:ext>
            </a:extLst>
          </p:cNvPr>
          <p:cNvSpPr>
            <a:spLocks xmlns:a="http://schemas.openxmlformats.org/drawingml/2006/main" noGrp="1"/>
          </p:cNvSpPr>
          <p:nvPr/>
        </p:nvSpPr>
        <p:spPr>
          <a:xfrm xmlns:a="http://schemas.openxmlformats.org/drawingml/2006/main">
            <a:off x="609600" y="5314950"/>
            <a:ext cx="2809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93C5FD"/>
                </a:solidFill>
                <a:latin typeface="Helvetica Neue"/>
                <a:ea typeface="Helvetica Neue"/>
                <a:cs typeface="Helvetica Neue"/>
              </a:defRPr>
            </a:defPPr>
          </a:lstStyle>
          <a:p xmlns:a="http://schemas.openxmlformats.org/drawingml/2006/main">
            <a:pPr algn="l">
              <a:defRPr sz="2625" b="1">
                <a:solidFill>
                  <a:srgbClr val="93C5FD"/>
                </a:solidFill>
                <a:latin typeface="Helvetica Neue"/>
                <a:ea typeface="Helvetica Neue"/>
                <a:cs typeface="Helvetica Neue"/>
              </a:defRPr>
            </a:pPr>
            <a:r>
              <a:rPr sz="2625" b="1">
                <a:solidFill>
                  <a:srgbClr val="93C5FD"/>
                </a:solidFill>
                <a:latin typeface="Helvetica Neue"/>
                <a:ea typeface="Helvetica Neue"/>
                <a:cs typeface="Helvetica Neue"/>
              </a:rPr>
              <a:t>Recovery</a:t>
            </a:r>
          </a:p>
        </p:txBody>
      </p:sp>
      <p:sp>
        <p:nvSpPr>
          <p:cNvPr id="9" name="text-117">
            <a:extLst xmlns:a="http://schemas.openxmlformats.org/drawingml/2006/main">
              <a:ext uri="{FF2B5EF4-FFF2-40B4-BE49-F238E27FC236}">
                <a16:creationId xmlns:a16="http://schemas.microsoft.com/office/drawing/2014/main" id="{CE420926-E881-44A2-9FCF-C0816296FFD0}"/>
              </a:ext>
            </a:extLst>
          </p:cNvPr>
          <p:cNvSpPr>
            <a:spLocks xmlns:a="http://schemas.openxmlformats.org/drawingml/2006/main" noGrp="1"/>
          </p:cNvSpPr>
          <p:nvPr/>
        </p:nvSpPr>
        <p:spPr>
          <a:xfrm xmlns:a="http://schemas.openxmlformats.org/drawingml/2006/main">
            <a:off x="3752850" y="5314950"/>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FFFFF"/>
                </a:solidFill>
                <a:latin typeface="Helvetica Neue"/>
                <a:ea typeface="Helvetica Neue"/>
                <a:cs typeface="Helvetica Neue"/>
              </a:defRPr>
            </a:defPPr>
          </a:lstStyle>
          <a:p xmlns:a="http://schemas.openxmlformats.org/drawingml/2006/main">
            <a:pPr algn="l">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Compaction changes the layout while preserving total free space.</a:t>
            </a:r>
          </a:p>
        </p:txBody>
      </p:sp>
    </p:spTree>
    <p:extLst>
      <p:ext uri="{BB962C8B-B14F-4D97-AF65-F5344CB8AC3E}">
        <p14:creationId xmlns:p14="http://schemas.microsoft.com/office/powerpoint/2010/main" val="14155848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18">
            <a:extLst xmlns:a="http://schemas.openxmlformats.org/drawingml/2006/main">
              <a:ext uri="{FF2B5EF4-FFF2-40B4-BE49-F238E27FC236}">
                <a16:creationId xmlns:a16="http://schemas.microsoft.com/office/drawing/2014/main" id="{68168C13-FE85-438B-BD70-60700659A905}"/>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Appendix: metric definitions</a:t>
            </a:r>
          </a:p>
        </p:txBody>
      </p:sp>
      <p:sp>
        <p:nvSpPr>
          <p:cNvPr id="2" name="text-119">
            <a:extLst xmlns:a="http://schemas.openxmlformats.org/drawingml/2006/main">
              <a:ext uri="{FF2B5EF4-FFF2-40B4-BE49-F238E27FC236}">
                <a16:creationId xmlns:a16="http://schemas.microsoft.com/office/drawing/2014/main" id="{E5FD08DC-A11C-4056-BF09-0AEDC1B6ED1E}"/>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15</a:t>
            </a:r>
          </a:p>
        </p:txBody>
      </p:sp>
      <p:graphicFrame>
        <p:nvGraphicFramePr>
          <p:cNvPr id="3" name="">
            <a:extLst xmlns:a="http://schemas.openxmlformats.org/drawingml/2006/main">
              <a:ext uri="{FF2B5EF4-FFF2-40B4-BE49-F238E27FC236}">
                <a16:creationId xmlns:a16="http://schemas.microsoft.com/office/drawing/2014/main" id="{D3BCFCB2-E04E-4272-9047-657A97FF1B04}"/>
              </a:ext>
            </a:extLst>
          </p:cNvPr>
          <p:cNvGraphicFramePr/>
          <p:nvPr/>
        </p:nvGraphicFramePr>
        <p:xfrm>
          <a:off xmlns:a="http://schemas.openxmlformats.org/drawingml/2006/main" x="609600" y="1809750"/>
          <a:ext xmlns:a="http://schemas.openxmlformats.org/drawingml/2006/main" cx="10972800" cy="3714750"/>
        </p:xfrm>
        <a:graphic xmlns:a="http://schemas.openxmlformats.org/drawingml/2006/main">
          <a:graphicData uri="http://schemas.openxmlformats.org/drawingml/2006/table">
            <a:tbl>
              <a:tblPr/>
              <a:tblGrid>
                <a:gridCol w="3429000"/>
                <a:gridCol w="7543800"/>
              </a:tblGrid>
              <a:tr h="742950">
                <a:tc>
                  <a:txBody>
                    <a:bodyPr/>
                    <a:lstStyle/>
                    <a:p>
                      <a:r>
                        <a:rPr sz="1875" b="1">
                          <a:solidFill>
                            <a:srgbClr val="FFFFFF"/>
                          </a:solidFill>
                          <a:latin typeface="Helvetica Neue"/>
                          <a:ea typeface="Helvetica Neue"/>
                          <a:cs typeface="Helvetica Neue"/>
                        </a:rPr>
                        <a:t>Metric</a:t>
                      </a:r>
                    </a:p>
                  </a:txBody>
                  <a:tcPr marL="152400" marR="152400" marT="114300" marB="114300" anchor="ctr">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875" b="1">
                          <a:solidFill>
                            <a:srgbClr val="FFFFFF"/>
                          </a:solidFill>
                          <a:latin typeface="Helvetica Neue"/>
                          <a:ea typeface="Helvetica Neue"/>
                          <a:cs typeface="Helvetica Neue"/>
                        </a:rPr>
                        <a:t>Formula or interpretation</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r>
              <a:tr h="742950">
                <a:tc>
                  <a:txBody>
                    <a:bodyPr/>
                    <a:lstStyle/>
                    <a:p>
                      <a:r>
                        <a:rPr sz="1875" b="0">
                          <a:solidFill>
                            <a:srgbClr val="0F172A"/>
                          </a:solidFill>
                          <a:latin typeface="Helvetica Neue"/>
                          <a:ea typeface="Helvetica Neue"/>
                          <a:cs typeface="Helvetica Neue"/>
                        </a:rPr>
                        <a:t>Reserved utilization</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Reserved allocated memory / total memory</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42950">
                <a:tc>
                  <a:txBody>
                    <a:bodyPr/>
                    <a:lstStyle/>
                    <a:p>
                      <a:r>
                        <a:rPr sz="1875" b="0">
                          <a:solidFill>
                            <a:srgbClr val="0F172A"/>
                          </a:solidFill>
                          <a:latin typeface="Helvetica Neue"/>
                          <a:ea typeface="Helvetica Neue"/>
                          <a:cs typeface="Helvetica Neue"/>
                        </a:rPr>
                        <a:t>Useful utilization</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Requested memory of allocated processes / total memory</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42950">
                <a:tc>
                  <a:txBody>
                    <a:bodyPr/>
                    <a:lstStyle/>
                    <a:p>
                      <a:r>
                        <a:rPr sz="1875" b="0">
                          <a:solidFill>
                            <a:srgbClr val="0F172A"/>
                          </a:solidFill>
                          <a:latin typeface="Helvetica Neue"/>
                          <a:ea typeface="Helvetica Neue"/>
                          <a:cs typeface="Helvetica Neue"/>
                        </a:rPr>
                        <a:t>Internal waste</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Reserved size minus requested size</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42950">
                <a:tc>
                  <a:txBody>
                    <a:bodyPr/>
                    <a:lstStyle/>
                    <a:p>
                      <a:r>
                        <a:rPr sz="1875" b="0">
                          <a:solidFill>
                            <a:srgbClr val="0F172A"/>
                          </a:solidFill>
                          <a:latin typeface="Helvetica Neue"/>
                          <a:ea typeface="Helvetica Neue"/>
                          <a:cs typeface="Helvetica Neue"/>
                        </a:rPr>
                        <a:t>External fragmentation</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Free memory minus the largest hole in variable mode</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bl>
          </a:graphicData>
        </a:graphic>
      </p:graphicFrame>
      <p:sp>
        <p:nvSpPr>
          <p:cNvPr id="4" name="text-120">
            <a:extLst xmlns:a="http://schemas.openxmlformats.org/drawingml/2006/main">
              <a:ext uri="{FF2B5EF4-FFF2-40B4-BE49-F238E27FC236}">
                <a16:creationId xmlns:a16="http://schemas.microsoft.com/office/drawing/2014/main" id="{05940248-ACEA-4963-9AB8-2F127A98F1C0}"/>
              </a:ext>
            </a:extLst>
          </p:cNvPr>
          <p:cNvSpPr>
            <a:spLocks xmlns:a="http://schemas.openxmlformats.org/drawingml/2006/main" noGrp="1"/>
          </p:cNvSpPr>
          <p:nvPr/>
        </p:nvSpPr>
        <p:spPr>
          <a:xfrm xmlns:a="http://schemas.openxmlformats.org/drawingml/2006/main">
            <a:off x="609600" y="57912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47C"/>
                </a:solidFill>
                <a:latin typeface="Helvetica Neue"/>
                <a:ea typeface="Helvetica Neue"/>
                <a:cs typeface="Helvetica Neue"/>
              </a:defRPr>
            </a:defPPr>
          </a:lstStyle>
          <a:p xmlns:a="http://schemas.openxmlformats.org/drawingml/2006/main">
            <a:pPr algn="l">
              <a:defRPr sz="1800" b="0">
                <a:solidFill>
                  <a:srgbClr val="52647C"/>
                </a:solidFill>
                <a:latin typeface="Helvetica Neue"/>
                <a:ea typeface="Helvetica Neue"/>
                <a:cs typeface="Helvetica Neue"/>
              </a:defRPr>
            </a:pPr>
            <a:r>
              <a:rPr sz="1800" b="0">
                <a:solidFill>
                  <a:srgbClr val="52647C"/>
                </a:solidFill>
                <a:latin typeface="Helvetica Neue"/>
                <a:ea typeface="Helvetica Neue"/>
                <a:cs typeface="Helvetica Neue"/>
              </a:rPr>
              <a:t>Utilization percentages multiply by 100. Fixed mode reports external fragmentation as zero.</a:t>
            </a:r>
          </a:p>
        </p:txBody>
      </p:sp>
    </p:spTree>
    <p:extLst>
      <p:ext uri="{BB962C8B-B14F-4D97-AF65-F5344CB8AC3E}">
        <p14:creationId xmlns:p14="http://schemas.microsoft.com/office/powerpoint/2010/main" val="10319744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21">
            <a:extLst xmlns:a="http://schemas.openxmlformats.org/drawingml/2006/main">
              <a:ext uri="{FF2B5EF4-FFF2-40B4-BE49-F238E27FC236}">
                <a16:creationId xmlns:a16="http://schemas.microsoft.com/office/drawing/2014/main" id="{8084B7C8-2B9A-4DE1-9B2A-77676BCE7E5C}"/>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Appendix: the comparison recommendation</a:t>
            </a:r>
          </a:p>
        </p:txBody>
      </p:sp>
      <p:sp>
        <p:nvSpPr>
          <p:cNvPr id="2" name="text-122">
            <a:extLst xmlns:a="http://schemas.openxmlformats.org/drawingml/2006/main">
              <a:ext uri="{FF2B5EF4-FFF2-40B4-BE49-F238E27FC236}">
                <a16:creationId xmlns:a16="http://schemas.microsoft.com/office/drawing/2014/main" id="{192A12A3-8829-417E-9902-25223A203C0D}"/>
              </a:ext>
            </a:extLst>
          </p:cNvPr>
          <p:cNvSpPr>
            <a:spLocks xmlns:a="http://schemas.openxmlformats.org/drawingml/2006/main" noGrp="1"/>
          </p:cNvSpPr>
          <p:nvPr/>
        </p:nvSpPr>
        <p:spPr>
          <a:xfrm xmlns:a="http://schemas.openxmlformats.org/drawingml/2006/main">
            <a:off x="609600" y="12858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C"/>
                </a:solidFill>
                <a:latin typeface="Helvetica Neue"/>
                <a:ea typeface="Helvetica Neue"/>
                <a:cs typeface="Helvetica Neue"/>
              </a:defRPr>
            </a:defPPr>
          </a:lstStyle>
          <a:p xmlns:a="http://schemas.openxmlformats.org/drawingml/2006/main">
            <a:pPr algn="l">
              <a:defRPr sz="1950" b="0">
                <a:solidFill>
                  <a:srgbClr val="52647C"/>
                </a:solidFill>
                <a:latin typeface="Helvetica Neue"/>
                <a:ea typeface="Helvetica Neue"/>
                <a:cs typeface="Helvetica Neue"/>
              </a:defRPr>
            </a:pPr>
            <a:r>
              <a:rPr sz="1950" b="0">
                <a:solidFill>
                  <a:srgbClr val="52647C"/>
                </a:solidFill>
                <a:latin typeface="Helvetica Neue"/>
                <a:ea typeface="Helvetica Neue"/>
                <a:cs typeface="Helvetica Neue"/>
              </a:rPr>
              <a:t>A transparent project-specific score out of 100</a:t>
            </a:r>
          </a:p>
        </p:txBody>
      </p:sp>
      <p:sp>
        <p:nvSpPr>
          <p:cNvPr id="3" name="text-123">
            <a:extLst xmlns:a="http://schemas.openxmlformats.org/drawingml/2006/main">
              <a:ext uri="{FF2B5EF4-FFF2-40B4-BE49-F238E27FC236}">
                <a16:creationId xmlns:a16="http://schemas.microsoft.com/office/drawing/2014/main" id="{A0966411-BD4C-4F74-817B-3A4E71D49F8B}"/>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16</a:t>
            </a:r>
          </a:p>
        </p:txBody>
      </p:sp>
      <p:graphicFrame>
        <p:nvGraphicFramePr>
          <p:cNvPr id="4" name="">
            <a:extLst xmlns:a="http://schemas.openxmlformats.org/drawingml/2006/main">
              <a:ext uri="{FF2B5EF4-FFF2-40B4-BE49-F238E27FC236}">
                <a16:creationId xmlns:a16="http://schemas.microsoft.com/office/drawing/2014/main" id="{B11AC05D-9521-456F-9403-1D9165D05DE2}"/>
              </a:ext>
            </a:extLst>
          </p:cNvPr>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table">
            <a:tbl>
              <a:tblPr/>
              <a:tblGrid>
                <a:gridCol w="8953500"/>
                <a:gridCol w="2019300"/>
              </a:tblGrid>
              <a:tr h="666750">
                <a:tc>
                  <a:txBody>
                    <a:bodyPr/>
                    <a:lstStyle/>
                    <a:p>
                      <a:r>
                        <a:rPr sz="1950" b="1">
                          <a:solidFill>
                            <a:srgbClr val="FFFFFF"/>
                          </a:solidFill>
                          <a:latin typeface="Helvetica Neue"/>
                          <a:ea typeface="Helvetica Neue"/>
                          <a:cs typeface="Helvetica Neue"/>
                        </a:rPr>
                        <a:t>Component</a:t>
                      </a:r>
                    </a:p>
                  </a:txBody>
                  <a:tcPr marL="152400" marR="152400" marT="114300" marB="114300" anchor="ctr">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950" b="1">
                          <a:solidFill>
                            <a:srgbClr val="FFFFFF"/>
                          </a:solidFill>
                          <a:latin typeface="Helvetica Neue"/>
                          <a:ea typeface="Helvetica Neue"/>
                          <a:cs typeface="Helvetica Neue"/>
                        </a:rPr>
                        <a:t>Weight</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r>
              <a:tr h="666750">
                <a:tc>
                  <a:txBody>
                    <a:bodyPr/>
                    <a:lstStyle/>
                    <a:p>
                      <a:r>
                        <a:rPr sz="1950" b="0">
                          <a:solidFill>
                            <a:srgbClr val="0F172A"/>
                          </a:solidFill>
                          <a:latin typeface="Helvetica Neue"/>
                          <a:ea typeface="Helvetica Neue"/>
                          <a:cs typeface="Helvetica Neue"/>
                        </a:rPr>
                        <a:t>Successful allocation and growth requests</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950" b="0">
                          <a:solidFill>
                            <a:srgbClr val="0F172A"/>
                          </a:solidFill>
                          <a:latin typeface="Helvetica Neue"/>
                          <a:ea typeface="Helvetica Neue"/>
                          <a:cs typeface="Helvetica Neue"/>
                        </a:rPr>
                        <a:t>65%</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66750">
                <a:tc>
                  <a:txBody>
                    <a:bodyPr/>
                    <a:lstStyle/>
                    <a:p>
                      <a:r>
                        <a:rPr sz="1950" b="0">
                          <a:solidFill>
                            <a:srgbClr val="0F172A"/>
                          </a:solidFill>
                          <a:latin typeface="Helvetica Neue"/>
                          <a:ea typeface="Helvetica Neue"/>
                          <a:cs typeface="Helvetica Neue"/>
                        </a:rPr>
                        <a:t>Useful payload utilization</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950" b="0">
                          <a:solidFill>
                            <a:srgbClr val="0F172A"/>
                          </a:solidFill>
                          <a:latin typeface="Helvetica Neue"/>
                          <a:ea typeface="Helvetica Neue"/>
                          <a:cs typeface="Helvetica Neue"/>
                        </a:rPr>
                        <a:t>15%</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66750">
                <a:tc>
                  <a:txBody>
                    <a:bodyPr/>
                    <a:lstStyle/>
                    <a:p>
                      <a:r>
                        <a:rPr sz="1950" b="0">
                          <a:solidFill>
                            <a:srgbClr val="0F172A"/>
                          </a:solidFill>
                          <a:latin typeface="Helvetica Neue"/>
                          <a:ea typeface="Helvetica Neue"/>
                          <a:cs typeface="Helvetica Neue"/>
                        </a:rPr>
                        <a:t>100 minus external fragmentation ratio</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950" b="0">
                          <a:solidFill>
                            <a:srgbClr val="0F172A"/>
                          </a:solidFill>
                          <a:latin typeface="Helvetica Neue"/>
                          <a:ea typeface="Helvetica Neue"/>
                          <a:cs typeface="Helvetica Neue"/>
                        </a:rPr>
                        <a:t>15%</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666750">
                <a:tc>
                  <a:txBody>
                    <a:bodyPr/>
                    <a:lstStyle/>
                    <a:p>
                      <a:r>
                        <a:rPr sz="1950" b="0">
                          <a:solidFill>
                            <a:srgbClr val="0F172A"/>
                          </a:solidFill>
                          <a:latin typeface="Helvetica Neue"/>
                          <a:ea typeface="Helvetica Neue"/>
                          <a:cs typeface="Helvetica Neue"/>
                        </a:rPr>
                        <a:t>Normalized search economy</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950" b="0">
                          <a:solidFill>
                            <a:srgbClr val="0F172A"/>
                          </a:solidFill>
                          <a:latin typeface="Helvetica Neue"/>
                          <a:ea typeface="Helvetica Neue"/>
                          <a:cs typeface="Helvetica Neue"/>
                        </a:rPr>
                        <a:t>5%</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bl>
          </a:graphicData>
        </a:graphic>
      </p:graphicFrame>
      <p:sp>
        <p:nvSpPr>
          <p:cNvPr id="5" name="text-124">
            <a:extLst xmlns:a="http://schemas.openxmlformats.org/drawingml/2006/main">
              <a:ext uri="{FF2B5EF4-FFF2-40B4-BE49-F238E27FC236}">
                <a16:creationId xmlns:a16="http://schemas.microsoft.com/office/drawing/2014/main" id="{C76B9598-1E91-435C-BCCC-776637743B8D}"/>
              </a:ext>
            </a:extLst>
          </p:cNvPr>
          <p:cNvSpPr>
            <a:spLocks xmlns:a="http://schemas.openxmlformats.org/drawingml/2006/main" noGrp="1"/>
          </p:cNvSpPr>
          <p:nvPr/>
        </p:nvSpPr>
        <p:spPr>
          <a:xfrm xmlns:a="http://schemas.openxmlformats.org/drawingml/2006/main">
            <a:off x="609600" y="57721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563EB"/>
                </a:solidFill>
                <a:latin typeface="Helvetica Neue"/>
                <a:ea typeface="Helvetica Neue"/>
                <a:cs typeface="Helvetica Neue"/>
              </a:defRPr>
            </a:defPPr>
          </a:lstStyle>
          <a:p xmlns:a="http://schemas.openxmlformats.org/drawingml/2006/main">
            <a:pPr algn="l">
              <a:defRPr sz="2025" b="0">
                <a:solidFill>
                  <a:srgbClr val="2563EB"/>
                </a:solidFill>
                <a:latin typeface="Helvetica Neue"/>
                <a:ea typeface="Helvetica Neue"/>
                <a:cs typeface="Helvetica Neue"/>
              </a:defRPr>
            </a:pPr>
            <a:r>
              <a:rPr sz="2025" b="0">
                <a:solidFill>
                  <a:srgbClr val="2563EB"/>
                </a:solidFill>
                <a:latin typeface="Helvetica Neue"/>
                <a:ea typeface="Helvetica Neue"/>
                <a:cs typeface="Helvetica Neue"/>
              </a:rPr>
              <a:t>Success receives the largest weight. Exact score ties retain every winner.</a:t>
            </a:r>
          </a:p>
        </p:txBody>
      </p:sp>
    </p:spTree>
    <p:extLst>
      <p:ext uri="{BB962C8B-B14F-4D97-AF65-F5344CB8AC3E}">
        <p14:creationId xmlns:p14="http://schemas.microsoft.com/office/powerpoint/2010/main" val="16715906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25">
            <a:extLst xmlns:a="http://schemas.openxmlformats.org/drawingml/2006/main">
              <a:ext uri="{FF2B5EF4-FFF2-40B4-BE49-F238E27FC236}">
                <a16:creationId xmlns:a16="http://schemas.microsoft.com/office/drawing/2014/main" id="{713B32E2-FD7A-4E4F-9659-094859F38A52}"/>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Appendix: Next Fit cursor behavior</a:t>
            </a:r>
          </a:p>
        </p:txBody>
      </p:sp>
      <p:sp>
        <p:nvSpPr>
          <p:cNvPr id="2" name="text-126">
            <a:extLst xmlns:a="http://schemas.openxmlformats.org/drawingml/2006/main">
              <a:ext uri="{FF2B5EF4-FFF2-40B4-BE49-F238E27FC236}">
                <a16:creationId xmlns:a16="http://schemas.microsoft.com/office/drawing/2014/main" id="{368C17DD-F4A5-4E8C-B148-FDBD20E1142F}"/>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17</a:t>
            </a:r>
          </a:p>
        </p:txBody>
      </p:sp>
      <p:graphicFrame>
        <p:nvGraphicFramePr>
          <p:cNvPr id="3" name="">
            <a:extLst xmlns:a="http://schemas.openxmlformats.org/drawingml/2006/main">
              <a:ext uri="{FF2B5EF4-FFF2-40B4-BE49-F238E27FC236}">
                <a16:creationId xmlns:a16="http://schemas.microsoft.com/office/drawing/2014/main" id="{59C97A01-F107-448E-B52F-0F18EC61CC85}"/>
              </a:ext>
            </a:extLst>
          </p:cNvPr>
          <p:cNvGraphicFramePr/>
          <p:nvPr/>
        </p:nvGraphicFramePr>
        <p:xfrm>
          <a:off xmlns:a="http://schemas.openxmlformats.org/drawingml/2006/main" x="609600" y="1857375"/>
          <a:ext xmlns:a="http://schemas.openxmlformats.org/drawingml/2006/main" cx="10972800" cy="3638550"/>
        </p:xfrm>
        <a:graphic xmlns:a="http://schemas.openxmlformats.org/drawingml/2006/main">
          <a:graphicData uri="http://schemas.openxmlformats.org/drawingml/2006/table">
            <a:tbl>
              <a:tblPr/>
              <a:tblGrid>
                <a:gridCol w="4572000"/>
                <a:gridCol w="6400800"/>
              </a:tblGrid>
              <a:tr h="727710">
                <a:tc>
                  <a:txBody>
                    <a:bodyPr/>
                    <a:lstStyle/>
                    <a:p>
                      <a:r>
                        <a:rPr sz="1875" b="1">
                          <a:solidFill>
                            <a:srgbClr val="FFFFFF"/>
                          </a:solidFill>
                          <a:latin typeface="Helvetica Neue"/>
                          <a:ea typeface="Helvetica Neue"/>
                          <a:cs typeface="Helvetica Neue"/>
                        </a:rPr>
                        <a:t>Operation</a:t>
                      </a:r>
                    </a:p>
                  </a:txBody>
                  <a:tcPr marL="152400" marR="152400" marT="114300" marB="114300" anchor="ctr">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875" b="1">
                          <a:solidFill>
                            <a:srgbClr val="FFFFFF"/>
                          </a:solidFill>
                          <a:latin typeface="Helvetica Neue"/>
                          <a:ea typeface="Helvetica Neue"/>
                          <a:cs typeface="Helvetica Neue"/>
                        </a:rPr>
                        <a:t>Saved search address</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r>
              <a:tr h="727710">
                <a:tc>
                  <a:txBody>
                    <a:bodyPr/>
                    <a:lstStyle/>
                    <a:p>
                      <a:r>
                        <a:rPr sz="1875" b="0">
                          <a:solidFill>
                            <a:srgbClr val="0F172A"/>
                          </a:solidFill>
                          <a:latin typeface="Helvetica Neue"/>
                          <a:ea typeface="Helvetica Neue"/>
                          <a:cs typeface="Helvetica Neue"/>
                        </a:rPr>
                        <a:t>Successful Next Fit allocation</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End of reserved region plus one, with wraparound</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27710">
                <a:tc>
                  <a:txBody>
                    <a:bodyPr/>
                    <a:lstStyle/>
                    <a:p>
                      <a:r>
                        <a:rPr sz="1875" b="0">
                          <a:solidFill>
                            <a:srgbClr val="0F172A"/>
                          </a:solidFill>
                          <a:latin typeface="Helvetica Neue"/>
                          <a:ea typeface="Helvetica Neue"/>
                          <a:cs typeface="Helvetica Neue"/>
                        </a:rPr>
                        <a:t>Failure, preview, or step review</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Unchanged</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27710">
                <a:tc>
                  <a:txBody>
                    <a:bodyPr/>
                    <a:lstStyle/>
                    <a:p>
                      <a:r>
                        <a:rPr sz="1875" b="0">
                          <a:solidFill>
                            <a:srgbClr val="0F172A"/>
                          </a:solidFill>
                          <a:latin typeface="Helvetica Neue"/>
                          <a:ea typeface="Helvetica Neue"/>
                          <a:cs typeface="Helvetica Neue"/>
                        </a:rPr>
                        <a:t>Split, merge, or release</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Address stays valid across list changes</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27710">
                <a:tc>
                  <a:txBody>
                    <a:bodyPr/>
                    <a:lstStyle/>
                    <a:p>
                      <a:r>
                        <a:rPr sz="1875" b="0">
                          <a:solidFill>
                            <a:srgbClr val="0F172A"/>
                          </a:solidFill>
                          <a:latin typeface="Helvetica Neue"/>
                          <a:ea typeface="Helvetica Neue"/>
                          <a:cs typeface="Helvetica Neue"/>
                        </a:rPr>
                        <a:t>Configuration, reset, or compaction</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Reset to zero</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bl>
          </a:graphicData>
        </a:graphic>
      </p:graphicFrame>
      <p:sp>
        <p:nvSpPr>
          <p:cNvPr id="4" name="text-127">
            <a:extLst xmlns:a="http://schemas.openxmlformats.org/drawingml/2006/main">
              <a:ext uri="{FF2B5EF4-FFF2-40B4-BE49-F238E27FC236}">
                <a16:creationId xmlns:a16="http://schemas.microsoft.com/office/drawing/2014/main" id="{94277038-7B2E-43A4-91CC-B025BD2DC164}"/>
              </a:ext>
            </a:extLst>
          </p:cNvPr>
          <p:cNvSpPr>
            <a:spLocks xmlns:a="http://schemas.openxmlformats.org/drawingml/2006/main" noGrp="1"/>
          </p:cNvSpPr>
          <p:nvPr/>
        </p:nvSpPr>
        <p:spPr>
          <a:xfrm xmlns:a="http://schemas.openxmlformats.org/drawingml/2006/main">
            <a:off x="609600" y="59817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C"/>
                </a:solidFill>
                <a:latin typeface="Helvetica Neue"/>
                <a:ea typeface="Helvetica Neue"/>
                <a:cs typeface="Helvetica Neue"/>
              </a:defRPr>
            </a:defPPr>
          </a:lstStyle>
          <a:p xmlns:a="http://schemas.openxmlformats.org/drawingml/2006/main">
            <a:pPr algn="l">
              <a:defRPr sz="1875" b="0">
                <a:solidFill>
                  <a:srgbClr val="52647C"/>
                </a:solidFill>
                <a:latin typeface="Helvetica Neue"/>
                <a:ea typeface="Helvetica Neue"/>
                <a:cs typeface="Helvetica Neue"/>
              </a:defRPr>
            </a:pPr>
            <a:r>
              <a:rPr sz="1875" b="0">
                <a:solidFill>
                  <a:srgbClr val="52647C"/>
                </a:solidFill>
                <a:latin typeface="Helvetica Neue"/>
                <a:ea typeface="Helvetica Neue"/>
                <a:cs typeface="Helvetica Neue"/>
              </a:rPr>
              <a:t>The search starts in the region containing that address and scans at most one full cycle.</a:t>
            </a:r>
          </a:p>
        </p:txBody>
      </p:sp>
    </p:spTree>
    <p:extLst>
      <p:ext uri="{BB962C8B-B14F-4D97-AF65-F5344CB8AC3E}">
        <p14:creationId xmlns:p14="http://schemas.microsoft.com/office/powerpoint/2010/main" val="18150167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128">
            <a:extLst xmlns:a="http://schemas.openxmlformats.org/drawingml/2006/main">
              <a:ext uri="{FF2B5EF4-FFF2-40B4-BE49-F238E27FC236}">
                <a16:creationId xmlns:a16="http://schemas.microsoft.com/office/drawing/2014/main" id="{C7FA5C2D-4BCF-4B41-AC72-8DE3BB4E629B}"/>
              </a:ext>
            </a:extLst>
          </p:cNvPr>
          <p:cNvSpPr>
            <a:spLocks xmlns:a="http://schemas.openxmlformats.org/drawingml/2006/main" noGrp="1"/>
          </p:cNvSpPr>
          <p:nvPr/>
        </p:nvSpPr>
        <p:spPr>
          <a:xfrm xmlns:a="http://schemas.openxmlformats.org/drawingml/2006/main">
            <a:off x="609600" y="495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F172A"/>
                </a:solidFill>
                <a:latin typeface="Helvetica Neue"/>
                <a:ea typeface="Helvetica Neue"/>
                <a:cs typeface="Helvetica Neue"/>
              </a:defRPr>
            </a:defPPr>
          </a:lstStyle>
          <a:p xmlns:a="http://schemas.openxmlformats.org/drawingml/2006/main">
            <a:pPr algn="l">
              <a:defRPr sz="3450" b="1">
                <a:solidFill>
                  <a:srgbClr val="0F172A"/>
                </a:solidFill>
                <a:latin typeface="Helvetica Neue"/>
                <a:ea typeface="Helvetica Neue"/>
                <a:cs typeface="Helvetica Neue"/>
              </a:defRPr>
            </a:pPr>
            <a:r>
              <a:rPr sz="3450" b="1">
                <a:solidFill>
                  <a:srgbClr val="0F172A"/>
                </a:solidFill>
                <a:latin typeface="Helvetica Neue"/>
                <a:ea typeface="Helvetica Neue"/>
                <a:cs typeface="Helvetica Neue"/>
              </a:rPr>
              <a:t>Appendix: viva questions</a:t>
            </a:r>
          </a:p>
        </p:txBody>
      </p:sp>
      <p:sp>
        <p:nvSpPr>
          <p:cNvPr id="2" name="text-129">
            <a:extLst xmlns:a="http://schemas.openxmlformats.org/drawingml/2006/main">
              <a:ext uri="{FF2B5EF4-FFF2-40B4-BE49-F238E27FC236}">
                <a16:creationId xmlns:a16="http://schemas.microsoft.com/office/drawing/2014/main" id="{F7866614-A925-4617-81EF-F3D4A21832AF}"/>
              </a:ext>
            </a:extLst>
          </p:cNvPr>
          <p:cNvSpPr>
            <a:spLocks xmlns:a="http://schemas.openxmlformats.org/drawingml/2006/main" noGrp="1"/>
          </p:cNvSpPr>
          <p:nvPr/>
        </p:nvSpPr>
        <p:spPr>
          <a:xfrm xmlns:a="http://schemas.openxmlformats.org/drawingml/2006/main">
            <a:off x="11087100" y="634365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3B8"/>
                </a:solidFill>
                <a:latin typeface="Helvetica Neue"/>
                <a:ea typeface="Helvetica Neue"/>
                <a:cs typeface="Helvetica Neue"/>
              </a:defRPr>
            </a:defPPr>
          </a:lstStyle>
          <a:p xmlns:a="http://schemas.openxmlformats.org/drawingml/2006/main">
            <a:pPr algn="r">
              <a:defRPr sz="1275" b="0">
                <a:solidFill>
                  <a:srgbClr val="94A3B8"/>
                </a:solidFill>
                <a:latin typeface="Helvetica Neue"/>
                <a:ea typeface="Helvetica Neue"/>
                <a:cs typeface="Helvetica Neue"/>
              </a:defRPr>
            </a:pPr>
            <a:r>
              <a:rPr sz="1275" b="0">
                <a:solidFill>
                  <a:srgbClr val="94A3B8"/>
                </a:solidFill>
                <a:latin typeface="Helvetica Neue"/>
                <a:ea typeface="Helvetica Neue"/>
                <a:cs typeface="Helvetica Neue"/>
              </a:rPr>
              <a:t>18</a:t>
            </a:r>
          </a:p>
        </p:txBody>
      </p:sp>
      <p:graphicFrame>
        <p:nvGraphicFramePr>
          <p:cNvPr id="3" name="">
            <a:extLst xmlns:a="http://schemas.openxmlformats.org/drawingml/2006/main">
              <a:ext uri="{FF2B5EF4-FFF2-40B4-BE49-F238E27FC236}">
                <a16:creationId xmlns:a16="http://schemas.microsoft.com/office/drawing/2014/main" id="{57D20B48-2AD8-41DF-A322-24214CC61BDA}"/>
              </a:ext>
            </a:extLst>
          </p:cNvPr>
          <p:cNvGraphicFramePr/>
          <p:nvPr/>
        </p:nvGraphicFramePr>
        <p:xfrm>
          <a:off xmlns:a="http://schemas.openxmlformats.org/drawingml/2006/main" x="609600" y="1857375"/>
          <a:ext xmlns:a="http://schemas.openxmlformats.org/drawingml/2006/main" cx="10972800" cy="3638550"/>
        </p:xfrm>
        <a:graphic xmlns:a="http://schemas.openxmlformats.org/drawingml/2006/main">
          <a:graphicData uri="http://schemas.openxmlformats.org/drawingml/2006/table">
            <a:tbl>
              <a:tblPr/>
              <a:tblGrid>
                <a:gridCol w="4714875"/>
                <a:gridCol w="6257925"/>
              </a:tblGrid>
              <a:tr h="727710">
                <a:tc>
                  <a:txBody>
                    <a:bodyPr/>
                    <a:lstStyle/>
                    <a:p>
                      <a:r>
                        <a:rPr sz="1875" b="1">
                          <a:solidFill>
                            <a:srgbClr val="FFFFFF"/>
                          </a:solidFill>
                          <a:latin typeface="Helvetica Neue"/>
                          <a:ea typeface="Helvetica Neue"/>
                          <a:cs typeface="Helvetica Neue"/>
                        </a:rPr>
                        <a:t>Question</a:t>
                      </a:r>
                    </a:p>
                  </a:txBody>
                  <a:tcPr marL="152400" marR="152400" marT="114300" marB="114300" anchor="ctr">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c>
                  <a:txBody>
                    <a:bodyPr/>
                    <a:lstStyle/>
                    <a:p>
                      <a:r>
                        <a:rPr sz="1875" b="1">
                          <a:solidFill>
                            <a:srgbClr val="FFFFFF"/>
                          </a:solidFill>
                          <a:latin typeface="Helvetica Neue"/>
                          <a:ea typeface="Helvetica Neue"/>
                          <a:cs typeface="Helvetica Neue"/>
                        </a:rPr>
                        <a:t>Short answer</a:t>
                      </a:r>
                    </a:p>
                  </a:txBody>
                  <a:tcPr marL="152400" marR="152400" marT="114300" marB="114300" anchor="ctr">
                    <a:lnR w="9525">
                      <a:solidFill>
                        <a:srgbClr val="E2E8F0"/>
                      </a:solidFill>
                      <a:prstDash val="solid"/>
                    </a:lnR>
                    <a:lnT w="9525">
                      <a:solidFill>
                        <a:srgbClr val="E2E8F0"/>
                      </a:solidFill>
                      <a:prstDash val="solid"/>
                    </a:lnT>
                    <a:lnB w="9525">
                      <a:solidFill>
                        <a:srgbClr val="E2E8F0"/>
                      </a:solidFill>
                      <a:prstDash val="solid"/>
                    </a:lnB>
                    <a:solidFill>
                      <a:srgbClr val="0B1220"/>
                    </a:solidFill>
                  </a:tcPr>
                </a:tc>
              </a:tr>
              <a:tr h="727710">
                <a:tc>
                  <a:txBody>
                    <a:bodyPr/>
                    <a:lstStyle/>
                    <a:p>
                      <a:r>
                        <a:rPr sz="1875" b="0">
                          <a:solidFill>
                            <a:srgbClr val="0F172A"/>
                          </a:solidFill>
                          <a:latin typeface="Helvetica Neue"/>
                          <a:ea typeface="Helvetica Neue"/>
                          <a:cs typeface="Helvetica Neue"/>
                        </a:rPr>
                        <a:t>Is Best Fit always best?</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No. The request and release pattern determines the result.</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27710">
                <a:tc>
                  <a:txBody>
                    <a:bodyPr/>
                    <a:lstStyle/>
                    <a:p>
                      <a:r>
                        <a:rPr sz="1875" b="0">
                          <a:solidFill>
                            <a:srgbClr val="0F172A"/>
                          </a:solidFill>
                          <a:latin typeface="Helvetica Neue"/>
                          <a:ea typeface="Helvetica Neue"/>
                          <a:cs typeface="Helvetica Neue"/>
                        </a:rPr>
                        <a:t>Can compaction create memory?</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No. It joins scattered free space by moving allocations.</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27710">
                <a:tc>
                  <a:txBody>
                    <a:bodyPr/>
                    <a:lstStyle/>
                    <a:p>
                      <a:r>
                        <a:rPr sz="1875" b="0">
                          <a:solidFill>
                            <a:srgbClr val="0F172A"/>
                          </a:solidFill>
                          <a:latin typeface="Helvetica Neue"/>
                          <a:ea typeface="Helvetica Neue"/>
                          <a:cs typeface="Helvetica Neue"/>
                        </a:rPr>
                        <a:t>What does Previous do in step mode?</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It reviews the explanation without undoing allocation.</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r h="727710">
                <a:tc>
                  <a:txBody>
                    <a:bodyPr/>
                    <a:lstStyle/>
                    <a:p>
                      <a:r>
                        <a:rPr sz="1875" b="0">
                          <a:solidFill>
                            <a:srgbClr val="0F172A"/>
                          </a:solidFill>
                          <a:latin typeface="Helvetica Neue"/>
                          <a:ea typeface="Helvetica Neue"/>
                          <a:cs typeface="Helvetica Neue"/>
                        </a:rPr>
                        <a:t>Why is there no backend?</a:t>
                      </a:r>
                    </a:p>
                  </a:txBody>
                  <a:tcPr marL="152400" marR="152400" marT="114300" marB="114300" anchor="ctr">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875" b="0">
                          <a:solidFill>
                            <a:srgbClr val="0F172A"/>
                          </a:solidFill>
                          <a:latin typeface="Helvetica Neue"/>
                          <a:ea typeface="Helvetica Neue"/>
                          <a:cs typeface="Helvetica Neue"/>
                        </a:rPr>
                        <a:t>The browser can simulate the entire memory model locally.</a:t>
                      </a:r>
                    </a:p>
                  </a:txBody>
                  <a:tcPr marL="152400" marR="152400" marT="114300" marB="114300" anchor="ctr">
                    <a:lnR w="9525">
                      <a:solidFill>
                        <a:srgbClr val="E2E8F0"/>
                      </a:solidFill>
                      <a:prstDash val="solid"/>
                    </a:lnR>
                    <a:lnB w="9525">
                      <a:solidFill>
                        <a:srgbClr val="E2E8F0"/>
                      </a:solidFill>
                      <a:prstDash val="solid"/>
                    </a:lnB>
                    <a:solidFill>
                      <a:srgbClr val="FFFFFF"/>
                    </a:solidFill>
                  </a:tcPr>
                </a:tc>
              </a:tr>
            </a:tbl>
          </a:graphicData>
        </a:graphic>
      </p:graphicFrame>
    </p:spTree>
    <p:extLst>
      <p:ext uri="{BB962C8B-B14F-4D97-AF65-F5344CB8AC3E}">
        <p14:creationId xmlns:p14="http://schemas.microsoft.com/office/powerpoint/2010/main" val="1168952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2026-10-14T06:34:45.5770000Z</dcterms:created>
  <dcterms:modified xsi:type="dcterms:W3CDTF">2026-10-14T06:34:45.5770000Z</dcterms:modified>
</coreProperties>
</file>